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b5f20878-30d6-784f-d28e-50b8ab97500d}">
          <p14:sldIdLst>
            <p14:sldId id="256"/>
            <p14:sldId id="257"/>
            <p14:sldId id="258"/>
          </p14:sldIdLst>
        </p14:section>
        <p14:section name="Regeln" id="{77982d8f-ce5f-80be-4884-b3383b937bc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Beispiele" id="{933d1011-4433-f85e-3e0c-271e7ba27557}">
          <p14:sldIdLst>
            <p14:sldId id="269"/>
            <p14:sldId id="270"/>
          </p14:sldIdLst>
        </p14:section>
        <p14:section name="Werkzeuge" id="{5c918b43-0eea-de8b-e574-4b1ee9dfa432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Reduzierte Variante des Nx-Blueprints: keine Ports, HTTP in data-access, Zustand in state.</a:t>
            </a:r>
            <a:endParaRPr lang="en-US" dirty="0"/>
          </a:p>
          <a:p>
            <a:r>
              <a:t>Übernommen aus sheriff-blue-print (extern), Branch feat/nx-reduced-blueprint; Import-Präfix auf @mo-transfer/ umbenannt.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Tags schreiben die Generatoren beim Anlegen; der Sync-Generator lib-tags hält sie aktuell (nx sync / nx sync:check).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explicit-config behält Ports; dort heißt der Store-Layer ebenfalls state, api bleibt Port +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64008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0"/>
          <p:cNvSpPr/>
          <p:nvPr/>
        </p:nvSpPr>
        <p:spPr>
          <a:xfrm>
            <a:off x="548640" y="647395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Nx-Blueprint reduziert · mo-transfer · main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6400800" cy="320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ARCHITEKTUR · NX MODULE BOUNDARIES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Nx-Blueprint reduziert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74320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Eine Lib pro Slice und Layer. Slices und Feats sind gegeneinander geschlossen, HTTP liegt in data-access, Zustand in state.</a:t>
            </a:r>
            <a:endParaRPr lang="en-US" sz="1600" dirty="0"/>
          </a:p>
        </p:txBody>
      </p:sp>
      <p:sp>
        <p:nvSpPr>
          <p:cNvPr id="5" name="txt-1"/>
          <p:cNvSpPr txBox="1"/>
          <p:nvPr/>
        </p:nvSpPr>
        <p:spPr>
          <a:xfrm>
            <a:off x="54864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Repo</a:t>
            </a:r>
            <a:endParaRPr lang="en-US" sz="1100" dirty="0"/>
          </a:p>
        </p:txBody>
      </p:sp>
      <p:sp>
        <p:nvSpPr>
          <p:cNvPr id="6" name="txt-2"/>
          <p:cNvSpPr txBox="1"/>
          <p:nvPr/>
        </p:nvSpPr>
        <p:spPr>
          <a:xfrm>
            <a:off x="1645920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mo-transfer · main</a:t>
            </a:r>
            <a:endParaRPr lang="en-US" sz="11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46268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Version</a:t>
            </a:r>
            <a:endParaRPr lang="en-US" sz="1100" dirty="0"/>
          </a:p>
        </p:txBody>
      </p:sp>
      <p:sp>
        <p:nvSpPr>
          <p:cNvPr id="8" name="txt-4"/>
          <p:cNvSpPr txBox="1"/>
          <p:nvPr/>
        </p:nvSpPr>
        <p:spPr>
          <a:xfrm>
            <a:off x="1645920" y="46268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23.1 · Angular 22</a:t>
            </a:r>
            <a:endParaRPr lang="en-US" sz="11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956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Quelle</a:t>
            </a:r>
            <a:endParaRPr lang="en-US" sz="1100" dirty="0"/>
          </a:p>
        </p:txBody>
      </p:sp>
      <p:sp>
        <p:nvSpPr>
          <p:cNvPr id="10" name="txt-6"/>
          <p:cNvSpPr txBox="1"/>
          <p:nvPr/>
        </p:nvSpPr>
        <p:spPr>
          <a:xfrm>
            <a:off x="1645920" y="4956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docs/nx-reduziert.md</a:t>
            </a:r>
            <a:endParaRPr lang="en-US" sz="1100" dirty="0"/>
          </a:p>
        </p:txBody>
      </p:sp>
      <p:sp>
        <p:nvSpPr>
          <p:cNvPr id="11" name="txt-7"/>
          <p:cNvSpPr txBox="1"/>
          <p:nvPr/>
        </p:nvSpPr>
        <p:spPr>
          <a:xfrm>
            <a:off x="8869680" y="868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endParaRPr lang="en-US" sz="1000" dirty="0"/>
          </a:p>
        </p:txBody>
      </p:sp>
      <p:sp>
        <p:nvSpPr>
          <p:cNvPr id="12" name="txt-8"/>
          <p:cNvSpPr txBox="1"/>
          <p:nvPr/>
        </p:nvSpPr>
        <p:spPr>
          <a:xfrm>
            <a:off x="10012680" y="868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</a:t>
            </a:r>
            <a:endParaRPr lang="en-US" sz="1000" dirty="0"/>
          </a:p>
        </p:txBody>
      </p:sp>
      <p:sp>
        <p:nvSpPr>
          <p:cNvPr id="13" name="txt-9"/>
          <p:cNvSpPr txBox="1"/>
          <p:nvPr/>
        </p:nvSpPr>
        <p:spPr>
          <a:xfrm>
            <a:off x="11155680" y="868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14" name="txt-10"/>
          <p:cNvSpPr txBox="1"/>
          <p:nvPr/>
        </p:nvSpPr>
        <p:spPr>
          <a:xfrm>
            <a:off x="7498080" y="1325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000" dirty="0"/>
          </a:p>
        </p:txBody>
      </p:sp>
      <p:sp>
        <p:nvSpPr>
          <p:cNvPr id="15" name="grid-11"/>
          <p:cNvSpPr/>
          <p:nvPr/>
        </p:nvSpPr>
        <p:spPr>
          <a:xfrm>
            <a:off x="8869680" y="12527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6" name="grid-t-12"/>
          <p:cNvSpPr txBox="1"/>
          <p:nvPr/>
        </p:nvSpPr>
        <p:spPr>
          <a:xfrm>
            <a:off x="8869680" y="12527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900" dirty="0"/>
          </a:p>
        </p:txBody>
      </p:sp>
      <p:sp>
        <p:nvSpPr>
          <p:cNvPr id="17" name="grid-13"/>
          <p:cNvSpPr/>
          <p:nvPr/>
        </p:nvSpPr>
        <p:spPr>
          <a:xfrm>
            <a:off x="10012680" y="12527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8" name="grid-t-14"/>
          <p:cNvSpPr txBox="1"/>
          <p:nvPr/>
        </p:nvSpPr>
        <p:spPr>
          <a:xfrm>
            <a:off x="10012680" y="12527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900" dirty="0"/>
          </a:p>
        </p:txBody>
      </p:sp>
      <p:sp>
        <p:nvSpPr>
          <p:cNvPr id="19" name="txt-15"/>
          <p:cNvSpPr txBox="1"/>
          <p:nvPr/>
        </p:nvSpPr>
        <p:spPr>
          <a:xfrm>
            <a:off x="749808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0" name="grid-16"/>
          <p:cNvSpPr/>
          <p:nvPr/>
        </p:nvSpPr>
        <p:spPr>
          <a:xfrm>
            <a:off x="8869680" y="17556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1" name="grid-t-17"/>
          <p:cNvSpPr txBox="1"/>
          <p:nvPr/>
        </p:nvSpPr>
        <p:spPr>
          <a:xfrm>
            <a:off x="8869680" y="17556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22" name="grid-18"/>
          <p:cNvSpPr/>
          <p:nvPr/>
        </p:nvSpPr>
        <p:spPr>
          <a:xfrm>
            <a:off x="10012680" y="17556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3" name="grid-t-19"/>
          <p:cNvSpPr txBox="1"/>
          <p:nvPr/>
        </p:nvSpPr>
        <p:spPr>
          <a:xfrm>
            <a:off x="10012680" y="17556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24" name="txt-20"/>
          <p:cNvSpPr txBox="1"/>
          <p:nvPr/>
        </p:nvSpPr>
        <p:spPr>
          <a:xfrm>
            <a:off x="749808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000" dirty="0"/>
          </a:p>
        </p:txBody>
      </p:sp>
      <p:sp>
        <p:nvSpPr>
          <p:cNvPr id="25" name="grid-21"/>
          <p:cNvSpPr/>
          <p:nvPr/>
        </p:nvSpPr>
        <p:spPr>
          <a:xfrm>
            <a:off x="8869680" y="225856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6" name="grid-t-22"/>
          <p:cNvSpPr txBox="1"/>
          <p:nvPr/>
        </p:nvSpPr>
        <p:spPr>
          <a:xfrm>
            <a:off x="8869680" y="225856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27" name="grid-23"/>
          <p:cNvSpPr/>
          <p:nvPr/>
        </p:nvSpPr>
        <p:spPr>
          <a:xfrm>
            <a:off x="10012680" y="225856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8" name="grid-t-24"/>
          <p:cNvSpPr txBox="1"/>
          <p:nvPr/>
        </p:nvSpPr>
        <p:spPr>
          <a:xfrm>
            <a:off x="10012680" y="225856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29" name="grid-25"/>
          <p:cNvSpPr/>
          <p:nvPr/>
        </p:nvSpPr>
        <p:spPr>
          <a:xfrm>
            <a:off x="11155680" y="225856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30" name="grid-t-26"/>
          <p:cNvSpPr txBox="1"/>
          <p:nvPr/>
        </p:nvSpPr>
        <p:spPr>
          <a:xfrm>
            <a:off x="11155680" y="225856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31" name="txt-27"/>
          <p:cNvSpPr txBox="1"/>
          <p:nvPr/>
        </p:nvSpPr>
        <p:spPr>
          <a:xfrm>
            <a:off x="7498080" y="2834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000" dirty="0"/>
          </a:p>
        </p:txBody>
      </p:sp>
      <p:sp>
        <p:nvSpPr>
          <p:cNvPr id="32" name="grid-28"/>
          <p:cNvSpPr/>
          <p:nvPr/>
        </p:nvSpPr>
        <p:spPr>
          <a:xfrm>
            <a:off x="8869680" y="276148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3" name="grid-t-29"/>
          <p:cNvSpPr txBox="1"/>
          <p:nvPr/>
        </p:nvSpPr>
        <p:spPr>
          <a:xfrm>
            <a:off x="8869680" y="276148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34" name="grid-30"/>
          <p:cNvSpPr/>
          <p:nvPr/>
        </p:nvSpPr>
        <p:spPr>
          <a:xfrm>
            <a:off x="10012680" y="276148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5" name="grid-t-31"/>
          <p:cNvSpPr txBox="1"/>
          <p:nvPr/>
        </p:nvSpPr>
        <p:spPr>
          <a:xfrm>
            <a:off x="10012680" y="276148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36" name="grid-32"/>
          <p:cNvSpPr/>
          <p:nvPr/>
        </p:nvSpPr>
        <p:spPr>
          <a:xfrm>
            <a:off x="11155680" y="276148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7" name="grid-t-33"/>
          <p:cNvSpPr txBox="1"/>
          <p:nvPr/>
        </p:nvSpPr>
        <p:spPr>
          <a:xfrm>
            <a:off x="11155680" y="276148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38" name="txt-34"/>
          <p:cNvSpPr txBox="1"/>
          <p:nvPr/>
        </p:nvSpPr>
        <p:spPr>
          <a:xfrm>
            <a:off x="7498080" y="3337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data-access</a:t>
            </a:r>
            <a:endParaRPr lang="en-US" sz="1000" dirty="0"/>
          </a:p>
        </p:txBody>
      </p:sp>
      <p:sp>
        <p:nvSpPr>
          <p:cNvPr id="39" name="grid-35"/>
          <p:cNvSpPr/>
          <p:nvPr/>
        </p:nvSpPr>
        <p:spPr>
          <a:xfrm>
            <a:off x="8869680" y="326440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0" name="grid-t-36"/>
          <p:cNvSpPr txBox="1"/>
          <p:nvPr/>
        </p:nvSpPr>
        <p:spPr>
          <a:xfrm>
            <a:off x="8869680" y="326440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41" name="grid-37"/>
          <p:cNvSpPr/>
          <p:nvPr/>
        </p:nvSpPr>
        <p:spPr>
          <a:xfrm>
            <a:off x="10012680" y="326440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2" name="grid-t-38"/>
          <p:cNvSpPr txBox="1"/>
          <p:nvPr/>
        </p:nvSpPr>
        <p:spPr>
          <a:xfrm>
            <a:off x="10012680" y="326440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43" name="grid-39"/>
          <p:cNvSpPr/>
          <p:nvPr/>
        </p:nvSpPr>
        <p:spPr>
          <a:xfrm>
            <a:off x="11155680" y="326440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accent1">
              <a:alpha val="70000"/>
            </a:schemeClr>
          </a:solidFill>
          <a:ln w="63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4" name="grid-t-40"/>
          <p:cNvSpPr txBox="1"/>
          <p:nvPr/>
        </p:nvSpPr>
        <p:spPr>
          <a:xfrm>
            <a:off x="11155680" y="326440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45" name="txt-41"/>
          <p:cNvSpPr txBox="1"/>
          <p:nvPr/>
        </p:nvSpPr>
        <p:spPr>
          <a:xfrm>
            <a:off x="7498080" y="3840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000" dirty="0"/>
          </a:p>
        </p:txBody>
      </p:sp>
      <p:sp>
        <p:nvSpPr>
          <p:cNvPr id="46" name="grid-42"/>
          <p:cNvSpPr/>
          <p:nvPr/>
        </p:nvSpPr>
        <p:spPr>
          <a:xfrm>
            <a:off x="8869680" y="37673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7" name="grid-t-43"/>
          <p:cNvSpPr txBox="1"/>
          <p:nvPr/>
        </p:nvSpPr>
        <p:spPr>
          <a:xfrm>
            <a:off x="8869680" y="37673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48" name="grid-44"/>
          <p:cNvSpPr/>
          <p:nvPr/>
        </p:nvSpPr>
        <p:spPr>
          <a:xfrm>
            <a:off x="10012680" y="37673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9" name="grid-t-45"/>
          <p:cNvSpPr txBox="1"/>
          <p:nvPr/>
        </p:nvSpPr>
        <p:spPr>
          <a:xfrm>
            <a:off x="10012680" y="37673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0" name="grid-46"/>
          <p:cNvSpPr/>
          <p:nvPr/>
        </p:nvSpPr>
        <p:spPr>
          <a:xfrm>
            <a:off x="11155680" y="376732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1" name="grid-t-47"/>
          <p:cNvSpPr txBox="1"/>
          <p:nvPr/>
        </p:nvSpPr>
        <p:spPr>
          <a:xfrm>
            <a:off x="11155680" y="376732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2" name="txt-48"/>
          <p:cNvSpPr txBox="1"/>
          <p:nvPr/>
        </p:nvSpPr>
        <p:spPr>
          <a:xfrm>
            <a:off x="7498080" y="4343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53" name="grid-49"/>
          <p:cNvSpPr/>
          <p:nvPr/>
        </p:nvSpPr>
        <p:spPr>
          <a:xfrm>
            <a:off x="8869680" y="42702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4" name="grid-t-50"/>
          <p:cNvSpPr txBox="1"/>
          <p:nvPr/>
        </p:nvSpPr>
        <p:spPr>
          <a:xfrm>
            <a:off x="8869680" y="42702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5" name="grid-51"/>
          <p:cNvSpPr/>
          <p:nvPr/>
        </p:nvSpPr>
        <p:spPr>
          <a:xfrm>
            <a:off x="10012680" y="42702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6" name="grid-t-52"/>
          <p:cNvSpPr txBox="1"/>
          <p:nvPr/>
        </p:nvSpPr>
        <p:spPr>
          <a:xfrm>
            <a:off x="10012680" y="42702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7" name="grid-53"/>
          <p:cNvSpPr/>
          <p:nvPr/>
        </p:nvSpPr>
        <p:spPr>
          <a:xfrm>
            <a:off x="11155680" y="4270248"/>
            <a:ext cx="1033272" cy="374904"/>
          </a:xfrm>
          <a:prstGeom prst="roundRect">
            <a:avLst>
              <a:gd name="adj" fmla="val 12195"/>
            </a:avLst>
          </a:prstGeom>
          <a:solidFill>
            <a:schemeClr val="tx2">
              <a:alpha val="30000"/>
            </a:schemeClr>
          </a:solidFill>
          <a:ln w="63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8" name="grid-t-54"/>
          <p:cNvSpPr txBox="1"/>
          <p:nvPr/>
        </p:nvSpPr>
        <p:spPr>
          <a:xfrm>
            <a:off x="11155680" y="4270248"/>
            <a:ext cx="10332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900" dirty="0"/>
          </a:p>
        </p:txBody>
      </p:sp>
      <p:sp>
        <p:nvSpPr>
          <p:cNvPr id="59" name="txt-55"/>
          <p:cNvSpPr txBox="1"/>
          <p:nvPr/>
        </p:nvSpPr>
        <p:spPr>
          <a:xfrm>
            <a:off x="886968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eine Lib pro Slice × Layer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GRUNDIDEE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Drei Regeln tragen die Architektur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Alles andere folgt aus Tags, die aus dem Ordnerpfad abgeleitet werden.</a:t>
            </a:r>
            <a:endParaRPr lang="en-US" sz="1400" dirty="0"/>
          </a:p>
        </p:txBody>
      </p:sp>
      <p:sp>
        <p:nvSpPr>
          <p:cNvPr id="5" name="card-56"/>
          <p:cNvSpPr/>
          <p:nvPr/>
        </p:nvSpPr>
        <p:spPr>
          <a:xfrm>
            <a:off x="548640" y="18288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num-57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num-t-58"/>
          <p:cNvSpPr txBox="1"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xt-59"/>
          <p:cNvSpPr txBox="1"/>
          <p:nvPr/>
        </p:nvSpPr>
        <p:spPr>
          <a:xfrm>
            <a:off x="1325880" y="2075688"/>
            <a:ext cx="2555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Eine Lib pro Slice × Layer</a:t>
            </a:r>
            <a:endParaRPr lang="en-US" sz="1600" dirty="0"/>
          </a:p>
        </p:txBody>
      </p:sp>
      <p:sp>
        <p:nvSpPr>
          <p:cNvPr id="9" name="txt-60"/>
          <p:cNvSpPr txBox="1"/>
          <p:nvPr/>
        </p:nvSpPr>
        <p:spPr>
          <a:xfrm>
            <a:off x="777240" y="269748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Jeder Ordner mit src/index.ts ist eine Nx-Lib. index.ts ist ihre einzige öffentliche API, Deep-Imports sind verboten.</a:t>
            </a:r>
            <a:endParaRPr lang="en-US" sz="1300" dirty="0"/>
          </a:p>
        </p:txBody>
      </p:sp>
      <p:sp>
        <p:nvSpPr>
          <p:cNvPr id="10" name="card-61"/>
          <p:cNvSpPr/>
          <p:nvPr/>
        </p:nvSpPr>
        <p:spPr>
          <a:xfrm>
            <a:off x="4338218" y="18288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num-62"/>
          <p:cNvSpPr/>
          <p:nvPr/>
        </p:nvSpPr>
        <p:spPr>
          <a:xfrm>
            <a:off x="4566818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num-t-63"/>
          <p:cNvSpPr txBox="1"/>
          <p:nvPr/>
        </p:nvSpPr>
        <p:spPr>
          <a:xfrm>
            <a:off x="456681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64"/>
          <p:cNvSpPr txBox="1"/>
          <p:nvPr/>
        </p:nvSpPr>
        <p:spPr>
          <a:xfrm>
            <a:off x="5115458" y="2075688"/>
            <a:ext cx="2555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Slices und Feats sind geschlossen</a:t>
            </a:r>
            <a:endParaRPr lang="en-US" sz="1600" dirty="0"/>
          </a:p>
        </p:txBody>
      </p:sp>
      <p:sp>
        <p:nvSpPr>
          <p:cNvPr id="14" name="txt-65"/>
          <p:cNvSpPr txBox="1"/>
          <p:nvPr/>
        </p:nvSpPr>
        <p:spPr>
          <a:xfrm>
            <a:off x="4566818" y="269748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Ein Slice (Vertical = geschlossenes Feature) importiert nur sich selbst und shared. Ein Feat nur sich selbst und die Libs seines Slice-Roots. Es gibt keine Ports.</a:t>
            </a:r>
            <a:endParaRPr lang="en-US" sz="1300" dirty="0"/>
          </a:p>
        </p:txBody>
      </p:sp>
      <p:sp>
        <p:nvSpPr>
          <p:cNvPr id="15" name="card-66"/>
          <p:cNvSpPr/>
          <p:nvPr/>
        </p:nvSpPr>
        <p:spPr>
          <a:xfrm>
            <a:off x="8127797" y="1828800"/>
            <a:ext cx="3515258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num-67"/>
          <p:cNvSpPr/>
          <p:nvPr/>
        </p:nvSpPr>
        <p:spPr>
          <a:xfrm>
            <a:off x="8356397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num-t-68"/>
          <p:cNvSpPr txBox="1"/>
          <p:nvPr/>
        </p:nvSpPr>
        <p:spPr>
          <a:xfrm>
            <a:off x="8356397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xt-69"/>
          <p:cNvSpPr txBox="1"/>
          <p:nvPr/>
        </p:nvSpPr>
        <p:spPr>
          <a:xfrm>
            <a:off x="8905037" y="2075688"/>
            <a:ext cx="2555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HTTP und Zustand getrennt</a:t>
            </a:r>
            <a:endParaRPr lang="en-US" sz="1600" dirty="0"/>
          </a:p>
        </p:txBody>
      </p:sp>
      <p:sp>
        <p:nvSpPr>
          <p:cNvPr id="19" name="txt-70"/>
          <p:cNvSpPr txBox="1"/>
          <p:nvPr/>
        </p:nvSpPr>
        <p:spPr>
          <a:xfrm>
            <a:off x="8356397" y="269748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data-access spricht mit dem Backend. state hält Stores und Domain-Events. ui sieht keins von beiden.</a:t>
            </a:r>
            <a:endParaRPr lang="en-US" sz="1300" dirty="0"/>
          </a:p>
        </p:txBody>
      </p:sp>
      <p:sp>
        <p:nvSpPr>
          <p:cNvPr id="20" name="txt-71"/>
          <p:cNvSpPr txBox="1"/>
          <p:nvPr/>
        </p:nvSpPr>
        <p:spPr>
          <a:xfrm>
            <a:off x="548640" y="4343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Aus dem Pfad abgeleitet</a:t>
            </a:r>
            <a:endParaRPr lang="en-US" sz="1300" dirty="0"/>
          </a:p>
        </p:txBody>
      </p:sp>
      <p:sp>
        <p:nvSpPr>
          <p:cNvPr id="21" name="card-72"/>
          <p:cNvSpPr/>
          <p:nvPr/>
        </p:nvSpPr>
        <p:spPr>
          <a:xfrm>
            <a:off x="548640" y="4754880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22" name="code-73"/>
          <p:cNvSpPr txBox="1"/>
          <p:nvPr/>
        </p:nvSpPr>
        <p:spPr>
          <a:xfrm>
            <a:off x="713232" y="4864608"/>
            <a:ext cx="3877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libs/booking/feat-check-booking/state</a:t>
            </a:r>
            <a:endParaRPr lang="en-US" sz="1200" dirty="0"/>
          </a:p>
        </p:txBody>
      </p:sp>
      <p:sp>
        <p:nvSpPr>
          <p:cNvPr id="23" name="arrow-74"/>
          <p:cNvSpPr/>
          <p:nvPr/>
        </p:nvSpPr>
        <p:spPr>
          <a:xfrm>
            <a:off x="4846320" y="4983480"/>
            <a:ext cx="73152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txt-75"/>
          <p:cNvSpPr txBox="1"/>
          <p:nvPr/>
        </p:nvSpPr>
        <p:spPr>
          <a:xfrm>
            <a:off x="5760720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Projekt</a:t>
            </a:r>
            <a:endParaRPr lang="en-US" sz="1100" dirty="0"/>
          </a:p>
        </p:txBody>
      </p:sp>
      <p:sp>
        <p:nvSpPr>
          <p:cNvPr id="25" name="txt-76"/>
          <p:cNvSpPr txBox="1"/>
          <p:nvPr/>
        </p:nvSpPr>
        <p:spPr>
          <a:xfrm>
            <a:off x="6675120" y="4663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booking-feat-check-booking-state</a:t>
            </a:r>
            <a:endParaRPr lang="en-US" sz="1100" dirty="0"/>
          </a:p>
        </p:txBody>
      </p:sp>
      <p:sp>
        <p:nvSpPr>
          <p:cNvPr id="26" name="txt-77"/>
          <p:cNvSpPr txBox="1"/>
          <p:nvPr/>
        </p:nvSpPr>
        <p:spPr>
          <a:xfrm>
            <a:off x="576072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Alias</a:t>
            </a:r>
            <a:endParaRPr lang="en-US" sz="1100" dirty="0"/>
          </a:p>
        </p:txBody>
      </p:sp>
      <p:sp>
        <p:nvSpPr>
          <p:cNvPr id="27" name="txt-78"/>
          <p:cNvSpPr txBox="1"/>
          <p:nvPr/>
        </p:nvSpPr>
        <p:spPr>
          <a:xfrm>
            <a:off x="6675120" y="5029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@mo-transfer/booking/feat-check-booking/state</a:t>
            </a:r>
            <a:endParaRPr lang="en-US" sz="1100" dirty="0"/>
          </a:p>
        </p:txBody>
      </p:sp>
      <p:sp>
        <p:nvSpPr>
          <p:cNvPr id="28" name="txt-79"/>
          <p:cNvSpPr txBox="1"/>
          <p:nvPr/>
        </p:nvSpPr>
        <p:spPr>
          <a:xfrm>
            <a:off x="5760720" y="5394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Tags</a:t>
            </a:r>
            <a:endParaRPr lang="en-US" sz="1100" dirty="0"/>
          </a:p>
        </p:txBody>
      </p:sp>
      <p:sp>
        <p:nvSpPr>
          <p:cNvPr id="29" name="chip-80"/>
          <p:cNvSpPr/>
          <p:nvPr/>
        </p:nvSpPr>
        <p:spPr>
          <a:xfrm>
            <a:off x="6675120" y="5376672"/>
            <a:ext cx="1239012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0" name="chip-t-81"/>
          <p:cNvSpPr txBox="1"/>
          <p:nvPr/>
        </p:nvSpPr>
        <p:spPr>
          <a:xfrm>
            <a:off x="6675120" y="5376672"/>
            <a:ext cx="1239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31" name="chip-82"/>
          <p:cNvSpPr/>
          <p:nvPr/>
        </p:nvSpPr>
        <p:spPr>
          <a:xfrm>
            <a:off x="8023860" y="5376672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2" name="chip-t-83"/>
          <p:cNvSpPr txBox="1"/>
          <p:nvPr/>
        </p:nvSpPr>
        <p:spPr>
          <a:xfrm>
            <a:off x="8023860" y="5376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000" dirty="0"/>
          </a:p>
        </p:txBody>
      </p:sp>
      <p:sp>
        <p:nvSpPr>
          <p:cNvPr id="33" name="chip-84"/>
          <p:cNvSpPr/>
          <p:nvPr/>
        </p:nvSpPr>
        <p:spPr>
          <a:xfrm>
            <a:off x="9139428" y="5376672"/>
            <a:ext cx="1627632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4" name="chip-t-85"/>
          <p:cNvSpPr txBox="1"/>
          <p:nvPr/>
        </p:nvSpPr>
        <p:spPr>
          <a:xfrm>
            <a:off x="9139428" y="537667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ABGRENZUNG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gegenüber explicit-config anders ist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Gleiches Tooling, weniger Konzepte. Die Unterschiede liegen in Layern, Markern und Querbezügen.</a:t>
            </a:r>
            <a:endParaRPr lang="en-US" sz="1400" dirty="0"/>
          </a:p>
        </p:txBody>
      </p:sp>
      <p:graphicFrame>
        <p:nvGraphicFramePr>
          <p:cNvPr id="4" name="tbl-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34840"/>
                <a:gridCol w="44622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Aspekt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2"/>
                          </a:solidFill>
                        </a:rPr>
                        <a:t>explicit-config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reduziert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Layer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 · utils · events · api · state · ui · feature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 · utils · data-access · state · ui · feature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Marker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entry · port · feat-port · generated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entry · generated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Fremder Slice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nur über &lt;slice&gt;/api (port)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Geschwister-Feat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nur über feat-x/api (feat-port)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nie, geteilt wird über den Slice-Root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App-Shell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entry · port · shared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entry · shared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HTTP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nur api (zugleich Port)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nur data-access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Domain-Events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eigene Lib events, ui wirft sie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*.events.ts in state, ui gibt Werte heraus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Globaler Zustand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Port mit Token (AUTH_API, provideAuth())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shared/state (AuthStore, root-provided)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Specs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eigenes, shared und fremdes testing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eigenes und shared testing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ORDNERSTRUKTUR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Lib-Baum mit Tags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Generatoren legen jede Lib samt project.json, Tags und Pfad-Alias an.</a:t>
            </a:r>
            <a:endParaRPr lang="en-US" sz="1400" dirty="0"/>
          </a:p>
        </p:txBody>
      </p:sp>
      <p:sp>
        <p:nvSpPr>
          <p:cNvPr id="5" name="txt-87"/>
          <p:cNvSpPr txBox="1"/>
          <p:nvPr/>
        </p:nvSpPr>
        <p:spPr>
          <a:xfrm>
            <a:off x="548640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</a:t>
            </a:r>
            <a:endParaRPr lang="en-US" sz="1100" dirty="0"/>
          </a:p>
        </p:txBody>
      </p:sp>
      <p:sp>
        <p:nvSpPr>
          <p:cNvPr id="6" name="chip-88"/>
          <p:cNvSpPr/>
          <p:nvPr/>
        </p:nvSpPr>
        <p:spPr>
          <a:xfrm>
            <a:off x="5212080" y="1828800"/>
            <a:ext cx="85039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7" name="chip-t-89"/>
          <p:cNvSpPr txBox="1"/>
          <p:nvPr/>
        </p:nvSpPr>
        <p:spPr>
          <a:xfrm>
            <a:off x="5212080" y="182880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type:app</a:t>
            </a:r>
            <a:endParaRPr lang="en-US" sz="1000" dirty="0"/>
          </a:p>
        </p:txBody>
      </p:sp>
      <p:sp>
        <p:nvSpPr>
          <p:cNvPr id="8" name="txt-90"/>
          <p:cNvSpPr txBox="1"/>
          <p:nvPr/>
        </p:nvSpPr>
        <p:spPr>
          <a:xfrm>
            <a:off x="8778240" y="186537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dünne Shell: main.ts, app.routes.ts</a:t>
            </a:r>
            <a:endParaRPr lang="en-US" sz="1100" dirty="0"/>
          </a:p>
        </p:txBody>
      </p:sp>
      <p:sp>
        <p:nvSpPr>
          <p:cNvPr id="9" name="txt-91"/>
          <p:cNvSpPr txBox="1"/>
          <p:nvPr/>
        </p:nvSpPr>
        <p:spPr>
          <a:xfrm>
            <a:off x="548640" y="2249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libs/booking/types/  utils/</a:t>
            </a:r>
            <a:endParaRPr lang="en-US" sz="1100" dirty="0"/>
          </a:p>
        </p:txBody>
      </p:sp>
      <p:sp>
        <p:nvSpPr>
          <p:cNvPr id="10" name="chip-92"/>
          <p:cNvSpPr/>
          <p:nvPr/>
        </p:nvSpPr>
        <p:spPr>
          <a:xfrm>
            <a:off x="5212080" y="2212848"/>
            <a:ext cx="123901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1" name="chip-t-93"/>
          <p:cNvSpPr txBox="1"/>
          <p:nvPr/>
        </p:nvSpPr>
        <p:spPr>
          <a:xfrm>
            <a:off x="5212080" y="2212848"/>
            <a:ext cx="1239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12" name="chip-94"/>
          <p:cNvSpPr/>
          <p:nvPr/>
        </p:nvSpPr>
        <p:spPr>
          <a:xfrm>
            <a:off x="6542532" y="2212848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3" name="chip-t-95"/>
          <p:cNvSpPr txBox="1"/>
          <p:nvPr/>
        </p:nvSpPr>
        <p:spPr>
          <a:xfrm>
            <a:off x="6542532" y="2212848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type:&lt;layer&gt;</a:t>
            </a:r>
            <a:endParaRPr lang="en-US" sz="1000" dirty="0"/>
          </a:p>
        </p:txBody>
      </p:sp>
      <p:sp>
        <p:nvSpPr>
          <p:cNvPr id="14" name="chip-96"/>
          <p:cNvSpPr/>
          <p:nvPr/>
        </p:nvSpPr>
        <p:spPr>
          <a:xfrm>
            <a:off x="7795260" y="2212848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5" name="chip-t-97"/>
          <p:cNvSpPr txBox="1"/>
          <p:nvPr/>
        </p:nvSpPr>
        <p:spPr>
          <a:xfrm>
            <a:off x="7795260" y="2212848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16" name="txt-98"/>
          <p:cNvSpPr txBox="1"/>
          <p:nvPr/>
        </p:nvSpPr>
        <p:spPr>
          <a:xfrm>
            <a:off x="8778240" y="2249424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eigene Typen, Helfer</a:t>
            </a:r>
            <a:endParaRPr lang="en-US" sz="1100" dirty="0"/>
          </a:p>
        </p:txBody>
      </p:sp>
      <p:sp>
        <p:nvSpPr>
          <p:cNvPr id="17" name="txt-99"/>
          <p:cNvSpPr txBox="1"/>
          <p:nvPr/>
        </p:nvSpPr>
        <p:spPr>
          <a:xfrm>
            <a:off x="548640" y="2633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libs/booking/data-access/</a:t>
            </a:r>
            <a:endParaRPr lang="en-US" sz="1100" dirty="0"/>
          </a:p>
        </p:txBody>
      </p:sp>
      <p:sp>
        <p:nvSpPr>
          <p:cNvPr id="18" name="chip-100"/>
          <p:cNvSpPr/>
          <p:nvPr/>
        </p:nvSpPr>
        <p:spPr>
          <a:xfrm>
            <a:off x="5212080" y="2596896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chip-t-101"/>
          <p:cNvSpPr txBox="1"/>
          <p:nvPr/>
        </p:nvSpPr>
        <p:spPr>
          <a:xfrm>
            <a:off x="5212080" y="2596896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20" name="txt-102"/>
          <p:cNvSpPr txBox="1"/>
          <p:nvPr/>
        </p:nvSpPr>
        <p:spPr>
          <a:xfrm>
            <a:off x="8778240" y="2633472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BookingApi, BookingNotifications (HTTP)</a:t>
            </a:r>
            <a:endParaRPr lang="en-US" sz="1100" dirty="0"/>
          </a:p>
        </p:txBody>
      </p:sp>
      <p:sp>
        <p:nvSpPr>
          <p:cNvPr id="21" name="txt-103"/>
          <p:cNvSpPr txBox="1"/>
          <p:nvPr/>
        </p:nvSpPr>
        <p:spPr>
          <a:xfrm>
            <a:off x="548640" y="3017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</a:t>
            </a:r>
            <a:endParaRPr lang="en-US" sz="1100" dirty="0"/>
          </a:p>
        </p:txBody>
      </p:sp>
      <p:sp>
        <p:nvSpPr>
          <p:cNvPr id="22" name="chip-104"/>
          <p:cNvSpPr/>
          <p:nvPr/>
        </p:nvSpPr>
        <p:spPr>
          <a:xfrm>
            <a:off x="5212080" y="2980944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3" name="chip-t-105"/>
          <p:cNvSpPr txBox="1"/>
          <p:nvPr/>
        </p:nvSpPr>
        <p:spPr>
          <a:xfrm>
            <a:off x="5212080" y="29809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000" dirty="0"/>
          </a:p>
        </p:txBody>
      </p:sp>
      <p:sp>
        <p:nvSpPr>
          <p:cNvPr id="24" name="txt-106"/>
          <p:cNvSpPr txBox="1"/>
          <p:nvPr/>
        </p:nvSpPr>
        <p:spPr>
          <a:xfrm>
            <a:off x="8778240" y="301752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BookingStore, booking.events.ts</a:t>
            </a:r>
            <a:endParaRPr lang="en-US" sz="1100" dirty="0"/>
          </a:p>
        </p:txBody>
      </p:sp>
      <p:sp>
        <p:nvSpPr>
          <p:cNvPr id="25" name="txt-107"/>
          <p:cNvSpPr txBox="1"/>
          <p:nvPr/>
        </p:nvSpPr>
        <p:spPr>
          <a:xfrm>
            <a:off x="54864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libs/booking/ui/</a:t>
            </a:r>
            <a:endParaRPr lang="en-US" sz="1100" dirty="0"/>
          </a:p>
        </p:txBody>
      </p:sp>
      <p:sp>
        <p:nvSpPr>
          <p:cNvPr id="26" name="chip-108"/>
          <p:cNvSpPr/>
          <p:nvPr/>
        </p:nvSpPr>
        <p:spPr>
          <a:xfrm>
            <a:off x="5212080" y="3364992"/>
            <a:ext cx="77266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7" name="chip-t-109"/>
          <p:cNvSpPr txBox="1"/>
          <p:nvPr/>
        </p:nvSpPr>
        <p:spPr>
          <a:xfrm>
            <a:off x="5212080" y="3364992"/>
            <a:ext cx="77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type:ui</a:t>
            </a:r>
            <a:endParaRPr lang="en-US" sz="1000" dirty="0"/>
          </a:p>
        </p:txBody>
      </p:sp>
      <p:sp>
        <p:nvSpPr>
          <p:cNvPr id="28" name="txt-110"/>
          <p:cNvSpPr txBox="1"/>
          <p:nvPr/>
        </p:nvSpPr>
        <p:spPr>
          <a:xfrm>
            <a:off x="8778240" y="3401568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dumme Komponenten</a:t>
            </a:r>
            <a:endParaRPr lang="en-US" sz="1100" dirty="0"/>
          </a:p>
        </p:txBody>
      </p:sp>
      <p:sp>
        <p:nvSpPr>
          <p:cNvPr id="29" name="txt-111"/>
          <p:cNvSpPr txBox="1"/>
          <p:nvPr/>
        </p:nvSpPr>
        <p:spPr>
          <a:xfrm>
            <a:off x="548640" y="37856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libs/booking/shell/</a:t>
            </a:r>
            <a:endParaRPr lang="en-US" sz="1100" dirty="0"/>
          </a:p>
        </p:txBody>
      </p:sp>
      <p:sp>
        <p:nvSpPr>
          <p:cNvPr id="30" name="chip-112"/>
          <p:cNvSpPr/>
          <p:nvPr/>
        </p:nvSpPr>
        <p:spPr>
          <a:xfrm>
            <a:off x="5212080" y="374904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31" name="chip-t-113"/>
          <p:cNvSpPr txBox="1"/>
          <p:nvPr/>
        </p:nvSpPr>
        <p:spPr>
          <a:xfrm>
            <a:off x="5212080" y="374904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2" name="chip-114"/>
          <p:cNvSpPr/>
          <p:nvPr/>
        </p:nvSpPr>
        <p:spPr>
          <a:xfrm>
            <a:off x="6464808" y="3749040"/>
            <a:ext cx="61722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33" name="chip-t-115"/>
          <p:cNvSpPr txBox="1"/>
          <p:nvPr/>
        </p:nvSpPr>
        <p:spPr>
          <a:xfrm>
            <a:off x="6464808" y="3749040"/>
            <a:ext cx="617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34" name="txt-116"/>
          <p:cNvSpPr txBox="1"/>
          <p:nvPr/>
        </p:nvSpPr>
        <p:spPr>
          <a:xfrm>
            <a:off x="8778240" y="378561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Slice-Root: Routes, Providers</a:t>
            </a:r>
            <a:endParaRPr lang="en-US" sz="1100" dirty="0"/>
          </a:p>
        </p:txBody>
      </p:sp>
      <p:sp>
        <p:nvSpPr>
          <p:cNvPr id="35" name="txt-117"/>
          <p:cNvSpPr txBox="1"/>
          <p:nvPr/>
        </p:nvSpPr>
        <p:spPr>
          <a:xfrm>
            <a:off x="548640" y="4169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libs/booking/feat-check-booking/feature/</a:t>
            </a:r>
            <a:endParaRPr lang="en-US" sz="1100" dirty="0"/>
          </a:p>
        </p:txBody>
      </p:sp>
      <p:sp>
        <p:nvSpPr>
          <p:cNvPr id="36" name="chip-118"/>
          <p:cNvSpPr/>
          <p:nvPr/>
        </p:nvSpPr>
        <p:spPr>
          <a:xfrm>
            <a:off x="5212080" y="4133088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37" name="chip-t-119"/>
          <p:cNvSpPr txBox="1"/>
          <p:nvPr/>
        </p:nvSpPr>
        <p:spPr>
          <a:xfrm>
            <a:off x="5212080" y="4133088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8" name="chip-120"/>
          <p:cNvSpPr/>
          <p:nvPr/>
        </p:nvSpPr>
        <p:spPr>
          <a:xfrm>
            <a:off x="6464808" y="4133088"/>
            <a:ext cx="162763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39" name="chip-t-121"/>
          <p:cNvSpPr txBox="1"/>
          <p:nvPr/>
        </p:nvSpPr>
        <p:spPr>
          <a:xfrm>
            <a:off x="6464808" y="413308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0" name="txt-122"/>
          <p:cNvSpPr txBox="1"/>
          <p:nvPr/>
        </p:nvSpPr>
        <p:spPr>
          <a:xfrm>
            <a:off x="8778240" y="4169664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Feat-Container</a:t>
            </a:r>
            <a:endParaRPr lang="en-US" sz="1100" dirty="0"/>
          </a:p>
        </p:txBody>
      </p:sp>
      <p:sp>
        <p:nvSpPr>
          <p:cNvPr id="41" name="txt-123"/>
          <p:cNvSpPr txBox="1"/>
          <p:nvPr/>
        </p:nvSpPr>
        <p:spPr>
          <a:xfrm>
            <a:off x="548640" y="45537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libs/booking/feat-check-booking/state/  ui/</a:t>
            </a:r>
            <a:endParaRPr lang="en-US" sz="1100" dirty="0"/>
          </a:p>
        </p:txBody>
      </p:sp>
      <p:sp>
        <p:nvSpPr>
          <p:cNvPr id="42" name="chip-124"/>
          <p:cNvSpPr/>
          <p:nvPr/>
        </p:nvSpPr>
        <p:spPr>
          <a:xfrm>
            <a:off x="5212080" y="4517136"/>
            <a:ext cx="162763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3" name="chip-t-125"/>
          <p:cNvSpPr txBox="1"/>
          <p:nvPr/>
        </p:nvSpPr>
        <p:spPr>
          <a:xfrm>
            <a:off x="5212080" y="4517136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4" name="txt-126"/>
          <p:cNvSpPr txBox="1"/>
          <p:nvPr/>
        </p:nvSpPr>
        <p:spPr>
          <a:xfrm>
            <a:off x="8778240" y="4553712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feat-eigener State, ui</a:t>
            </a:r>
            <a:endParaRPr lang="en-US" sz="1100" dirty="0"/>
          </a:p>
        </p:txBody>
      </p:sp>
      <p:sp>
        <p:nvSpPr>
          <p:cNvPr id="45" name="txt-127"/>
          <p:cNvSpPr txBox="1"/>
          <p:nvPr/>
        </p:nvSpPr>
        <p:spPr>
          <a:xfrm>
            <a:off x="548640" y="4937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libs/booking/testing/</a:t>
            </a:r>
            <a:endParaRPr lang="en-US" sz="1100" dirty="0"/>
          </a:p>
        </p:txBody>
      </p:sp>
      <p:sp>
        <p:nvSpPr>
          <p:cNvPr id="46" name="chip-128"/>
          <p:cNvSpPr/>
          <p:nvPr/>
        </p:nvSpPr>
        <p:spPr>
          <a:xfrm>
            <a:off x="5212080" y="4901184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7" name="chip-t-129"/>
          <p:cNvSpPr txBox="1"/>
          <p:nvPr/>
        </p:nvSpPr>
        <p:spPr>
          <a:xfrm>
            <a:off x="5212080" y="4901184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48" name="txt-130"/>
          <p:cNvSpPr txBox="1"/>
          <p:nvPr/>
        </p:nvSpPr>
        <p:spPr>
          <a:xfrm>
            <a:off x="8778240" y="493776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MSW-Handler, Fixtures (nur Specs)</a:t>
            </a:r>
            <a:endParaRPr lang="en-US" sz="1100" dirty="0"/>
          </a:p>
        </p:txBody>
      </p:sp>
      <p:sp>
        <p:nvSpPr>
          <p:cNvPr id="49" name="txt-131"/>
          <p:cNvSpPr txBox="1"/>
          <p:nvPr/>
        </p:nvSpPr>
        <p:spPr>
          <a:xfrm>
            <a:off x="548640" y="5321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libs/booking/generated/booking-client/</a:t>
            </a:r>
            <a:endParaRPr lang="en-US" sz="1100" dirty="0"/>
          </a:p>
        </p:txBody>
      </p:sp>
      <p:sp>
        <p:nvSpPr>
          <p:cNvPr id="50" name="chip-132"/>
          <p:cNvSpPr/>
          <p:nvPr/>
        </p:nvSpPr>
        <p:spPr>
          <a:xfrm>
            <a:off x="5212080" y="5285232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1" name="chip-t-133"/>
          <p:cNvSpPr txBox="1"/>
          <p:nvPr/>
        </p:nvSpPr>
        <p:spPr>
          <a:xfrm>
            <a:off x="5212080" y="5285232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52" name="chip-134"/>
          <p:cNvSpPr/>
          <p:nvPr/>
        </p:nvSpPr>
        <p:spPr>
          <a:xfrm>
            <a:off x="6775704" y="5285232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3" name="chip-t-135"/>
          <p:cNvSpPr txBox="1"/>
          <p:nvPr/>
        </p:nvSpPr>
        <p:spPr>
          <a:xfrm>
            <a:off x="6775704" y="5285232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54" name="txt-136"/>
          <p:cNvSpPr txBox="1"/>
          <p:nvPr/>
        </p:nvSpPr>
        <p:spPr>
          <a:xfrm>
            <a:off x="8778240" y="5321808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api/ core/ aus OpenAPI</a:t>
            </a:r>
            <a:endParaRPr lang="en-US" sz="1100" dirty="0"/>
          </a:p>
        </p:txBody>
      </p:sp>
      <p:sp>
        <p:nvSpPr>
          <p:cNvPr id="55" name="txt-137"/>
          <p:cNvSpPr txBox="1"/>
          <p:nvPr/>
        </p:nvSpPr>
        <p:spPr>
          <a:xfrm>
            <a:off x="548640" y="57058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libs/shared/types  utils  data-access  state  ui</a:t>
            </a:r>
            <a:endParaRPr lang="en-US" sz="1100" dirty="0"/>
          </a:p>
        </p:txBody>
      </p:sp>
      <p:sp>
        <p:nvSpPr>
          <p:cNvPr id="56" name="chip-138"/>
          <p:cNvSpPr/>
          <p:nvPr/>
        </p:nvSpPr>
        <p:spPr>
          <a:xfrm>
            <a:off x="5212080" y="566928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7" name="chip-t-139"/>
          <p:cNvSpPr txBox="1"/>
          <p:nvPr/>
        </p:nvSpPr>
        <p:spPr>
          <a:xfrm>
            <a:off x="5212080" y="566928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58" name="txt-140"/>
          <p:cNvSpPr txBox="1"/>
          <p:nvPr/>
        </p:nvSpPr>
        <p:spPr>
          <a:xfrm>
            <a:off x="8778240" y="570585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ApiHttp, PetApi, AuthStore …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TAG-SCHEMA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Vier Achsen, verknüpft mit UND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Nx wendet jede Constraint an, deren Quell-Tag passt. Alle müssen den Import erlauben; innerhalb einer Constraint reicht ein passendes Ziel-Tag.</a:t>
            </a:r>
            <a:endParaRPr lang="en-US" sz="1400" dirty="0"/>
          </a:p>
        </p:txBody>
      </p:sp>
      <p:sp>
        <p:nvSpPr>
          <p:cNvPr id="5" name="card-141"/>
          <p:cNvSpPr/>
          <p:nvPr/>
        </p:nvSpPr>
        <p:spPr>
          <a:xfrm>
            <a:off x="548640" y="182880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txt-142"/>
          <p:cNvSpPr txBox="1"/>
          <p:nvPr/>
        </p:nvSpPr>
        <p:spPr>
          <a:xfrm>
            <a:off x="777240" y="2011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Scope</a:t>
            </a:r>
            <a:endParaRPr lang="en-US" sz="1800" dirty="0"/>
          </a:p>
        </p:txBody>
      </p:sp>
      <p:sp>
        <p:nvSpPr>
          <p:cNvPr id="7" name="chip-143"/>
          <p:cNvSpPr/>
          <p:nvPr/>
        </p:nvSpPr>
        <p:spPr>
          <a:xfrm>
            <a:off x="2286000" y="2011680"/>
            <a:ext cx="123901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8" name="chip-t-144"/>
          <p:cNvSpPr txBox="1"/>
          <p:nvPr/>
        </p:nvSpPr>
        <p:spPr>
          <a:xfrm>
            <a:off x="2286000" y="2011680"/>
            <a:ext cx="1239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9" name="chip-145"/>
          <p:cNvSpPr/>
          <p:nvPr/>
        </p:nvSpPr>
        <p:spPr>
          <a:xfrm>
            <a:off x="3616452" y="2011680"/>
            <a:ext cx="123901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0" name="chip-t-146"/>
          <p:cNvSpPr txBox="1"/>
          <p:nvPr/>
        </p:nvSpPr>
        <p:spPr>
          <a:xfrm>
            <a:off x="3616452" y="2011680"/>
            <a:ext cx="12390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11" name="chip-147"/>
          <p:cNvSpPr/>
          <p:nvPr/>
        </p:nvSpPr>
        <p:spPr>
          <a:xfrm>
            <a:off x="4946904" y="201168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2" name="chip-t-148"/>
          <p:cNvSpPr txBox="1"/>
          <p:nvPr/>
        </p:nvSpPr>
        <p:spPr>
          <a:xfrm>
            <a:off x="4946904" y="201168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scope:layout</a:t>
            </a:r>
            <a:endParaRPr lang="en-US" sz="1000" dirty="0"/>
          </a:p>
        </p:txBody>
      </p:sp>
      <p:sp>
        <p:nvSpPr>
          <p:cNvPr id="13" name="chip-149"/>
          <p:cNvSpPr/>
          <p:nvPr/>
        </p:nvSpPr>
        <p:spPr>
          <a:xfrm>
            <a:off x="6199632" y="201168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4" name="chip-t-150"/>
          <p:cNvSpPr txBox="1"/>
          <p:nvPr/>
        </p:nvSpPr>
        <p:spPr>
          <a:xfrm>
            <a:off x="6199632" y="201168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15" name="txt-151"/>
          <p:cNvSpPr txBox="1"/>
          <p:nvPr/>
        </p:nvSpPr>
        <p:spPr>
          <a:xfrm>
            <a:off x="2286000" y="237744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Zu welchem Slice gehört die Lib? Erlaubt sind nur der eigene Scope und shared.</a:t>
            </a:r>
            <a:endParaRPr lang="en-US" sz="1200" dirty="0"/>
          </a:p>
        </p:txBody>
      </p:sp>
      <p:sp>
        <p:nvSpPr>
          <p:cNvPr id="16" name="card-152"/>
          <p:cNvSpPr/>
          <p:nvPr/>
        </p:nvSpPr>
        <p:spPr>
          <a:xfrm>
            <a:off x="548640" y="292608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xt-153"/>
          <p:cNvSpPr txBox="1"/>
          <p:nvPr/>
        </p:nvSpPr>
        <p:spPr>
          <a:xfrm>
            <a:off x="777240" y="3108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Type</a:t>
            </a:r>
            <a:endParaRPr lang="en-US" sz="1800" dirty="0"/>
          </a:p>
        </p:txBody>
      </p:sp>
      <p:sp>
        <p:nvSpPr>
          <p:cNvPr id="18" name="chip-154"/>
          <p:cNvSpPr/>
          <p:nvPr/>
        </p:nvSpPr>
        <p:spPr>
          <a:xfrm>
            <a:off x="2286000" y="3108960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chip-t-155"/>
          <p:cNvSpPr txBox="1"/>
          <p:nvPr/>
        </p:nvSpPr>
        <p:spPr>
          <a:xfrm>
            <a:off x="2286000" y="3108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1000" dirty="0"/>
          </a:p>
        </p:txBody>
      </p:sp>
      <p:sp>
        <p:nvSpPr>
          <p:cNvPr id="20" name="chip-156"/>
          <p:cNvSpPr/>
          <p:nvPr/>
        </p:nvSpPr>
        <p:spPr>
          <a:xfrm>
            <a:off x="3383280" y="3108960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1" name="chip-t-157"/>
          <p:cNvSpPr txBox="1"/>
          <p:nvPr/>
        </p:nvSpPr>
        <p:spPr>
          <a:xfrm>
            <a:off x="3383280" y="3108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type:utils</a:t>
            </a:r>
            <a:endParaRPr lang="en-US" sz="1000" dirty="0"/>
          </a:p>
        </p:txBody>
      </p:sp>
      <p:sp>
        <p:nvSpPr>
          <p:cNvPr id="22" name="chip-158"/>
          <p:cNvSpPr/>
          <p:nvPr/>
        </p:nvSpPr>
        <p:spPr>
          <a:xfrm>
            <a:off x="4480560" y="3108960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3" name="chip-t-159"/>
          <p:cNvSpPr txBox="1"/>
          <p:nvPr/>
        </p:nvSpPr>
        <p:spPr>
          <a:xfrm>
            <a:off x="4480560" y="31089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24" name="chip-160"/>
          <p:cNvSpPr/>
          <p:nvPr/>
        </p:nvSpPr>
        <p:spPr>
          <a:xfrm>
            <a:off x="6044184" y="3108960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chip-t-161"/>
          <p:cNvSpPr txBox="1"/>
          <p:nvPr/>
        </p:nvSpPr>
        <p:spPr>
          <a:xfrm>
            <a:off x="6044184" y="3108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000" dirty="0"/>
          </a:p>
        </p:txBody>
      </p:sp>
      <p:sp>
        <p:nvSpPr>
          <p:cNvPr id="26" name="chip-162"/>
          <p:cNvSpPr/>
          <p:nvPr/>
        </p:nvSpPr>
        <p:spPr>
          <a:xfrm>
            <a:off x="7141464" y="3108960"/>
            <a:ext cx="77266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7" name="chip-t-163"/>
          <p:cNvSpPr txBox="1"/>
          <p:nvPr/>
        </p:nvSpPr>
        <p:spPr>
          <a:xfrm>
            <a:off x="7141464" y="3108960"/>
            <a:ext cx="7726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type:ui</a:t>
            </a:r>
            <a:endParaRPr lang="en-US" sz="1000" dirty="0"/>
          </a:p>
        </p:txBody>
      </p:sp>
      <p:sp>
        <p:nvSpPr>
          <p:cNvPr id="28" name="chip-164"/>
          <p:cNvSpPr/>
          <p:nvPr/>
        </p:nvSpPr>
        <p:spPr>
          <a:xfrm>
            <a:off x="8005572" y="310896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9" name="chip-t-165"/>
          <p:cNvSpPr txBox="1"/>
          <p:nvPr/>
        </p:nvSpPr>
        <p:spPr>
          <a:xfrm>
            <a:off x="8005572" y="310896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0" name="chip-166"/>
          <p:cNvSpPr/>
          <p:nvPr/>
        </p:nvSpPr>
        <p:spPr>
          <a:xfrm>
            <a:off x="9258300" y="310896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31" name="chip-t-167"/>
          <p:cNvSpPr txBox="1"/>
          <p:nvPr/>
        </p:nvSpPr>
        <p:spPr>
          <a:xfrm>
            <a:off x="9258300" y="310896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32" name="chip-168"/>
          <p:cNvSpPr/>
          <p:nvPr/>
        </p:nvSpPr>
        <p:spPr>
          <a:xfrm>
            <a:off x="10511028" y="3108960"/>
            <a:ext cx="85039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33" name="chip-t-169"/>
          <p:cNvSpPr txBox="1"/>
          <p:nvPr/>
        </p:nvSpPr>
        <p:spPr>
          <a:xfrm>
            <a:off x="10511028" y="310896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type:app</a:t>
            </a:r>
            <a:endParaRPr lang="en-US" sz="1000" dirty="0"/>
          </a:p>
        </p:txBody>
      </p:sp>
      <p:sp>
        <p:nvSpPr>
          <p:cNvPr id="34" name="txt-170"/>
          <p:cNvSpPr txBox="1"/>
          <p:nvPr/>
        </p:nvSpPr>
        <p:spPr>
          <a:xfrm>
            <a:off x="2286000" y="347472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Der Layer. Er bestimmt die Layer-Matrix und welche npm-Pakete erlaubt sind.</a:t>
            </a:r>
            <a:endParaRPr lang="en-US" sz="1200" dirty="0"/>
          </a:p>
        </p:txBody>
      </p:sp>
      <p:sp>
        <p:nvSpPr>
          <p:cNvPr id="35" name="card-171"/>
          <p:cNvSpPr/>
          <p:nvPr/>
        </p:nvSpPr>
        <p:spPr>
          <a:xfrm>
            <a:off x="548640" y="402336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36" name="txt-172"/>
          <p:cNvSpPr txBox="1"/>
          <p:nvPr/>
        </p:nvSpPr>
        <p:spPr>
          <a:xfrm>
            <a:off x="777240" y="4206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Feat</a:t>
            </a:r>
            <a:endParaRPr lang="en-US" sz="1800" dirty="0"/>
          </a:p>
        </p:txBody>
      </p:sp>
      <p:sp>
        <p:nvSpPr>
          <p:cNvPr id="37" name="chip-173"/>
          <p:cNvSpPr/>
          <p:nvPr/>
        </p:nvSpPr>
        <p:spPr>
          <a:xfrm>
            <a:off x="2286000" y="4206240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38" name="chip-t-174"/>
          <p:cNvSpPr txBox="1"/>
          <p:nvPr/>
        </p:nvSpPr>
        <p:spPr>
          <a:xfrm>
            <a:off x="2286000" y="4206240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39" name="chip-175"/>
          <p:cNvSpPr/>
          <p:nvPr/>
        </p:nvSpPr>
        <p:spPr>
          <a:xfrm>
            <a:off x="3305556" y="4206240"/>
            <a:ext cx="1627632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0" name="chip-t-176"/>
          <p:cNvSpPr txBox="1"/>
          <p:nvPr/>
        </p:nvSpPr>
        <p:spPr>
          <a:xfrm>
            <a:off x="3305556" y="4206240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1" name="chip-177"/>
          <p:cNvSpPr/>
          <p:nvPr/>
        </p:nvSpPr>
        <p:spPr>
          <a:xfrm>
            <a:off x="5024628" y="420624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2" name="chip-t-178"/>
          <p:cNvSpPr txBox="1"/>
          <p:nvPr/>
        </p:nvSpPr>
        <p:spPr>
          <a:xfrm>
            <a:off x="5024628" y="420624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feat:checkin</a:t>
            </a:r>
            <a:endParaRPr lang="en-US" sz="1000" dirty="0"/>
          </a:p>
        </p:txBody>
      </p:sp>
      <p:sp>
        <p:nvSpPr>
          <p:cNvPr id="43" name="chip-179"/>
          <p:cNvSpPr/>
          <p:nvPr/>
        </p:nvSpPr>
        <p:spPr>
          <a:xfrm>
            <a:off x="6277356" y="4206240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4" name="chip-t-180"/>
          <p:cNvSpPr txBox="1"/>
          <p:nvPr/>
        </p:nvSpPr>
        <p:spPr>
          <a:xfrm>
            <a:off x="6277356" y="4206240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45" name="txt-181"/>
          <p:cNvSpPr txBox="1"/>
          <p:nvPr/>
        </p:nvSpPr>
        <p:spPr>
          <a:xfrm>
            <a:off x="2286000" y="457200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Gehört die Lib zu einem Feat? Erlaubt sind das eigene Feat und feat:none.</a:t>
            </a:r>
            <a:endParaRPr lang="en-US" sz="1200" dirty="0"/>
          </a:p>
        </p:txBody>
      </p:sp>
      <p:sp>
        <p:nvSpPr>
          <p:cNvPr id="46" name="card-182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7" name="txt-183"/>
          <p:cNvSpPr txBox="1"/>
          <p:nvPr/>
        </p:nvSpPr>
        <p:spPr>
          <a:xfrm>
            <a:off x="777240" y="5303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Marker</a:t>
            </a:r>
            <a:endParaRPr lang="en-US" sz="1800" dirty="0"/>
          </a:p>
        </p:txBody>
      </p:sp>
      <p:sp>
        <p:nvSpPr>
          <p:cNvPr id="48" name="chip-184"/>
          <p:cNvSpPr/>
          <p:nvPr/>
        </p:nvSpPr>
        <p:spPr>
          <a:xfrm>
            <a:off x="2286000" y="5303520"/>
            <a:ext cx="61722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9" name="chip-t-185"/>
          <p:cNvSpPr txBox="1"/>
          <p:nvPr/>
        </p:nvSpPr>
        <p:spPr>
          <a:xfrm>
            <a:off x="2286000" y="5303520"/>
            <a:ext cx="617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50" name="chip-186"/>
          <p:cNvSpPr/>
          <p:nvPr/>
        </p:nvSpPr>
        <p:spPr>
          <a:xfrm>
            <a:off x="2994660" y="5303520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51" name="chip-t-187"/>
          <p:cNvSpPr txBox="1"/>
          <p:nvPr/>
        </p:nvSpPr>
        <p:spPr>
          <a:xfrm>
            <a:off x="2994660" y="5303520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52" name="txt-188"/>
          <p:cNvSpPr txBox="1"/>
          <p:nvPr/>
        </p:nvSpPr>
        <p:spPr>
          <a:xfrm>
            <a:off x="2286000" y="5669280"/>
            <a:ext cx="9082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entry = Slice-Shell, die die App lazy lädt. generated = OpenAPI-Client-Lib.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LAYER-MATRIX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Wer darf welchen Layer importieren?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Zeile = importierende Lib, Spalte = importierte Lib. Scope- und Feat-Regeln gelten zusätzlich: ✓ ist notwendig, aber nicht hinreichend.</a:t>
            </a:r>
            <a:endParaRPr lang="en-US" sz="1400" dirty="0"/>
          </a:p>
        </p:txBody>
      </p:sp>
      <p:graphicFrame>
        <p:nvGraphicFramePr>
          <p:cNvPr id="7" name="matrix-1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74980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22960"/>
                <a:gridCol w="914400"/>
                <a:gridCol w="822960"/>
                <a:gridCol w="777240"/>
                <a:gridCol w="822960"/>
                <a:gridCol w="7772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importiert ↓ · Ziel →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data-access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✓ Spec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data-access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✓ Spec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✓ Spec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✓ Spec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 / shell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chemeClr val="accent1"/>
                          </a:solidFill>
                        </a:rPr>
                        <a:t>✓ Spec</a:t>
                      </a:r>
                      <a:endParaRPr lang="en-US" sz="9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·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6" name="card-190"/>
          <p:cNvSpPr/>
          <p:nvPr/>
        </p:nvSpPr>
        <p:spPr>
          <a:xfrm>
            <a:off x="8412480" y="1828800"/>
            <a:ext cx="3230575" cy="41605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191"/>
          <p:cNvSpPr txBox="1"/>
          <p:nvPr/>
        </p:nvSpPr>
        <p:spPr>
          <a:xfrm>
            <a:off x="8595360" y="2011680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→ data-access</a:t>
            </a:r>
            <a:endParaRPr lang="en-US" sz="1200" dirty="0"/>
          </a:p>
        </p:txBody>
      </p:sp>
      <p:sp>
        <p:nvSpPr>
          <p:cNvPr id="8" name="txt-192"/>
          <p:cNvSpPr txBox="1"/>
          <p:nvPr/>
        </p:nvSpPr>
        <p:spPr>
          <a:xfrm>
            <a:off x="8595360" y="2286000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Stores rufen HTTP nur über data-access, nie direkt.</a:t>
            </a:r>
            <a:endParaRPr lang="en-US" sz="1100" dirty="0"/>
          </a:p>
        </p:txBody>
      </p:sp>
      <p:sp>
        <p:nvSpPr>
          <p:cNvPr id="9" name="txt-193"/>
          <p:cNvSpPr txBox="1"/>
          <p:nvPr/>
        </p:nvSpPr>
        <p:spPr>
          <a:xfrm>
            <a:off x="8595360" y="2798064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→ state ✕</a:t>
            </a:r>
            <a:endParaRPr lang="en-US" sz="1200" dirty="0"/>
          </a:p>
        </p:txBody>
      </p:sp>
      <p:sp>
        <p:nvSpPr>
          <p:cNvPr id="10" name="txt-194"/>
          <p:cNvSpPr txBox="1"/>
          <p:nvPr/>
        </p:nvSpPr>
        <p:spPr>
          <a:xfrm>
            <a:off x="8595360" y="3072384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Dumme Komponenten geben Werte per output() heraus; der Container erzeugt das Event.</a:t>
            </a:r>
            <a:endParaRPr lang="en-US" sz="1100" dirty="0"/>
          </a:p>
        </p:txBody>
      </p:sp>
      <p:sp>
        <p:nvSpPr>
          <p:cNvPr id="11" name="txt-195"/>
          <p:cNvSpPr txBox="1"/>
          <p:nvPr/>
        </p:nvSpPr>
        <p:spPr>
          <a:xfrm>
            <a:off x="8595360" y="3584448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2" name="txt-196"/>
          <p:cNvSpPr txBox="1"/>
          <p:nvPr/>
        </p:nvSpPr>
        <p:spPr>
          <a:xfrm>
            <a:off x="8595360" y="3858768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keinerlei npm-Imports, framework-frei.</a:t>
            </a:r>
            <a:endParaRPr lang="en-US" sz="1100" dirty="0"/>
          </a:p>
        </p:txBody>
      </p:sp>
      <p:sp>
        <p:nvSpPr>
          <p:cNvPr id="13" name="txt-197"/>
          <p:cNvSpPr txBox="1"/>
          <p:nvPr/>
        </p:nvSpPr>
        <p:spPr>
          <a:xfrm>
            <a:off x="8595360" y="4370832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14" name="txt-198"/>
          <p:cNvSpPr txBox="1"/>
          <p:nvPr/>
        </p:nvSpPr>
        <p:spPr>
          <a:xfrm>
            <a:off x="8595360" y="4645152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darf zusätzlich alles aus scope:shared.</a:t>
            </a:r>
            <a:endParaRPr lang="en-US" sz="1100" dirty="0"/>
          </a:p>
        </p:txBody>
      </p:sp>
      <p:sp>
        <p:nvSpPr>
          <p:cNvPr id="15" name="txt-199"/>
          <p:cNvSpPr txBox="1"/>
          <p:nvPr/>
        </p:nvSpPr>
        <p:spPr>
          <a:xfrm>
            <a:off x="8595360" y="5157216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Spec</a:t>
            </a:r>
            <a:endParaRPr lang="en-US" sz="1200" dirty="0"/>
          </a:p>
        </p:txBody>
      </p:sp>
      <p:sp>
        <p:nvSpPr>
          <p:cNvPr id="16" name="txt-200"/>
          <p:cNvSpPr txBox="1"/>
          <p:nvPr/>
        </p:nvSpPr>
        <p:spPr>
          <a:xfrm>
            <a:off x="8595360" y="5431536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nur in *.spec.ts, eigener Slice + shared. types nicht: testing baut auf types auf (Zyklus).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DATENFLUSS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Von HTTP bis zur Komponente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Jeder Schritt liegt in genau einem Layer. Die Pfeile sind die einzigen erlaubten Richtungen.</a:t>
            </a:r>
            <a:endParaRPr lang="en-US" sz="1400" dirty="0"/>
          </a:p>
        </p:txBody>
      </p:sp>
      <p:sp>
        <p:nvSpPr>
          <p:cNvPr id="5" name="flow-201"/>
          <p:cNvSpPr/>
          <p:nvPr/>
        </p:nvSpPr>
        <p:spPr>
          <a:xfrm>
            <a:off x="548640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6" name="txt-202"/>
          <p:cNvSpPr txBox="1"/>
          <p:nvPr/>
        </p:nvSpPr>
        <p:spPr>
          <a:xfrm>
            <a:off x="685800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endParaRPr lang="en-US" sz="1500" dirty="0"/>
          </a:p>
        </p:txBody>
      </p:sp>
      <p:sp>
        <p:nvSpPr>
          <p:cNvPr id="7" name="txt-203"/>
          <p:cNvSpPr txBox="1"/>
          <p:nvPr/>
        </p:nvSpPr>
        <p:spPr>
          <a:xfrm>
            <a:off x="685800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REST / OpenAPI</a:t>
            </a:r>
            <a:endParaRPr lang="en-US" sz="1100" dirty="0"/>
          </a:p>
        </p:txBody>
      </p:sp>
      <p:sp>
        <p:nvSpPr>
          <p:cNvPr id="8" name="arrow-204"/>
          <p:cNvSpPr/>
          <p:nvPr/>
        </p:nvSpPr>
        <p:spPr>
          <a:xfrm>
            <a:off x="2459736" y="2971800"/>
            <a:ext cx="310896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flow-205"/>
          <p:cNvSpPr/>
          <p:nvPr/>
        </p:nvSpPr>
        <p:spPr>
          <a:xfrm>
            <a:off x="2807208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xt-206"/>
          <p:cNvSpPr txBox="1"/>
          <p:nvPr/>
        </p:nvSpPr>
        <p:spPr>
          <a:xfrm>
            <a:off x="2944368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data-access</a:t>
            </a:r>
            <a:endParaRPr lang="en-US" sz="1500" dirty="0"/>
          </a:p>
        </p:txBody>
      </p:sp>
      <p:sp>
        <p:nvSpPr>
          <p:cNvPr id="11" name="txt-207"/>
          <p:cNvSpPr txBox="1"/>
          <p:nvPr/>
        </p:nvSpPr>
        <p:spPr>
          <a:xfrm>
            <a:off x="2944368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DTOs unverändert, Promise</a:t>
            </a:r>
            <a:endParaRPr lang="en-US" sz="1100" dirty="0"/>
          </a:p>
        </p:txBody>
      </p:sp>
      <p:sp>
        <p:nvSpPr>
          <p:cNvPr id="12" name="arrow-208"/>
          <p:cNvSpPr/>
          <p:nvPr/>
        </p:nvSpPr>
        <p:spPr>
          <a:xfrm>
            <a:off x="4718304" y="2971800"/>
            <a:ext cx="310896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flow-209"/>
          <p:cNvSpPr/>
          <p:nvPr/>
        </p:nvSpPr>
        <p:spPr>
          <a:xfrm>
            <a:off x="5065776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xt-210"/>
          <p:cNvSpPr txBox="1"/>
          <p:nvPr/>
        </p:nvSpPr>
        <p:spPr>
          <a:xfrm>
            <a:off x="5202936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500" dirty="0"/>
          </a:p>
        </p:txBody>
      </p:sp>
      <p:sp>
        <p:nvSpPr>
          <p:cNvPr id="15" name="txt-211"/>
          <p:cNvSpPr txBox="1"/>
          <p:nvPr/>
        </p:nvSpPr>
        <p:spPr>
          <a:xfrm>
            <a:off x="5202936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BookingStore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handle(bookingConfirmed)</a:t>
            </a:r>
            <a:endParaRPr lang="en-US" sz="1100" dirty="0"/>
          </a:p>
        </p:txBody>
      </p:sp>
      <p:sp>
        <p:nvSpPr>
          <p:cNvPr id="16" name="arrow-212"/>
          <p:cNvSpPr/>
          <p:nvPr/>
        </p:nvSpPr>
        <p:spPr>
          <a:xfrm>
            <a:off x="6976872" y="2971800"/>
            <a:ext cx="310896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flow-213"/>
          <p:cNvSpPr/>
          <p:nvPr/>
        </p:nvSpPr>
        <p:spPr>
          <a:xfrm>
            <a:off x="7324344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18" name="txt-214"/>
          <p:cNvSpPr txBox="1"/>
          <p:nvPr/>
        </p:nvSpPr>
        <p:spPr>
          <a:xfrm>
            <a:off x="7461504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500" dirty="0"/>
          </a:p>
        </p:txBody>
      </p:sp>
      <p:sp>
        <p:nvSpPr>
          <p:cNvPr id="19" name="txt-215"/>
          <p:cNvSpPr txBox="1"/>
          <p:nvPr/>
        </p:nvSpPr>
        <p:spPr>
          <a:xfrm>
            <a:off x="7461504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FeatCheckBooking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Container</a:t>
            </a:r>
            <a:endParaRPr lang="en-US" sz="1100" dirty="0"/>
          </a:p>
        </p:txBody>
      </p:sp>
      <p:sp>
        <p:nvSpPr>
          <p:cNvPr id="20" name="arrow-216"/>
          <p:cNvSpPr/>
          <p:nvPr/>
        </p:nvSpPr>
        <p:spPr>
          <a:xfrm>
            <a:off x="9235440" y="2971800"/>
            <a:ext cx="310896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flow-217"/>
          <p:cNvSpPr/>
          <p:nvPr/>
        </p:nvSpPr>
        <p:spPr>
          <a:xfrm>
            <a:off x="9582912" y="2286000"/>
            <a:ext cx="18745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22" name="txt-218"/>
          <p:cNvSpPr txBox="1"/>
          <p:nvPr/>
        </p:nvSpPr>
        <p:spPr>
          <a:xfrm>
            <a:off x="9720072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500" dirty="0"/>
          </a:p>
        </p:txBody>
      </p:sp>
      <p:sp>
        <p:nvSpPr>
          <p:cNvPr id="23" name="txt-219"/>
          <p:cNvSpPr txBox="1"/>
          <p:nvPr/>
        </p:nvSpPr>
        <p:spPr>
          <a:xfrm>
            <a:off x="9720072" y="28346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BookingCard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input() / output()</a:t>
            </a:r>
            <a:endParaRPr lang="en-US" sz="1100" dirty="0"/>
          </a:p>
        </p:txBody>
      </p:sp>
      <p:sp>
        <p:nvSpPr>
          <p:cNvPr id="24" name="txt-220"/>
          <p:cNvSpPr txBox="1"/>
          <p:nvPr/>
        </p:nvSpPr>
        <p:spPr>
          <a:xfrm>
            <a:off x="548640" y="4114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Daten fließen nach rechts, Ereignisse zurück:</a:t>
            </a:r>
            <a:endParaRPr lang="en-US" sz="1300" dirty="0"/>
          </a:p>
        </p:txBody>
      </p:sp>
      <p:sp>
        <p:nvSpPr>
          <p:cNvPr id="25" name="card-221"/>
          <p:cNvSpPr/>
          <p:nvPr/>
        </p:nvSpPr>
        <p:spPr>
          <a:xfrm>
            <a:off x="548640" y="4526280"/>
            <a:ext cx="7498080" cy="1417320"/>
          </a:xfrm>
          <a:prstGeom prst="roundRect">
            <a:avLst>
              <a:gd name="adj" fmla="val 5161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26" name="code-222"/>
          <p:cNvSpPr txBox="1"/>
          <p:nvPr/>
        </p:nvSpPr>
        <p:spPr>
          <a:xfrm>
            <a:off x="713232" y="4636008"/>
            <a:ext cx="716889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ui: nur Werte raus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 confirmed = output&lt;string&gt;();          // booking-card.ts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feature: macht aus dem Wert das Domain-Event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onConfirmed(id: string) { this.store.handle(bookingConfirmed(id)); }</a:t>
            </a:r>
            <a:endParaRPr lang="en-US" sz="1100" dirty="0"/>
          </a:p>
        </p:txBody>
      </p:sp>
      <p:sp>
        <p:nvSpPr>
          <p:cNvPr id="27" name="card-223"/>
          <p:cNvSpPr/>
          <p:nvPr/>
        </p:nvSpPr>
        <p:spPr>
          <a:xfrm>
            <a:off x="8321040" y="4114800"/>
            <a:ext cx="3322015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8" name="txt-224"/>
          <p:cNvSpPr txBox="1"/>
          <p:nvPr/>
        </p:nvSpPr>
        <p:spPr>
          <a:xfrm>
            <a:off x="850392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HTTP-Regel</a:t>
            </a:r>
            <a:endParaRPr lang="en-US" sz="1300" dirty="0"/>
          </a:p>
        </p:txBody>
      </p:sp>
      <p:sp>
        <p:nvSpPr>
          <p:cNvPr id="29" name="txt-225"/>
          <p:cNvSpPr txBox="1"/>
          <p:nvPr/>
        </p:nvSpPr>
        <p:spPr>
          <a:xfrm>
            <a:off x="8503920" y="4572000"/>
            <a:ext cx="29562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@angular/common/http ist überall außer data-access gebannt (bannedExternalImports). Generierte Clients (api/core) sind ebenfalls type:data-access.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Zustand: global, pro Slice oder pro Feat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Drei Orte, jeweils mit klarem Kreis von Nutzern. Mehr Varianten gibt es nicht.</a:t>
            </a:r>
            <a:endParaRPr lang="en-US" sz="1400" dirty="0"/>
          </a:p>
        </p:txBody>
      </p:sp>
      <p:sp>
        <p:nvSpPr>
          <p:cNvPr id="5" name="card-226"/>
          <p:cNvSpPr/>
          <p:nvPr/>
        </p:nvSpPr>
        <p:spPr>
          <a:xfrm>
            <a:off x="548640" y="1828800"/>
            <a:ext cx="3515258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chip-227"/>
          <p:cNvSpPr/>
          <p:nvPr/>
        </p:nvSpPr>
        <p:spPr>
          <a:xfrm>
            <a:off x="777240" y="2057400"/>
            <a:ext cx="69494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chip-t-228"/>
          <p:cNvSpPr txBox="1"/>
          <p:nvPr/>
        </p:nvSpPr>
        <p:spPr>
          <a:xfrm>
            <a:off x="777240" y="2057400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</a:t>
            </a:r>
            <a:endParaRPr lang="en-US" sz="1000" dirty="0"/>
          </a:p>
        </p:txBody>
      </p:sp>
      <p:sp>
        <p:nvSpPr>
          <p:cNvPr id="8" name="txt-229"/>
          <p:cNvSpPr txBox="1"/>
          <p:nvPr/>
        </p:nvSpPr>
        <p:spPr>
          <a:xfrm>
            <a:off x="777240" y="24688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shared/state</a:t>
            </a:r>
            <a:endParaRPr lang="en-US" sz="1800" dirty="0"/>
          </a:p>
        </p:txBody>
      </p:sp>
      <p:sp>
        <p:nvSpPr>
          <p:cNvPr id="9" name="txt-230"/>
          <p:cNvSpPr txBox="1"/>
          <p:nvPr/>
        </p:nvSpPr>
        <p:spPr>
          <a:xfrm>
            <a:off x="777240" y="297180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Beispiel</a:t>
            </a:r>
            <a:endParaRPr lang="en-US" sz="1000" dirty="0"/>
          </a:p>
        </p:txBody>
      </p:sp>
      <p:sp>
        <p:nvSpPr>
          <p:cNvPr id="10" name="txt-231"/>
          <p:cNvSpPr txBox="1"/>
          <p:nvPr/>
        </p:nvSpPr>
        <p:spPr>
          <a:xfrm>
            <a:off x="777240" y="3200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AuthStore</a:t>
            </a:r>
            <a:endParaRPr lang="en-US" sz="1200" dirty="0"/>
          </a:p>
        </p:txBody>
      </p:sp>
      <p:sp>
        <p:nvSpPr>
          <p:cNvPr id="11" name="txt-232"/>
          <p:cNvSpPr txBox="1"/>
          <p:nvPr/>
        </p:nvSpPr>
        <p:spPr>
          <a:xfrm>
            <a:off x="777240" y="36118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Wer darf</a:t>
            </a:r>
            <a:endParaRPr lang="en-US" sz="1000" dirty="0"/>
          </a:p>
        </p:txBody>
      </p:sp>
      <p:sp>
        <p:nvSpPr>
          <p:cNvPr id="12" name="txt-233"/>
          <p:cNvSpPr txBox="1"/>
          <p:nvPr/>
        </p:nvSpPr>
        <p:spPr>
          <a:xfrm>
            <a:off x="777240" y="384048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alle feature- und state-Libs aller Slices</a:t>
            </a:r>
            <a:endParaRPr lang="en-US" sz="1200" dirty="0"/>
          </a:p>
        </p:txBody>
      </p:sp>
      <p:sp>
        <p:nvSpPr>
          <p:cNvPr id="13" name="txt-234"/>
          <p:cNvSpPr txBox="1"/>
          <p:nvPr/>
        </p:nvSpPr>
        <p:spPr>
          <a:xfrm>
            <a:off x="777240" y="42976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Lebensdauer</a:t>
            </a:r>
            <a:endParaRPr lang="en-US" sz="1000" dirty="0"/>
          </a:p>
        </p:txBody>
      </p:sp>
      <p:sp>
        <p:nvSpPr>
          <p:cNvPr id="14" name="txt-235"/>
          <p:cNvSpPr txBox="1"/>
          <p:nvPr/>
        </p:nvSpPr>
        <p:spPr>
          <a:xfrm>
            <a:off x="777240" y="45262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providedIn: 'root', lebt für die ganze App</a:t>
            </a:r>
            <a:endParaRPr lang="en-US" sz="1200" dirty="0"/>
          </a:p>
        </p:txBody>
      </p:sp>
      <p:sp>
        <p:nvSpPr>
          <p:cNvPr id="15" name="card-236"/>
          <p:cNvSpPr/>
          <p:nvPr/>
        </p:nvSpPr>
        <p:spPr>
          <a:xfrm>
            <a:off x="4338218" y="1828800"/>
            <a:ext cx="3515258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chip-237"/>
          <p:cNvSpPr/>
          <p:nvPr/>
        </p:nvSpPr>
        <p:spPr>
          <a:xfrm>
            <a:off x="4566818" y="2057400"/>
            <a:ext cx="928116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chip-t-238"/>
          <p:cNvSpPr txBox="1"/>
          <p:nvPr/>
        </p:nvSpPr>
        <p:spPr>
          <a:xfrm>
            <a:off x="4566818" y="2057400"/>
            <a:ext cx="9281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 Slice</a:t>
            </a:r>
            <a:endParaRPr lang="en-US" sz="1000" dirty="0"/>
          </a:p>
        </p:txBody>
      </p:sp>
      <p:sp>
        <p:nvSpPr>
          <p:cNvPr id="18" name="txt-239"/>
          <p:cNvSpPr txBox="1"/>
          <p:nvPr/>
        </p:nvSpPr>
        <p:spPr>
          <a:xfrm>
            <a:off x="4566818" y="24688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&lt;slice&gt;/state</a:t>
            </a:r>
            <a:endParaRPr lang="en-US" sz="1800" dirty="0"/>
          </a:p>
        </p:txBody>
      </p:sp>
      <p:sp>
        <p:nvSpPr>
          <p:cNvPr id="19" name="txt-240"/>
          <p:cNvSpPr txBox="1"/>
          <p:nvPr/>
        </p:nvSpPr>
        <p:spPr>
          <a:xfrm>
            <a:off x="4566818" y="297180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Beispiel</a:t>
            </a:r>
            <a:endParaRPr lang="en-US" sz="1000" dirty="0"/>
          </a:p>
        </p:txBody>
      </p:sp>
      <p:sp>
        <p:nvSpPr>
          <p:cNvPr id="20" name="txt-241"/>
          <p:cNvSpPr txBox="1"/>
          <p:nvPr/>
        </p:nvSpPr>
        <p:spPr>
          <a:xfrm>
            <a:off x="4566818" y="3200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BookingStore, CheckinStore</a:t>
            </a:r>
            <a:endParaRPr lang="en-US" sz="1200" dirty="0"/>
          </a:p>
        </p:txBody>
      </p:sp>
      <p:sp>
        <p:nvSpPr>
          <p:cNvPr id="21" name="txt-242"/>
          <p:cNvSpPr txBox="1"/>
          <p:nvPr/>
        </p:nvSpPr>
        <p:spPr>
          <a:xfrm>
            <a:off x="4566818" y="36118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Wer darf</a:t>
            </a:r>
            <a:endParaRPr lang="en-US" sz="1000" dirty="0"/>
          </a:p>
        </p:txBody>
      </p:sp>
      <p:sp>
        <p:nvSpPr>
          <p:cNvPr id="22" name="txt-243"/>
          <p:cNvSpPr txBox="1"/>
          <p:nvPr/>
        </p:nvSpPr>
        <p:spPr>
          <a:xfrm>
            <a:off x="4566818" y="384048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Feats und Shell dieses Slices</a:t>
            </a:r>
            <a:endParaRPr lang="en-US" sz="1200" dirty="0"/>
          </a:p>
        </p:txBody>
      </p:sp>
      <p:sp>
        <p:nvSpPr>
          <p:cNvPr id="23" name="txt-244"/>
          <p:cNvSpPr txBox="1"/>
          <p:nvPr/>
        </p:nvSpPr>
        <p:spPr>
          <a:xfrm>
            <a:off x="4566818" y="42976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Lebensdauer</a:t>
            </a:r>
            <a:endParaRPr lang="en-US" sz="1000" dirty="0"/>
          </a:p>
        </p:txBody>
      </p:sp>
      <p:sp>
        <p:nvSpPr>
          <p:cNvPr id="24" name="txt-245"/>
          <p:cNvSpPr txBox="1"/>
          <p:nvPr/>
        </p:nvSpPr>
        <p:spPr>
          <a:xfrm>
            <a:off x="4566818" y="45262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lazy mit dem Slice; Route-Provider oder root</a:t>
            </a:r>
            <a:endParaRPr lang="en-US" sz="1200" dirty="0"/>
          </a:p>
        </p:txBody>
      </p:sp>
      <p:sp>
        <p:nvSpPr>
          <p:cNvPr id="25" name="card-246"/>
          <p:cNvSpPr/>
          <p:nvPr/>
        </p:nvSpPr>
        <p:spPr>
          <a:xfrm>
            <a:off x="8127797" y="1828800"/>
            <a:ext cx="3515258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6" name="chip-247"/>
          <p:cNvSpPr/>
          <p:nvPr/>
        </p:nvSpPr>
        <p:spPr>
          <a:xfrm>
            <a:off x="8356397" y="2057400"/>
            <a:ext cx="850392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7" name="chip-t-248"/>
          <p:cNvSpPr txBox="1"/>
          <p:nvPr/>
        </p:nvSpPr>
        <p:spPr>
          <a:xfrm>
            <a:off x="8356397" y="2057400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 Feat</a:t>
            </a:r>
            <a:endParaRPr lang="en-US" sz="1000" dirty="0"/>
          </a:p>
        </p:txBody>
      </p:sp>
      <p:sp>
        <p:nvSpPr>
          <p:cNvPr id="28" name="txt-249"/>
          <p:cNvSpPr txBox="1"/>
          <p:nvPr/>
        </p:nvSpPr>
        <p:spPr>
          <a:xfrm>
            <a:off x="8356397" y="24688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feat-x/state</a:t>
            </a:r>
            <a:endParaRPr lang="en-US" sz="1800" dirty="0"/>
          </a:p>
        </p:txBody>
      </p:sp>
      <p:sp>
        <p:nvSpPr>
          <p:cNvPr id="29" name="txt-250"/>
          <p:cNvSpPr txBox="1"/>
          <p:nvPr/>
        </p:nvSpPr>
        <p:spPr>
          <a:xfrm>
            <a:off x="8356397" y="297180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Beispiel</a:t>
            </a:r>
            <a:endParaRPr lang="en-US" sz="1000" dirty="0"/>
          </a:p>
        </p:txBody>
      </p:sp>
      <p:sp>
        <p:nvSpPr>
          <p:cNvPr id="30" name="txt-251"/>
          <p:cNvSpPr txBox="1"/>
          <p:nvPr/>
        </p:nvSpPr>
        <p:spPr>
          <a:xfrm>
            <a:off x="8356397" y="32004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CheckinDeskStore</a:t>
            </a:r>
            <a:endParaRPr lang="en-US" sz="1200" dirty="0"/>
          </a:p>
        </p:txBody>
      </p:sp>
      <p:sp>
        <p:nvSpPr>
          <p:cNvPr id="31" name="txt-252"/>
          <p:cNvSpPr txBox="1"/>
          <p:nvPr/>
        </p:nvSpPr>
        <p:spPr>
          <a:xfrm>
            <a:off x="8356397" y="36118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Wer darf</a:t>
            </a:r>
            <a:endParaRPr lang="en-US" sz="1000" dirty="0"/>
          </a:p>
        </p:txBody>
      </p:sp>
      <p:sp>
        <p:nvSpPr>
          <p:cNvPr id="32" name="txt-253"/>
          <p:cNvSpPr txBox="1"/>
          <p:nvPr/>
        </p:nvSpPr>
        <p:spPr>
          <a:xfrm>
            <a:off x="8356397" y="3840480"/>
            <a:ext cx="30580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nur feat-x</a:t>
            </a:r>
            <a:endParaRPr lang="en-US" sz="1200" dirty="0"/>
          </a:p>
        </p:txBody>
      </p:sp>
      <p:sp>
        <p:nvSpPr>
          <p:cNvPr id="33" name="txt-254"/>
          <p:cNvSpPr txBox="1"/>
          <p:nvPr/>
        </p:nvSpPr>
        <p:spPr>
          <a:xfrm>
            <a:off x="8356397" y="4297680"/>
            <a:ext cx="3058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Lebensdauer</a:t>
            </a:r>
            <a:endParaRPr lang="en-US" sz="1000" dirty="0"/>
          </a:p>
        </p:txBody>
      </p:sp>
      <p:sp>
        <p:nvSpPr>
          <p:cNvPr id="34" name="txt-255"/>
          <p:cNvSpPr txBox="1"/>
          <p:nvPr/>
        </p:nvSpPr>
        <p:spPr>
          <a:xfrm>
            <a:off x="8356397" y="452628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meist im Container (providers)</a:t>
            </a:r>
            <a:endParaRPr lang="en-US" sz="1200" dirty="0"/>
          </a:p>
        </p:txBody>
      </p:sp>
      <p:sp>
        <p:nvSpPr>
          <p:cNvPr id="35" name="txt-256"/>
          <p:cNvSpPr txBox="1"/>
          <p:nvPr/>
        </p:nvSpPr>
        <p:spPr>
          <a:xfrm>
            <a:off x="548640" y="51663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Querbezug zwischen Slices ohne Port: Event-Verträge in shared, das Backend bleibt Quelle der Wahrheit. Ein lazy Slice lädt seinen Stand beim Öffnen selbst und braucht verpasste Events nicht.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SCOPE-ISOLATION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Slices sind gegeneinander geschlossen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 Scope eine generierte Constraint: scope:&lt;s&gt; → eigener Scope + scope:shared. shared darf nur shared.</a:t>
            </a:r>
            <a:endParaRPr lang="en-US" sz="1400" dirty="0"/>
          </a:p>
        </p:txBody>
      </p:sp>
      <p:sp>
        <p:nvSpPr>
          <p:cNvPr id="5" name="app-257"/>
          <p:cNvSpPr/>
          <p:nvPr/>
        </p:nvSpPr>
        <p:spPr>
          <a:xfrm>
            <a:off x="4754880" y="1828800"/>
            <a:ext cx="2651760" cy="4572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6" name="txt-258"/>
          <p:cNvSpPr txBox="1"/>
          <p:nvPr/>
        </p:nvSpPr>
        <p:spPr>
          <a:xfrm>
            <a:off x="4754880" y="19385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 · type:app</a:t>
            </a:r>
            <a:endParaRPr lang="en-US" sz="1200" dirty="0"/>
          </a:p>
        </p:txBody>
      </p:sp>
      <p:sp>
        <p:nvSpPr>
          <p:cNvPr id="7" name="card-259"/>
          <p:cNvSpPr/>
          <p:nvPr/>
        </p:nvSpPr>
        <p:spPr>
          <a:xfrm>
            <a:off x="548640" y="2926080"/>
            <a:ext cx="38404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8" name="txt-260"/>
          <p:cNvSpPr txBox="1"/>
          <p:nvPr/>
        </p:nvSpPr>
        <p:spPr>
          <a:xfrm>
            <a:off x="731520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200" dirty="0"/>
          </a:p>
        </p:txBody>
      </p:sp>
      <p:sp>
        <p:nvSpPr>
          <p:cNvPr id="9" name="part-261"/>
          <p:cNvSpPr/>
          <p:nvPr/>
        </p:nvSpPr>
        <p:spPr>
          <a:xfrm>
            <a:off x="731520" y="338328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10" name="txt-262"/>
          <p:cNvSpPr txBox="1"/>
          <p:nvPr/>
        </p:nvSpPr>
        <p:spPr>
          <a:xfrm>
            <a:off x="73152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 · entry</a:t>
            </a:r>
            <a:endParaRPr lang="en-US" sz="1100" dirty="0"/>
          </a:p>
        </p:txBody>
      </p:sp>
      <p:sp>
        <p:nvSpPr>
          <p:cNvPr id="11" name="part-263"/>
          <p:cNvSpPr/>
          <p:nvPr/>
        </p:nvSpPr>
        <p:spPr>
          <a:xfrm>
            <a:off x="731520" y="388620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2" name="txt-264"/>
          <p:cNvSpPr txBox="1"/>
          <p:nvPr/>
        </p:nvSpPr>
        <p:spPr>
          <a:xfrm>
            <a:off x="731520" y="3977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data-access · state · ui</a:t>
            </a:r>
            <a:endParaRPr lang="en-US" sz="1100" dirty="0"/>
          </a:p>
        </p:txBody>
      </p:sp>
      <p:sp>
        <p:nvSpPr>
          <p:cNvPr id="13" name="part-265"/>
          <p:cNvSpPr/>
          <p:nvPr/>
        </p:nvSpPr>
        <p:spPr>
          <a:xfrm>
            <a:off x="731520" y="438912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4" name="txt-266"/>
          <p:cNvSpPr txBox="1"/>
          <p:nvPr/>
        </p:nvSpPr>
        <p:spPr>
          <a:xfrm>
            <a:off x="731520" y="4480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</a:t>
            </a:r>
            <a:endParaRPr lang="en-US" sz="1100" dirty="0"/>
          </a:p>
        </p:txBody>
      </p:sp>
      <p:sp>
        <p:nvSpPr>
          <p:cNvPr id="15" name="card-267"/>
          <p:cNvSpPr/>
          <p:nvPr/>
        </p:nvSpPr>
        <p:spPr>
          <a:xfrm>
            <a:off x="7802575" y="2926080"/>
            <a:ext cx="384048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xt-268"/>
          <p:cNvSpPr txBox="1"/>
          <p:nvPr/>
        </p:nvSpPr>
        <p:spPr>
          <a:xfrm>
            <a:off x="7985455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200" dirty="0"/>
          </a:p>
        </p:txBody>
      </p:sp>
      <p:sp>
        <p:nvSpPr>
          <p:cNvPr id="17" name="part-269"/>
          <p:cNvSpPr/>
          <p:nvPr/>
        </p:nvSpPr>
        <p:spPr>
          <a:xfrm>
            <a:off x="7985455" y="338328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18" name="txt-270"/>
          <p:cNvSpPr txBox="1"/>
          <p:nvPr/>
        </p:nvSpPr>
        <p:spPr>
          <a:xfrm>
            <a:off x="7985455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 · entry</a:t>
            </a:r>
            <a:endParaRPr lang="en-US" sz="1100" dirty="0"/>
          </a:p>
        </p:txBody>
      </p:sp>
      <p:sp>
        <p:nvSpPr>
          <p:cNvPr id="19" name="part-271"/>
          <p:cNvSpPr/>
          <p:nvPr/>
        </p:nvSpPr>
        <p:spPr>
          <a:xfrm>
            <a:off x="7985455" y="388620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0" name="txt-272"/>
          <p:cNvSpPr txBox="1"/>
          <p:nvPr/>
        </p:nvSpPr>
        <p:spPr>
          <a:xfrm>
            <a:off x="7985455" y="3977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data-access · state · ui</a:t>
            </a:r>
            <a:endParaRPr lang="en-US" sz="1100" dirty="0"/>
          </a:p>
        </p:txBody>
      </p:sp>
      <p:sp>
        <p:nvSpPr>
          <p:cNvPr id="21" name="part-273"/>
          <p:cNvSpPr/>
          <p:nvPr/>
        </p:nvSpPr>
        <p:spPr>
          <a:xfrm>
            <a:off x="7985455" y="4389120"/>
            <a:ext cx="3474720" cy="384048"/>
          </a:xfrm>
          <a:prstGeom prst="roundRect">
            <a:avLst>
              <a:gd name="adj" fmla="val 119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2" name="txt-274"/>
          <p:cNvSpPr txBox="1"/>
          <p:nvPr/>
        </p:nvSpPr>
        <p:spPr>
          <a:xfrm>
            <a:off x="7985455" y="4480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</a:t>
            </a:r>
            <a:endParaRPr lang="en-US" sz="1100" dirty="0"/>
          </a:p>
        </p:txBody>
      </p:sp>
      <p:sp>
        <p:nvSpPr>
          <p:cNvPr id="23" name="card-275"/>
          <p:cNvSpPr/>
          <p:nvPr/>
        </p:nvSpPr>
        <p:spPr>
          <a:xfrm>
            <a:off x="4023360" y="5486400"/>
            <a:ext cx="411480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4" name="txt-276"/>
          <p:cNvSpPr txBox="1"/>
          <p:nvPr/>
        </p:nvSpPr>
        <p:spPr>
          <a:xfrm>
            <a:off x="4023360" y="5623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 · types utils data-access state ui</a:t>
            </a:r>
            <a:endParaRPr lang="en-US" sz="1100" dirty="0"/>
          </a:p>
        </p:txBody>
      </p:sp>
      <p:sp>
        <p:nvSpPr>
          <p:cNvPr id="25" name="arrow-277"/>
          <p:cNvSpPr/>
          <p:nvPr/>
        </p:nvSpPr>
        <p:spPr>
          <a:xfrm flipH="1">
            <a:off x="2926080" y="2286000"/>
            <a:ext cx="2194560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arrow-278"/>
          <p:cNvSpPr/>
          <p:nvPr/>
        </p:nvSpPr>
        <p:spPr>
          <a:xfrm>
            <a:off x="7040880" y="2286000"/>
            <a:ext cx="2651760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arrow-279"/>
          <p:cNvSpPr/>
          <p:nvPr/>
        </p:nvSpPr>
        <p:spPr>
          <a:xfrm flipH="1">
            <a:off x="4389120" y="4114800"/>
            <a:ext cx="3413455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28" name="x-280"/>
          <p:cNvSpPr/>
          <p:nvPr/>
        </p:nvSpPr>
        <p:spPr>
          <a:xfrm>
            <a:off x="5976976" y="3995928"/>
            <a:ext cx="237744" cy="23774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9" name="x-t-281"/>
          <p:cNvSpPr txBox="1"/>
          <p:nvPr/>
        </p:nvSpPr>
        <p:spPr>
          <a:xfrm>
            <a:off x="5976976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✕</a:t>
            </a:r>
            <a:endParaRPr lang="en-US" sz="1000" dirty="0"/>
          </a:p>
        </p:txBody>
      </p:sp>
      <p:sp>
        <p:nvSpPr>
          <p:cNvPr id="30" name="arrow-282"/>
          <p:cNvSpPr/>
          <p:nvPr/>
        </p:nvSpPr>
        <p:spPr>
          <a:xfrm>
            <a:off x="2468880" y="5029200"/>
            <a:ext cx="1920240" cy="4572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rrow-283"/>
          <p:cNvSpPr/>
          <p:nvPr/>
        </p:nvSpPr>
        <p:spPr>
          <a:xfrm flipH="1">
            <a:off x="7772400" y="5029200"/>
            <a:ext cx="1950415" cy="4572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txt-284"/>
          <p:cNvSpPr txBox="1"/>
          <p:nvPr/>
        </p:nvSpPr>
        <p:spPr>
          <a:xfrm>
            <a:off x="54864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App: nur entry (lazy) + shared</a:t>
            </a:r>
            <a:endParaRPr lang="en-US" sz="1100" dirty="0"/>
          </a:p>
        </p:txBody>
      </p:sp>
      <p:sp>
        <p:nvSpPr>
          <p:cNvPr id="33" name="txt-285"/>
          <p:cNvSpPr txBox="1"/>
          <p:nvPr/>
        </p:nvSpPr>
        <p:spPr>
          <a:xfrm>
            <a:off x="4023360" y="5074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alle → shared ✓ (auch die App)</a:t>
            </a:r>
            <a:endParaRPr lang="en-US" sz="1100" dirty="0"/>
          </a:p>
        </p:txBody>
      </p:sp>
      <p:sp>
        <p:nvSpPr>
          <p:cNvPr id="34" name="txt-286"/>
          <p:cNvSpPr txBox="1"/>
          <p:nvPr/>
        </p:nvSpPr>
        <p:spPr>
          <a:xfrm>
            <a:off x="4114800" y="3657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checkin → booking: blockiert, auch für Specs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FEATURE-ISOLATION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Geschwister-Feats teilen nur über den Slice-Root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Constraint pro Feat: feat:&lt;f&gt; → eigenes Feat + feat:none. Einen feat-port gibt es nicht mehr.</a:t>
            </a:r>
            <a:endParaRPr lang="en-US" sz="1400" dirty="0"/>
          </a:p>
        </p:txBody>
      </p:sp>
      <p:sp>
        <p:nvSpPr>
          <p:cNvPr id="5" name="card-287"/>
          <p:cNvSpPr/>
          <p:nvPr/>
        </p:nvSpPr>
        <p:spPr>
          <a:xfrm>
            <a:off x="548640" y="1828800"/>
            <a:ext cx="6949440" cy="4023360"/>
          </a:xfrm>
          <a:prstGeom prst="roundRect">
            <a:avLst>
              <a:gd name="adj" fmla="val 181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txt-288"/>
          <p:cNvSpPr txBox="1"/>
          <p:nvPr/>
        </p:nvSpPr>
        <p:spPr>
          <a:xfrm>
            <a:off x="7315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  ·  scope:checkin</a:t>
            </a:r>
            <a:endParaRPr lang="en-US" sz="1200" dirty="0"/>
          </a:p>
        </p:txBody>
      </p:sp>
      <p:sp>
        <p:nvSpPr>
          <p:cNvPr id="7" name="feat-289"/>
          <p:cNvSpPr/>
          <p:nvPr/>
        </p:nvSpPr>
        <p:spPr>
          <a:xfrm>
            <a:off x="731520" y="2377440"/>
            <a:ext cx="3108960" cy="173736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dash"/>
          </a:ln>
        </p:spPr>
        <p:txBody>
          <a:bodyPr/>
          <a:p/>
        </p:txBody>
      </p:sp>
      <p:sp>
        <p:nvSpPr>
          <p:cNvPr id="8" name="txt-290"/>
          <p:cNvSpPr txBox="1"/>
          <p:nvPr/>
        </p:nvSpPr>
        <p:spPr>
          <a:xfrm>
            <a:off x="86868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feat-checkin/ · feat:checkin</a:t>
            </a:r>
            <a:endParaRPr lang="en-US" sz="1100" dirty="0"/>
          </a:p>
        </p:txBody>
      </p:sp>
      <p:sp>
        <p:nvSpPr>
          <p:cNvPr id="9" name="txt-291"/>
          <p:cNvSpPr txBox="1"/>
          <p:nvPr/>
        </p:nvSpPr>
        <p:spPr>
          <a:xfrm>
            <a:off x="868680" y="2834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 FeatCheckin</a:t>
            </a:r>
            <a:endParaRPr lang="en-US" sz="1100" dirty="0"/>
          </a:p>
        </p:txBody>
      </p:sp>
      <p:sp>
        <p:nvSpPr>
          <p:cNvPr id="10" name="txt-292"/>
          <p:cNvSpPr txBox="1"/>
          <p:nvPr/>
        </p:nvSpPr>
        <p:spPr>
          <a:xfrm>
            <a:off x="868680" y="3200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   CheckinDeskStore</a:t>
            </a:r>
            <a:endParaRPr lang="en-US" sz="1100" dirty="0"/>
          </a:p>
        </p:txBody>
      </p:sp>
      <p:sp>
        <p:nvSpPr>
          <p:cNvPr id="11" name="feat-293"/>
          <p:cNvSpPr/>
          <p:nvPr/>
        </p:nvSpPr>
        <p:spPr>
          <a:xfrm>
            <a:off x="4206240" y="2377440"/>
            <a:ext cx="3108960" cy="1737360"/>
          </a:xfrm>
          <a:prstGeom prst="roundRect">
            <a:avLst>
              <a:gd name="adj" fmla="val 3158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dash"/>
          </a:ln>
        </p:spPr>
        <p:txBody>
          <a:bodyPr/>
          <a:p/>
        </p:txBody>
      </p:sp>
      <p:sp>
        <p:nvSpPr>
          <p:cNvPr id="12" name="txt-294"/>
          <p:cNvSpPr txBox="1"/>
          <p:nvPr/>
        </p:nvSpPr>
        <p:spPr>
          <a:xfrm>
            <a:off x="434340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feat-history/ · feat:history</a:t>
            </a:r>
            <a:endParaRPr lang="en-US" sz="1100" dirty="0"/>
          </a:p>
        </p:txBody>
      </p:sp>
      <p:sp>
        <p:nvSpPr>
          <p:cNvPr id="13" name="txt-295"/>
          <p:cNvSpPr txBox="1"/>
          <p:nvPr/>
        </p:nvSpPr>
        <p:spPr>
          <a:xfrm>
            <a:off x="4343400" y="2834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 FeatHistory</a:t>
            </a:r>
            <a:endParaRPr lang="en-US" sz="1100" dirty="0"/>
          </a:p>
        </p:txBody>
      </p:sp>
      <p:sp>
        <p:nvSpPr>
          <p:cNvPr id="14" name="root-296"/>
          <p:cNvSpPr/>
          <p:nvPr/>
        </p:nvSpPr>
        <p:spPr>
          <a:xfrm>
            <a:off x="731520" y="4754880"/>
            <a:ext cx="6583680" cy="86868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xt-297"/>
          <p:cNvSpPr txBox="1"/>
          <p:nvPr/>
        </p:nvSpPr>
        <p:spPr>
          <a:xfrm>
            <a:off x="868680" y="4846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Slice-Root · feat:none</a:t>
            </a:r>
            <a:endParaRPr lang="en-US" sz="1100" dirty="0"/>
          </a:p>
        </p:txBody>
      </p:sp>
      <p:sp>
        <p:nvSpPr>
          <p:cNvPr id="16" name="txt-298"/>
          <p:cNvSpPr txBox="1"/>
          <p:nvPr/>
        </p:nvSpPr>
        <p:spPr>
          <a:xfrm>
            <a:off x="868680" y="5166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checkin/utils (describeDesk) · checkin/state (CheckinStore) · types · ui</a:t>
            </a:r>
            <a:endParaRPr lang="en-US" sz="1100" dirty="0"/>
          </a:p>
        </p:txBody>
      </p:sp>
      <p:sp>
        <p:nvSpPr>
          <p:cNvPr id="17" name="arrow-299"/>
          <p:cNvSpPr/>
          <p:nvPr/>
        </p:nvSpPr>
        <p:spPr>
          <a:xfrm flipH="1">
            <a:off x="3840480" y="3200400"/>
            <a:ext cx="365760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18" name="x-300"/>
          <p:cNvSpPr/>
          <p:nvPr/>
        </p:nvSpPr>
        <p:spPr>
          <a:xfrm>
            <a:off x="3904488" y="3081528"/>
            <a:ext cx="237744" cy="23774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9" name="x-t-301"/>
          <p:cNvSpPr txBox="1"/>
          <p:nvPr/>
        </p:nvSpPr>
        <p:spPr>
          <a:xfrm>
            <a:off x="3904488" y="3081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✕</a:t>
            </a:r>
            <a:endParaRPr lang="en-US" sz="1000" dirty="0"/>
          </a:p>
        </p:txBody>
      </p:sp>
      <p:sp>
        <p:nvSpPr>
          <p:cNvPr id="20" name="arrow-302"/>
          <p:cNvSpPr/>
          <p:nvPr/>
        </p:nvSpPr>
        <p:spPr>
          <a:xfrm>
            <a:off x="5760720" y="4114800"/>
            <a:ext cx="914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arrow-303"/>
          <p:cNvSpPr/>
          <p:nvPr/>
        </p:nvSpPr>
        <p:spPr>
          <a:xfrm>
            <a:off x="2286000" y="4114800"/>
            <a:ext cx="914" cy="64008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card-304"/>
          <p:cNvSpPr/>
          <p:nvPr/>
        </p:nvSpPr>
        <p:spPr>
          <a:xfrm>
            <a:off x="7772400" y="1828800"/>
            <a:ext cx="3870655" cy="4023360"/>
          </a:xfrm>
          <a:prstGeom prst="roundRect">
            <a:avLst>
              <a:gd name="adj" fmla="val 189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3" name="txt-305"/>
          <p:cNvSpPr txBox="1"/>
          <p:nvPr/>
        </p:nvSpPr>
        <p:spPr>
          <a:xfrm>
            <a:off x="7955280" y="2011680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Was geteilt werden muss, wandert in den Slice-Root: utils, types, state oder ui.</a:t>
            </a:r>
            <a:endParaRPr lang="en-US" sz="1200" dirty="0"/>
          </a:p>
        </p:txBody>
      </p:sp>
      <p:sp>
        <p:nvSpPr>
          <p:cNvPr id="24" name="txt-306"/>
          <p:cNvSpPr txBox="1"/>
          <p:nvPr/>
        </p:nvSpPr>
        <p:spPr>
          <a:xfrm>
            <a:off x="79552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✓</a:t>
            </a:r>
            <a:endParaRPr lang="en-US" sz="1400" dirty="0"/>
          </a:p>
        </p:txBody>
      </p:sp>
      <p:sp>
        <p:nvSpPr>
          <p:cNvPr id="25" name="txt-307"/>
          <p:cNvSpPr txBox="1"/>
          <p:nvPr/>
        </p:nvSpPr>
        <p:spPr>
          <a:xfrm>
            <a:off x="8275320" y="294436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 → checkin/utils, checkin/state</a:t>
            </a:r>
            <a:endParaRPr lang="en-US" sz="1100" dirty="0"/>
          </a:p>
        </p:txBody>
      </p:sp>
      <p:sp>
        <p:nvSpPr>
          <p:cNvPr id="26" name="txt-308"/>
          <p:cNvSpPr txBox="1"/>
          <p:nvPr/>
        </p:nvSpPr>
        <p:spPr>
          <a:xfrm>
            <a:off x="7955280" y="3474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✓</a:t>
            </a:r>
            <a:endParaRPr lang="en-US" sz="1400" dirty="0"/>
          </a:p>
        </p:txBody>
      </p:sp>
      <p:sp>
        <p:nvSpPr>
          <p:cNvPr id="27" name="txt-309"/>
          <p:cNvSpPr txBox="1"/>
          <p:nvPr/>
        </p:nvSpPr>
        <p:spPr>
          <a:xfrm>
            <a:off x="8275320" y="349300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feat-checkin → eigene state-Lib</a:t>
            </a:r>
            <a:endParaRPr lang="en-US" sz="1100" dirty="0"/>
          </a:p>
        </p:txBody>
      </p:sp>
      <p:sp>
        <p:nvSpPr>
          <p:cNvPr id="28" name="txt-310"/>
          <p:cNvSpPr txBox="1"/>
          <p:nvPr/>
        </p:nvSpPr>
        <p:spPr>
          <a:xfrm>
            <a:off x="795528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✕</a:t>
            </a:r>
            <a:endParaRPr lang="en-US" sz="1400" dirty="0"/>
          </a:p>
        </p:txBody>
      </p:sp>
      <p:sp>
        <p:nvSpPr>
          <p:cNvPr id="29" name="txt-311"/>
          <p:cNvSpPr txBox="1"/>
          <p:nvPr/>
        </p:nvSpPr>
        <p:spPr>
          <a:xfrm>
            <a:off x="8275320" y="404164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 → feat-checkin/state</a:t>
            </a:r>
            <a:endParaRPr lang="en-US" sz="1100" dirty="0"/>
          </a:p>
        </p:txBody>
      </p:sp>
      <p:sp>
        <p:nvSpPr>
          <p:cNvPr id="30" name="txt-312"/>
          <p:cNvSpPr txBox="1"/>
          <p:nvPr/>
        </p:nvSpPr>
        <p:spPr>
          <a:xfrm>
            <a:off x="7955280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✕</a:t>
            </a:r>
            <a:endParaRPr lang="en-US" sz="1400" dirty="0"/>
          </a:p>
        </p:txBody>
      </p:sp>
      <p:sp>
        <p:nvSpPr>
          <p:cNvPr id="31" name="txt-313"/>
          <p:cNvSpPr txBox="1"/>
          <p:nvPr/>
        </p:nvSpPr>
        <p:spPr>
          <a:xfrm>
            <a:off x="8275320" y="4590288"/>
            <a:ext cx="3184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booking-Feat → checkin-Feat (Scope)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NPM-REGELN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npm-Pakete pro Layer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bannedExternalImports in den depConstraints von eslint.config.mjs.</a:t>
            </a:r>
            <a:endParaRPr lang="en-US" sz="1400" dirty="0"/>
          </a:p>
        </p:txBody>
      </p:sp>
      <p:graphicFrame>
        <p:nvGraphicFramePr>
          <p:cNvPr id="12" name="npm-3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19202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Layer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übrige npm-Pakete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@angular/common/http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Test-Pakete</a:t>
                      </a:r>
                      <a:endParaRPr lang="en-US" sz="10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data-access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ui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feature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testing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✓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✕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6" name="card-315"/>
          <p:cNvSpPr/>
          <p:nvPr/>
        </p:nvSpPr>
        <p:spPr>
          <a:xfrm>
            <a:off x="7680960" y="1828800"/>
            <a:ext cx="3962095" cy="3703320"/>
          </a:xfrm>
          <a:prstGeom prst="roundRect">
            <a:avLst>
              <a:gd name="adj" fmla="val 197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316"/>
          <p:cNvSpPr txBox="1"/>
          <p:nvPr/>
        </p:nvSpPr>
        <p:spPr>
          <a:xfrm>
            <a:off x="786384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Test-Pakete</a:t>
            </a:r>
            <a:endParaRPr lang="en-US" sz="1300" dirty="0"/>
          </a:p>
        </p:txBody>
      </p:sp>
      <p:sp>
        <p:nvSpPr>
          <p:cNvPr id="8" name="txt-317"/>
          <p:cNvSpPr txBox="1"/>
          <p:nvPr/>
        </p:nvSpPr>
        <p:spPr>
          <a:xfrm>
            <a:off x="7863840" y="2331720"/>
            <a:ext cx="35963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msw, vitest, @vitest/*, @testing-library/*, playwright, @faker-js/*, openapi-msw</a:t>
            </a:r>
            <a:endParaRPr lang="en-US" sz="1100" dirty="0"/>
          </a:p>
        </p:txBody>
      </p:sp>
      <p:sp>
        <p:nvSpPr>
          <p:cNvPr id="9" name="txt-318"/>
          <p:cNvSpPr txBox="1"/>
          <p:nvPr/>
        </p:nvSpPr>
        <p:spPr>
          <a:xfrm>
            <a:off x="786384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Was Nx zusätzlich prüft</a:t>
            </a:r>
            <a:endParaRPr lang="en-US" sz="1300" dirty="0"/>
          </a:p>
        </p:txBody>
      </p:sp>
      <p:sp>
        <p:nvSpPr>
          <p:cNvPr id="10" name="txt-319"/>
          <p:cNvSpPr txBox="1"/>
          <p:nvPr/>
        </p:nvSpPr>
        <p:spPr>
          <a:xfrm>
            <a:off x="7863840" y="361188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Zyklen zwischen Libs</a:t>
            </a:r>
            <a:endParaRPr lang="en-US" sz="1100" dirty="0"/>
          </a:p>
        </p:txBody>
      </p:sp>
      <p:sp>
        <p:nvSpPr>
          <p:cNvPr id="11" name="txt-320"/>
          <p:cNvSpPr txBox="1"/>
          <p:nvPr/>
        </p:nvSpPr>
        <p:spPr>
          <a:xfrm>
            <a:off x="7863840" y="397764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statischer Import einer lazy geladenen Lib</a:t>
            </a:r>
            <a:endParaRPr lang="en-US" sz="1100" dirty="0"/>
          </a:p>
        </p:txBody>
      </p:sp>
      <p:sp>
        <p:nvSpPr>
          <p:cNvPr id="12" name="txt-321"/>
          <p:cNvSpPr txBox="1"/>
          <p:nvPr/>
        </p:nvSpPr>
        <p:spPr>
          <a:xfrm>
            <a:off x="7863840" y="434340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relative Imports über Lib-Grenzen</a:t>
            </a:r>
            <a:endParaRPr lang="en-US" sz="1100" dirty="0"/>
          </a:p>
        </p:txBody>
      </p:sp>
      <p:sp>
        <p:nvSpPr>
          <p:cNvPr id="13" name="txt-322"/>
          <p:cNvSpPr txBox="1"/>
          <p:nvPr/>
        </p:nvSpPr>
        <p:spPr>
          <a:xfrm>
            <a:off x="7863840" y="470916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Deep-Imports an index.ts vorbei (no-restricted-imports)</a:t>
            </a:r>
            <a:endParaRPr lang="en-US" sz="1100" dirty="0"/>
          </a:p>
        </p:txBody>
      </p:sp>
      <p:sp>
        <p:nvSpPr>
          <p:cNvPr id="14" name="txt-323"/>
          <p:cNvSpPr txBox="1"/>
          <p:nvPr/>
        </p:nvSpPr>
        <p:spPr>
          <a:xfrm>
            <a:off x="7863840" y="507492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✕  Libs ohne Tags dürfen nichts importieren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TESTING-LIBS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Testcode kommt nie in Produktion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Testing-Libs tragen type:testing und haben kein build-Target. Nur Specs dürfen sie importieren.</a:t>
            </a:r>
            <a:endParaRPr lang="en-US" sz="1400" dirty="0"/>
          </a:p>
        </p:txBody>
      </p:sp>
      <p:sp>
        <p:nvSpPr>
          <p:cNvPr id="5" name="card-324"/>
          <p:cNvSpPr/>
          <p:nvPr/>
        </p:nvSpPr>
        <p:spPr>
          <a:xfrm>
            <a:off x="548640" y="18288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6" name="txt-325"/>
          <p:cNvSpPr txBox="1"/>
          <p:nvPr/>
        </p:nvSpPr>
        <p:spPr>
          <a:xfrm>
            <a:off x="731520" y="1965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</a:t>
            </a:r>
            <a:endParaRPr lang="en-US" sz="1500" dirty="0"/>
          </a:p>
        </p:txBody>
      </p:sp>
      <p:sp>
        <p:nvSpPr>
          <p:cNvPr id="7" name="txt-326"/>
          <p:cNvSpPr txBox="1"/>
          <p:nvPr/>
        </p:nvSpPr>
        <p:spPr>
          <a:xfrm>
            <a:off x="1097280" y="19385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Specs (*.spec.ts) importieren das testing ihres eigenen Slices und shared/testing</a:t>
            </a:r>
            <a:endParaRPr lang="en-US" sz="1200" dirty="0"/>
          </a:p>
        </p:txBody>
      </p:sp>
      <p:sp>
        <p:nvSpPr>
          <p:cNvPr id="8" name="card-327"/>
          <p:cNvSpPr/>
          <p:nvPr/>
        </p:nvSpPr>
        <p:spPr>
          <a:xfrm>
            <a:off x="548640" y="25146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9" name="txt-328"/>
          <p:cNvSpPr txBox="1"/>
          <p:nvPr/>
        </p:nvSpPr>
        <p:spPr>
          <a:xfrm>
            <a:off x="73152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✕</a:t>
            </a:r>
            <a:endParaRPr lang="en-US" sz="1500" dirty="0"/>
          </a:p>
        </p:txBody>
      </p:sp>
      <p:sp>
        <p:nvSpPr>
          <p:cNvPr id="10" name="txt-329"/>
          <p:cNvSpPr txBox="1"/>
          <p:nvPr/>
        </p:nvSpPr>
        <p:spPr>
          <a:xfrm>
            <a:off x="1097280" y="26243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Specs importieren das testing eines fremden Slices (Scope-Regel gilt auch in Specs)</a:t>
            </a:r>
            <a:endParaRPr lang="en-US" sz="1200" dirty="0"/>
          </a:p>
        </p:txBody>
      </p:sp>
      <p:sp>
        <p:nvSpPr>
          <p:cNvPr id="11" name="card-330"/>
          <p:cNvSpPr/>
          <p:nvPr/>
        </p:nvSpPr>
        <p:spPr>
          <a:xfrm>
            <a:off x="548640" y="32004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2" name="txt-331"/>
          <p:cNvSpPr txBox="1"/>
          <p:nvPr/>
        </p:nvSpPr>
        <p:spPr>
          <a:xfrm>
            <a:off x="73152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✕</a:t>
            </a:r>
            <a:endParaRPr lang="en-US" sz="1500" dirty="0"/>
          </a:p>
        </p:txBody>
      </p:sp>
      <p:sp>
        <p:nvSpPr>
          <p:cNvPr id="13" name="txt-332"/>
          <p:cNvSpPr txBox="1"/>
          <p:nvPr/>
        </p:nvSpPr>
        <p:spPr>
          <a:xfrm>
            <a:off x="1097280" y="33101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Produktionscode → Testing-Lib (Tag-Regel und fehlendes build)</a:t>
            </a:r>
            <a:endParaRPr lang="en-US" sz="1200" dirty="0"/>
          </a:p>
        </p:txBody>
      </p:sp>
      <p:sp>
        <p:nvSpPr>
          <p:cNvPr id="14" name="card-333"/>
          <p:cNvSpPr/>
          <p:nvPr/>
        </p:nvSpPr>
        <p:spPr>
          <a:xfrm>
            <a:off x="548640" y="38862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5" name="txt-334"/>
          <p:cNvSpPr txBox="1"/>
          <p:nvPr/>
        </p:nvSpPr>
        <p:spPr>
          <a:xfrm>
            <a:off x="731520" y="4023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</a:t>
            </a:r>
            <a:endParaRPr lang="en-US" sz="1500" dirty="0"/>
          </a:p>
        </p:txBody>
      </p:sp>
      <p:sp>
        <p:nvSpPr>
          <p:cNvPr id="16" name="txt-335"/>
          <p:cNvSpPr txBox="1"/>
          <p:nvPr/>
        </p:nvSpPr>
        <p:spPr>
          <a:xfrm>
            <a:off x="1097280" y="39959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Testing-Libs importieren nur types, testing und shared</a:t>
            </a:r>
            <a:endParaRPr lang="en-US" sz="1200" dirty="0"/>
          </a:p>
        </p:txBody>
      </p:sp>
      <p:sp>
        <p:nvSpPr>
          <p:cNvPr id="17" name="card-336"/>
          <p:cNvSpPr/>
          <p:nvPr/>
        </p:nvSpPr>
        <p:spPr>
          <a:xfrm>
            <a:off x="548640" y="4572000"/>
            <a:ext cx="603504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8" name="txt-337"/>
          <p:cNvSpPr txBox="1"/>
          <p:nvPr/>
        </p:nvSpPr>
        <p:spPr>
          <a:xfrm>
            <a:off x="731520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✕</a:t>
            </a:r>
            <a:endParaRPr lang="en-US" sz="1500" dirty="0"/>
          </a:p>
        </p:txBody>
      </p:sp>
      <p:sp>
        <p:nvSpPr>
          <p:cNvPr id="19" name="txt-338"/>
          <p:cNvSpPr txBox="1"/>
          <p:nvPr/>
        </p:nvSpPr>
        <p:spPr>
          <a:xfrm>
            <a:off x="1097280" y="468172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msw, vitest oder faker im App-Bundle: verify durchsucht den Build</a:t>
            </a:r>
            <a:endParaRPr lang="en-US" sz="1200" dirty="0"/>
          </a:p>
        </p:txBody>
      </p:sp>
      <p:sp>
        <p:nvSpPr>
          <p:cNvPr id="20" name="card-339"/>
          <p:cNvSpPr/>
          <p:nvPr/>
        </p:nvSpPr>
        <p:spPr>
          <a:xfrm>
            <a:off x="6858000" y="1828800"/>
            <a:ext cx="4785055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21" name="code-340"/>
          <p:cNvSpPr txBox="1"/>
          <p:nvPr/>
        </p:nvSpPr>
        <p:spPr>
          <a:xfrm>
            <a:off x="7022592" y="1938528"/>
            <a:ext cx="4455871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libs/booking/state/src/booking.store.spec.ts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bookingHandlers } from '@mo-transfer/booking/testing';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test, worker } from '@mo-transfer/shared/testing';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beforeEach(() =&gt; worker.use(...bookingHandlers));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test('loads bookings', async () =&gt; {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store = TestBed.inject(BookingStore);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store.load();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expect(store.all()).toEqual(defaultBookings);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00" dirty="0"/>
          </a:p>
        </p:txBody>
      </p:sp>
      <p:sp>
        <p:nvSpPr>
          <p:cNvPr id="22" name="txt-341"/>
          <p:cNvSpPr txBox="1"/>
          <p:nvPr/>
        </p:nvSpPr>
        <p:spPr>
          <a:xfrm>
            <a:off x="6858000" y="5257800"/>
            <a:ext cx="4785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Vitest im Browser Mode (Chromium), HTTP über MSW. Fehlt ein Handler, wird der Test rot.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GENERIERTE OPENAPI-CLIENTS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Ein Client, vier Libs, Zugriff über data-access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Der Generator steckt hinter einer Facade in packages/tooling/openapi. Generierter Code wird nicht committet.</a:t>
            </a:r>
            <a:endParaRPr lang="en-US" sz="1400" dirty="0"/>
          </a:p>
        </p:txBody>
      </p:sp>
      <p:sp>
        <p:nvSpPr>
          <p:cNvPr id="5" name="card-342"/>
          <p:cNvSpPr/>
          <p:nvPr/>
        </p:nvSpPr>
        <p:spPr>
          <a:xfrm>
            <a:off x="548640" y="2651760"/>
            <a:ext cx="20116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txt-343"/>
          <p:cNvSpPr txBox="1"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openapi.yaml</a:t>
            </a:r>
            <a:endParaRPr lang="en-US" sz="1300" dirty="0"/>
          </a:p>
        </p:txBody>
      </p:sp>
      <p:sp>
        <p:nvSpPr>
          <p:cNvPr id="7" name="txt-344"/>
          <p:cNvSpPr txBox="1"/>
          <p:nvPr/>
        </p:nvSpPr>
        <p:spPr>
          <a:xfrm>
            <a:off x="685800" y="3127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committet, einzige Quelle</a:t>
            </a:r>
            <a:endParaRPr lang="en-US" sz="1000" dirty="0"/>
          </a:p>
        </p:txBody>
      </p:sp>
      <p:sp>
        <p:nvSpPr>
          <p:cNvPr id="8" name="arrow-345"/>
          <p:cNvSpPr/>
          <p:nvPr/>
        </p:nvSpPr>
        <p:spPr>
          <a:xfrm>
            <a:off x="2606040" y="3108960"/>
            <a:ext cx="54864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part-346"/>
          <p:cNvSpPr/>
          <p:nvPr/>
        </p:nvSpPr>
        <p:spPr>
          <a:xfrm>
            <a:off x="3200400" y="1828800"/>
            <a:ext cx="3840480" cy="5029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0" name="txt-347"/>
          <p:cNvSpPr txBox="1"/>
          <p:nvPr/>
        </p:nvSpPr>
        <p:spPr>
          <a:xfrm>
            <a:off x="3337560" y="19568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1" name="chip-348"/>
          <p:cNvSpPr/>
          <p:nvPr/>
        </p:nvSpPr>
        <p:spPr>
          <a:xfrm>
            <a:off x="4114800" y="1947672"/>
            <a:ext cx="1005840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2" name="chip-t-349"/>
          <p:cNvSpPr txBox="1"/>
          <p:nvPr/>
        </p:nvSpPr>
        <p:spPr>
          <a:xfrm>
            <a:off x="4114800" y="1947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1000" dirty="0"/>
          </a:p>
        </p:txBody>
      </p:sp>
      <p:sp>
        <p:nvSpPr>
          <p:cNvPr id="13" name="txt-350"/>
          <p:cNvSpPr txBox="1"/>
          <p:nvPr/>
        </p:nvSpPr>
        <p:spPr>
          <a:xfrm>
            <a:off x="585216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Models</a:t>
            </a:r>
            <a:endParaRPr lang="en-US" sz="1000" dirty="0"/>
          </a:p>
        </p:txBody>
      </p:sp>
      <p:sp>
        <p:nvSpPr>
          <p:cNvPr id="14" name="part-351"/>
          <p:cNvSpPr/>
          <p:nvPr/>
        </p:nvSpPr>
        <p:spPr>
          <a:xfrm>
            <a:off x="3200400" y="2468880"/>
            <a:ext cx="3840480" cy="5029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5" name="txt-352"/>
          <p:cNvSpPr txBox="1"/>
          <p:nvPr/>
        </p:nvSpPr>
        <p:spPr>
          <a:xfrm>
            <a:off x="3337560" y="259689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16" name="chip-353"/>
          <p:cNvSpPr/>
          <p:nvPr/>
        </p:nvSpPr>
        <p:spPr>
          <a:xfrm>
            <a:off x="4114800" y="2587752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chip-t-354"/>
          <p:cNvSpPr txBox="1"/>
          <p:nvPr/>
        </p:nvSpPr>
        <p:spPr>
          <a:xfrm>
            <a:off x="4114800" y="2587752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18" name="txt-355"/>
          <p:cNvSpPr txBox="1"/>
          <p:nvPr/>
        </p:nvSpPr>
        <p:spPr>
          <a:xfrm>
            <a:off x="5852160" y="2606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Services</a:t>
            </a:r>
            <a:endParaRPr lang="en-US" sz="1000" dirty="0"/>
          </a:p>
        </p:txBody>
      </p:sp>
      <p:sp>
        <p:nvSpPr>
          <p:cNvPr id="19" name="part-356"/>
          <p:cNvSpPr/>
          <p:nvPr/>
        </p:nvSpPr>
        <p:spPr>
          <a:xfrm>
            <a:off x="3200400" y="3108960"/>
            <a:ext cx="3840480" cy="5029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0" name="txt-357"/>
          <p:cNvSpPr txBox="1"/>
          <p:nvPr/>
        </p:nvSpPr>
        <p:spPr>
          <a:xfrm>
            <a:off x="3337560" y="32369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1200" dirty="0"/>
          </a:p>
        </p:txBody>
      </p:sp>
      <p:sp>
        <p:nvSpPr>
          <p:cNvPr id="21" name="chip-358"/>
          <p:cNvSpPr/>
          <p:nvPr/>
        </p:nvSpPr>
        <p:spPr>
          <a:xfrm>
            <a:off x="4114800" y="3227832"/>
            <a:ext cx="1472184" cy="256032"/>
          </a:xfrm>
          <a:prstGeom prst="roundRect">
            <a:avLst>
              <a:gd name="adj" fmla="val 25000"/>
            </a:avLst>
          </a:prstGeom>
          <a:solidFill>
            <a:schemeClr val="accent1">
              <a:alpha val="14000"/>
            </a:schemeClr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2" name="chip-t-359"/>
          <p:cNvSpPr txBox="1"/>
          <p:nvPr/>
        </p:nvSpPr>
        <p:spPr>
          <a:xfrm>
            <a:off x="4114800" y="3227832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type:data-access</a:t>
            </a:r>
            <a:endParaRPr lang="en-US" sz="1000" dirty="0"/>
          </a:p>
        </p:txBody>
      </p:sp>
      <p:sp>
        <p:nvSpPr>
          <p:cNvPr id="23" name="txt-360"/>
          <p:cNvSpPr txBox="1"/>
          <p:nvPr/>
        </p:nvSpPr>
        <p:spPr>
          <a:xfrm>
            <a:off x="5852160" y="32461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Runtime, HTTP</a:t>
            </a:r>
            <a:endParaRPr lang="en-US" sz="1000" dirty="0"/>
          </a:p>
        </p:txBody>
      </p:sp>
      <p:sp>
        <p:nvSpPr>
          <p:cNvPr id="24" name="part-361"/>
          <p:cNvSpPr/>
          <p:nvPr/>
        </p:nvSpPr>
        <p:spPr>
          <a:xfrm>
            <a:off x="3200400" y="3749040"/>
            <a:ext cx="3840480" cy="50292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5" name="txt-362"/>
          <p:cNvSpPr txBox="1"/>
          <p:nvPr/>
        </p:nvSpPr>
        <p:spPr>
          <a:xfrm>
            <a:off x="3337560" y="38770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26" name="chip-363"/>
          <p:cNvSpPr/>
          <p:nvPr/>
        </p:nvSpPr>
        <p:spPr>
          <a:xfrm>
            <a:off x="4114800" y="3867912"/>
            <a:ext cx="1161288" cy="256032"/>
          </a:xfrm>
          <a:prstGeom prst="roundRect">
            <a:avLst>
              <a:gd name="adj" fmla="val 25000"/>
            </a:avLst>
          </a:prstGeom>
          <a:solidFill>
            <a:schemeClr val="tx2">
              <a:alpha val="14000"/>
            </a:schemeClr>
          </a:solidFill>
          <a:ln w="9525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27" name="chip-t-364"/>
          <p:cNvSpPr txBox="1"/>
          <p:nvPr/>
        </p:nvSpPr>
        <p:spPr>
          <a:xfrm>
            <a:off x="4114800" y="3867912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28" name="txt-365"/>
          <p:cNvSpPr txBox="1"/>
          <p:nvPr/>
        </p:nvSpPr>
        <p:spPr>
          <a:xfrm>
            <a:off x="5852160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MSW-Handler, Faker</a:t>
            </a:r>
            <a:endParaRPr lang="en-US" sz="1000" dirty="0"/>
          </a:p>
        </p:txBody>
      </p:sp>
      <p:sp>
        <p:nvSpPr>
          <p:cNvPr id="29" name="arrow-366"/>
          <p:cNvSpPr/>
          <p:nvPr/>
        </p:nvSpPr>
        <p:spPr>
          <a:xfrm>
            <a:off x="7086600" y="2743200"/>
            <a:ext cx="45720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card-367"/>
          <p:cNvSpPr/>
          <p:nvPr/>
        </p:nvSpPr>
        <p:spPr>
          <a:xfrm>
            <a:off x="7589520" y="2331720"/>
            <a:ext cx="224028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1" name="txt-368"/>
          <p:cNvSpPr txBox="1"/>
          <p:nvPr/>
        </p:nvSpPr>
        <p:spPr>
          <a:xfrm>
            <a:off x="7726680" y="2468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booking/data-access</a:t>
            </a:r>
            <a:endParaRPr lang="en-US" sz="1100" dirty="0"/>
          </a:p>
        </p:txBody>
      </p:sp>
      <p:sp>
        <p:nvSpPr>
          <p:cNvPr id="32" name="txt-369"/>
          <p:cNvSpPr txBox="1"/>
          <p:nvPr/>
        </p:nvSpPr>
        <p:spPr>
          <a:xfrm>
            <a:off x="772668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BookingApi: DTOs unverändert</a:t>
            </a:r>
            <a:endParaRPr lang="en-US" sz="1000" dirty="0"/>
          </a:p>
        </p:txBody>
      </p:sp>
      <p:sp>
        <p:nvSpPr>
          <p:cNvPr id="33" name="arrow-370"/>
          <p:cNvSpPr/>
          <p:nvPr/>
        </p:nvSpPr>
        <p:spPr>
          <a:xfrm>
            <a:off x="9875520" y="2788920"/>
            <a:ext cx="36576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card-371"/>
          <p:cNvSpPr/>
          <p:nvPr/>
        </p:nvSpPr>
        <p:spPr>
          <a:xfrm>
            <a:off x="10287000" y="2331720"/>
            <a:ext cx="1356055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35" name="txt-372"/>
          <p:cNvSpPr txBox="1"/>
          <p:nvPr/>
        </p:nvSpPr>
        <p:spPr>
          <a:xfrm>
            <a:off x="10424160" y="2450592"/>
            <a:ext cx="1127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00" dirty="0"/>
          </a:p>
        </p:txBody>
      </p:sp>
      <p:sp>
        <p:nvSpPr>
          <p:cNvPr id="36" name="txt-373"/>
          <p:cNvSpPr txBox="1"/>
          <p:nvPr/>
        </p:nvSpPr>
        <p:spPr>
          <a:xfrm>
            <a:off x="548640" y="4663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txt-374"/>
          <p:cNvSpPr txBox="1"/>
          <p:nvPr/>
        </p:nvSpPr>
        <p:spPr>
          <a:xfrm>
            <a:off x="868680" y="4681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Domain-data-access → eigener Client (api, types, core)</a:t>
            </a:r>
            <a:endParaRPr lang="en-US" sz="1200" dirty="0"/>
          </a:p>
        </p:txBody>
      </p:sp>
      <p:sp>
        <p:nvSpPr>
          <p:cNvPr id="38" name="txt-375"/>
          <p:cNvSpPr txBox="1"/>
          <p:nvPr/>
        </p:nvSpPr>
        <p:spPr>
          <a:xfrm>
            <a:off x="548640" y="5029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✓</a:t>
            </a:r>
            <a:endParaRPr lang="en-US" sz="1300" dirty="0"/>
          </a:p>
        </p:txBody>
      </p:sp>
      <p:sp>
        <p:nvSpPr>
          <p:cNvPr id="39" name="txt-376"/>
          <p:cNvSpPr txBox="1"/>
          <p:nvPr/>
        </p:nvSpPr>
        <p:spPr>
          <a:xfrm>
            <a:off x="868680" y="50474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Slices → shared Client (libs/generated/…)</a:t>
            </a:r>
            <a:endParaRPr lang="en-US" sz="1200" dirty="0"/>
          </a:p>
        </p:txBody>
      </p:sp>
      <p:sp>
        <p:nvSpPr>
          <p:cNvPr id="40" name="txt-377"/>
          <p:cNvSpPr txBox="1"/>
          <p:nvPr/>
        </p:nvSpPr>
        <p:spPr>
          <a:xfrm>
            <a:off x="548640" y="5394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✕</a:t>
            </a:r>
            <a:endParaRPr lang="en-US" sz="1300" dirty="0"/>
          </a:p>
        </p:txBody>
      </p:sp>
      <p:sp>
        <p:nvSpPr>
          <p:cNvPr id="41" name="txt-378"/>
          <p:cNvSpPr txBox="1"/>
          <p:nvPr/>
        </p:nvSpPr>
        <p:spPr>
          <a:xfrm>
            <a:off x="868680" y="54132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fremder Slice → booking/generated/** (Scope)</a:t>
            </a:r>
            <a:endParaRPr lang="en-US" sz="1200" dirty="0"/>
          </a:p>
        </p:txBody>
      </p:sp>
      <p:sp>
        <p:nvSpPr>
          <p:cNvPr id="42" name="txt-379"/>
          <p:cNvSpPr txBox="1"/>
          <p:nvPr/>
        </p:nvSpPr>
        <p:spPr>
          <a:xfrm>
            <a:off x="548640" y="5760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✕</a:t>
            </a:r>
            <a:endParaRPr lang="en-US" sz="1300" dirty="0"/>
          </a:p>
        </p:txBody>
      </p:sp>
      <p:sp>
        <p:nvSpPr>
          <p:cNvPr id="43" name="txt-380"/>
          <p:cNvSpPr txBox="1"/>
          <p:nvPr/>
        </p:nvSpPr>
        <p:spPr>
          <a:xfrm>
            <a:off x="868680" y="5779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ui → Client api/core (Layer)</a:t>
            </a:r>
            <a:endParaRPr lang="en-US" sz="1200" dirty="0"/>
          </a:p>
        </p:txBody>
      </p:sp>
      <p:sp>
        <p:nvSpPr>
          <p:cNvPr id="44" name="txt-381"/>
          <p:cNvSpPr txBox="1"/>
          <p:nvPr/>
        </p:nvSpPr>
        <p:spPr>
          <a:xfrm>
            <a:off x="7680960" y="4663440"/>
            <a:ext cx="3962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Adapter austauschbar (openapi-tools, hey-api, nx-plugin-openapi). Die DTOs gelten in allen Layern (keine Mapper): ein Adapterwechsel trifft jede Nutzung, der Compiler zeigt sie.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1/2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und State</a:t>
            </a:r>
            <a:endParaRPr lang="en-US" sz="3000" dirty="0"/>
          </a:p>
        </p:txBody>
      </p:sp>
      <p:sp>
        <p:nvSpPr>
          <p:cNvPr id="4" name="card-382"/>
          <p:cNvSpPr/>
          <p:nvPr/>
        </p:nvSpPr>
        <p:spPr>
          <a:xfrm>
            <a:off x="548640" y="141732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5" name="chip-383"/>
          <p:cNvSpPr/>
          <p:nvPr/>
        </p:nvSpPr>
        <p:spPr>
          <a:xfrm>
            <a:off x="731520" y="155448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6" name="chip-t-384"/>
          <p:cNvSpPr txBox="1"/>
          <p:nvPr/>
        </p:nvSpPr>
        <p:spPr>
          <a:xfrm>
            <a:off x="731520" y="15544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Erlaubt</a:t>
            </a:r>
            <a:endParaRPr lang="en-US" sz="1000" dirty="0"/>
          </a:p>
        </p:txBody>
      </p:sp>
      <p:sp>
        <p:nvSpPr>
          <p:cNvPr id="7" name="txt-385"/>
          <p:cNvSpPr txBox="1"/>
          <p:nvPr/>
        </p:nvSpPr>
        <p:spPr>
          <a:xfrm>
            <a:off x="1783080" y="1581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8" name="txt-386"/>
          <p:cNvSpPr txBox="1"/>
          <p:nvPr/>
        </p:nvSpPr>
        <p:spPr>
          <a:xfrm>
            <a:off x="3291840" y="1581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9" name="txt-387"/>
          <p:cNvSpPr txBox="1"/>
          <p:nvPr/>
        </p:nvSpPr>
        <p:spPr>
          <a:xfrm>
            <a:off x="731520" y="1920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'@mo-transfer/booking/data-access';</a:t>
            </a:r>
            <a:endParaRPr lang="en-US" sz="1100" dirty="0"/>
          </a:p>
        </p:txBody>
      </p:sp>
      <p:sp>
        <p:nvSpPr>
          <p:cNvPr id="10" name="txt-388"/>
          <p:cNvSpPr txBox="1"/>
          <p:nvPr/>
        </p:nvSpPr>
        <p:spPr>
          <a:xfrm>
            <a:off x="6858000" y="187452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state darf data-access: der Store lädt über den HTTP-Wrapper.</a:t>
            </a:r>
            <a:endParaRPr lang="en-US" sz="1000" dirty="0"/>
          </a:p>
        </p:txBody>
      </p:sp>
      <p:sp>
        <p:nvSpPr>
          <p:cNvPr id="11" name="card-389"/>
          <p:cNvSpPr/>
          <p:nvPr/>
        </p:nvSpPr>
        <p:spPr>
          <a:xfrm>
            <a:off x="548640" y="260604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2" name="chip-390"/>
          <p:cNvSpPr/>
          <p:nvPr/>
        </p:nvSpPr>
        <p:spPr>
          <a:xfrm>
            <a:off x="731520" y="274320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3" name="chip-t-391"/>
          <p:cNvSpPr txBox="1"/>
          <p:nvPr/>
        </p:nvSpPr>
        <p:spPr>
          <a:xfrm>
            <a:off x="731520" y="2743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14" name="txt-392"/>
          <p:cNvSpPr txBox="1"/>
          <p:nvPr/>
        </p:nvSpPr>
        <p:spPr>
          <a:xfrm>
            <a:off x="1783080" y="27706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15" name="txt-393"/>
          <p:cNvSpPr txBox="1"/>
          <p:nvPr/>
        </p:nvSpPr>
        <p:spPr>
          <a:xfrm>
            <a:off x="3291840" y="27706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libs/booking/ui/src/booking-card.ts</a:t>
            </a:r>
            <a:endParaRPr lang="en-US" sz="1000" dirty="0"/>
          </a:p>
        </p:txBody>
      </p:sp>
      <p:sp>
        <p:nvSpPr>
          <p:cNvPr id="16" name="txt-394"/>
          <p:cNvSpPr txBox="1"/>
          <p:nvPr/>
        </p:nvSpPr>
        <p:spPr>
          <a:xfrm>
            <a:off x="731520" y="31089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'@mo-transfer/booking/state';</a:t>
            </a:r>
            <a:endParaRPr lang="en-US" sz="1100" dirty="0"/>
          </a:p>
        </p:txBody>
      </p:sp>
      <p:sp>
        <p:nvSpPr>
          <p:cNvPr id="17" name="txt-395"/>
          <p:cNvSpPr txBox="1"/>
          <p:nvPr/>
        </p:nvSpPr>
        <p:spPr>
          <a:xfrm>
            <a:off x="6858000" y="306324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"type:ui" can only depend on libs tagged with "type:types", "type:utils", "type:ui"</a:t>
            </a:r>
            <a:endParaRPr lang="en-US" sz="1000" dirty="0"/>
          </a:p>
        </p:txBody>
      </p:sp>
      <p:sp>
        <p:nvSpPr>
          <p:cNvPr id="18" name="card-396"/>
          <p:cNvSpPr/>
          <p:nvPr/>
        </p:nvSpPr>
        <p:spPr>
          <a:xfrm>
            <a:off x="548640" y="379476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9" name="chip-397"/>
          <p:cNvSpPr/>
          <p:nvPr/>
        </p:nvSpPr>
        <p:spPr>
          <a:xfrm>
            <a:off x="731520" y="393192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0" name="chip-t-398"/>
          <p:cNvSpPr txBox="1"/>
          <p:nvPr/>
        </p:nvSpPr>
        <p:spPr>
          <a:xfrm>
            <a:off x="73152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21" name="txt-399"/>
          <p:cNvSpPr txBox="1"/>
          <p:nvPr/>
        </p:nvSpPr>
        <p:spPr>
          <a:xfrm>
            <a:off x="1783080" y="3959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endParaRPr lang="en-US" sz="1000" dirty="0"/>
          </a:p>
        </p:txBody>
      </p:sp>
      <p:sp>
        <p:nvSpPr>
          <p:cNvPr id="22" name="txt-400"/>
          <p:cNvSpPr txBox="1"/>
          <p:nvPr/>
        </p:nvSpPr>
        <p:spPr>
          <a:xfrm>
            <a:off x="3291840" y="3959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23" name="txt-401"/>
          <p:cNvSpPr txBox="1"/>
          <p:nvPr/>
        </p:nvSpPr>
        <p:spPr>
          <a:xfrm>
            <a:off x="731520" y="42976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HttpClient } from '@angular/common/http';</a:t>
            </a:r>
            <a:endParaRPr lang="en-US" sz="1100" dirty="0"/>
          </a:p>
        </p:txBody>
      </p:sp>
      <p:sp>
        <p:nvSpPr>
          <p:cNvPr id="24" name="txt-402"/>
          <p:cNvSpPr txBox="1"/>
          <p:nvPr/>
        </p:nvSpPr>
        <p:spPr>
          <a:xfrm>
            <a:off x="6858000" y="425196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"type:state" is not allowed to import "@angular/common/http"</a:t>
            </a:r>
            <a:endParaRPr lang="en-US" sz="1000" dirty="0"/>
          </a:p>
        </p:txBody>
      </p:sp>
      <p:sp>
        <p:nvSpPr>
          <p:cNvPr id="25" name="card-403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26" name="chip-404"/>
          <p:cNvSpPr/>
          <p:nvPr/>
        </p:nvSpPr>
        <p:spPr>
          <a:xfrm>
            <a:off x="731520" y="512064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7" name="chip-t-405"/>
          <p:cNvSpPr txBox="1"/>
          <p:nvPr/>
        </p:nvSpPr>
        <p:spPr>
          <a:xfrm>
            <a:off x="731520" y="51206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Erlaubt</a:t>
            </a:r>
            <a:endParaRPr lang="en-US" sz="1000" dirty="0"/>
          </a:p>
        </p:txBody>
      </p:sp>
      <p:sp>
        <p:nvSpPr>
          <p:cNvPr id="28" name="txt-406"/>
          <p:cNvSpPr txBox="1"/>
          <p:nvPr/>
        </p:nvSpPr>
        <p:spPr>
          <a:xfrm>
            <a:off x="1783080" y="5148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000" dirty="0"/>
          </a:p>
        </p:txBody>
      </p:sp>
      <p:sp>
        <p:nvSpPr>
          <p:cNvPr id="29" name="txt-407"/>
          <p:cNvSpPr txBox="1"/>
          <p:nvPr/>
        </p:nvSpPr>
        <p:spPr>
          <a:xfrm>
            <a:off x="3291840" y="51480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libs/checkin/feat-checkin/feature/src/feat-checkin.ts</a:t>
            </a:r>
            <a:endParaRPr lang="en-US" sz="1000" dirty="0"/>
          </a:p>
        </p:txBody>
      </p:sp>
      <p:sp>
        <p:nvSpPr>
          <p:cNvPr id="30" name="txt-408"/>
          <p:cNvSpPr txBox="1"/>
          <p:nvPr/>
        </p:nvSpPr>
        <p:spPr>
          <a:xfrm>
            <a:off x="73152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AuthStore } from '@mo-transfer/shared/state';</a:t>
            </a:r>
            <a:endParaRPr lang="en-US" sz="1100" dirty="0"/>
          </a:p>
        </p:txBody>
      </p:sp>
      <p:sp>
        <p:nvSpPr>
          <p:cNvPr id="31" name="txt-409"/>
          <p:cNvSpPr txBox="1"/>
          <p:nvPr/>
        </p:nvSpPr>
        <p:spPr>
          <a:xfrm>
            <a:off x="6858000" y="544068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Globaler Zustand kommt über shared.</a:t>
            </a:r>
            <a:endParaRPr lang="en-US" sz="1000" dirty="0"/>
          </a:p>
        </p:txBody>
      </p:sp>
      <p:sp>
        <p:nvSpPr>
          <p:cNvPr id="32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2/2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Scope, Feat und App</a:t>
            </a:r>
            <a:endParaRPr lang="en-US" sz="3000" dirty="0"/>
          </a:p>
        </p:txBody>
      </p:sp>
      <p:sp>
        <p:nvSpPr>
          <p:cNvPr id="4" name="card-410"/>
          <p:cNvSpPr/>
          <p:nvPr/>
        </p:nvSpPr>
        <p:spPr>
          <a:xfrm>
            <a:off x="548640" y="141732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chip-411"/>
          <p:cNvSpPr/>
          <p:nvPr/>
        </p:nvSpPr>
        <p:spPr>
          <a:xfrm>
            <a:off x="731520" y="155448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6" name="chip-t-412"/>
          <p:cNvSpPr txBox="1"/>
          <p:nvPr/>
        </p:nvSpPr>
        <p:spPr>
          <a:xfrm>
            <a:off x="731520" y="155448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7" name="txt-413"/>
          <p:cNvSpPr txBox="1"/>
          <p:nvPr/>
        </p:nvSpPr>
        <p:spPr>
          <a:xfrm>
            <a:off x="1783080" y="15819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000" dirty="0"/>
          </a:p>
        </p:txBody>
      </p:sp>
      <p:sp>
        <p:nvSpPr>
          <p:cNvPr id="8" name="txt-414"/>
          <p:cNvSpPr txBox="1"/>
          <p:nvPr/>
        </p:nvSpPr>
        <p:spPr>
          <a:xfrm>
            <a:off x="3291840" y="1581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libs/checkin/feat-checkin/state/src/checkin-desk.store.ts</a:t>
            </a:r>
            <a:endParaRPr lang="en-US" sz="1000" dirty="0"/>
          </a:p>
        </p:txBody>
      </p:sp>
      <p:sp>
        <p:nvSpPr>
          <p:cNvPr id="9" name="txt-415"/>
          <p:cNvSpPr txBox="1"/>
          <p:nvPr/>
        </p:nvSpPr>
        <p:spPr>
          <a:xfrm>
            <a:off x="731520" y="19202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'@mo-transfer/booking/data-access';</a:t>
            </a:r>
            <a:endParaRPr lang="en-US" sz="1100" dirty="0"/>
          </a:p>
        </p:txBody>
      </p:sp>
      <p:sp>
        <p:nvSpPr>
          <p:cNvPr id="10" name="txt-416"/>
          <p:cNvSpPr txBox="1"/>
          <p:nvPr/>
        </p:nvSpPr>
        <p:spPr>
          <a:xfrm>
            <a:off x="6858000" y="187452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"scope:checkin" can only depend on libs tagged with "scope:checkin", "scope:shared"</a:t>
            </a:r>
            <a:endParaRPr lang="en-US" sz="1000" dirty="0"/>
          </a:p>
        </p:txBody>
      </p:sp>
      <p:sp>
        <p:nvSpPr>
          <p:cNvPr id="11" name="card-417"/>
          <p:cNvSpPr/>
          <p:nvPr/>
        </p:nvSpPr>
        <p:spPr>
          <a:xfrm>
            <a:off x="548640" y="260604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2" name="chip-418"/>
          <p:cNvSpPr/>
          <p:nvPr/>
        </p:nvSpPr>
        <p:spPr>
          <a:xfrm>
            <a:off x="731520" y="274320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3" name="chip-t-419"/>
          <p:cNvSpPr txBox="1"/>
          <p:nvPr/>
        </p:nvSpPr>
        <p:spPr>
          <a:xfrm>
            <a:off x="731520" y="27432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14" name="txt-420"/>
          <p:cNvSpPr txBox="1"/>
          <p:nvPr/>
        </p:nvSpPr>
        <p:spPr>
          <a:xfrm>
            <a:off x="1783080" y="27706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15" name="txt-421"/>
          <p:cNvSpPr txBox="1"/>
          <p:nvPr/>
        </p:nvSpPr>
        <p:spPr>
          <a:xfrm>
            <a:off x="3291840" y="27706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16" name="txt-422"/>
          <p:cNvSpPr txBox="1"/>
          <p:nvPr/>
        </p:nvSpPr>
        <p:spPr>
          <a:xfrm>
            <a:off x="731520" y="310896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CheckinDeskStore } from '@mo-transfer/checkin/feat-checkin/state';</a:t>
            </a:r>
            <a:endParaRPr lang="en-US" sz="1100" dirty="0"/>
          </a:p>
        </p:txBody>
      </p:sp>
      <p:sp>
        <p:nvSpPr>
          <p:cNvPr id="17" name="txt-423"/>
          <p:cNvSpPr txBox="1"/>
          <p:nvPr/>
        </p:nvSpPr>
        <p:spPr>
          <a:xfrm>
            <a:off x="6858000" y="306324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"feat:history" can only depend on libs tagged with "feat:history", "feat:none"</a:t>
            </a:r>
            <a:endParaRPr lang="en-US" sz="1000" dirty="0"/>
          </a:p>
        </p:txBody>
      </p:sp>
      <p:sp>
        <p:nvSpPr>
          <p:cNvPr id="18" name="card-424"/>
          <p:cNvSpPr/>
          <p:nvPr/>
        </p:nvSpPr>
        <p:spPr>
          <a:xfrm>
            <a:off x="548640" y="379476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9" name="chip-425"/>
          <p:cNvSpPr/>
          <p:nvPr/>
        </p:nvSpPr>
        <p:spPr>
          <a:xfrm>
            <a:off x="731520" y="393192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0" name="chip-t-426"/>
          <p:cNvSpPr txBox="1"/>
          <p:nvPr/>
        </p:nvSpPr>
        <p:spPr>
          <a:xfrm>
            <a:off x="73152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Erlaubt</a:t>
            </a:r>
            <a:endParaRPr lang="en-US" sz="1000" dirty="0"/>
          </a:p>
        </p:txBody>
      </p:sp>
      <p:sp>
        <p:nvSpPr>
          <p:cNvPr id="21" name="txt-427"/>
          <p:cNvSpPr txBox="1"/>
          <p:nvPr/>
        </p:nvSpPr>
        <p:spPr>
          <a:xfrm>
            <a:off x="1783080" y="39593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22" name="txt-428"/>
          <p:cNvSpPr txBox="1"/>
          <p:nvPr/>
        </p:nvSpPr>
        <p:spPr>
          <a:xfrm>
            <a:off x="3291840" y="3959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23" name="txt-429"/>
          <p:cNvSpPr txBox="1"/>
          <p:nvPr/>
        </p:nvSpPr>
        <p:spPr>
          <a:xfrm>
            <a:off x="731520" y="42976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describeDesk } from '@mo-transfer/checkin/utils';</a:t>
            </a:r>
            <a:endParaRPr lang="en-US" sz="1100" dirty="0"/>
          </a:p>
        </p:txBody>
      </p:sp>
      <p:sp>
        <p:nvSpPr>
          <p:cNvPr id="24" name="txt-430"/>
          <p:cNvSpPr txBox="1"/>
          <p:nvPr/>
        </p:nvSpPr>
        <p:spPr>
          <a:xfrm>
            <a:off x="6858000" y="425196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Geteilt wird über den Slice-Root.</a:t>
            </a:r>
            <a:endParaRPr lang="en-US" sz="1000" dirty="0"/>
          </a:p>
        </p:txBody>
      </p:sp>
      <p:sp>
        <p:nvSpPr>
          <p:cNvPr id="25" name="card-431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6" name="chip-432"/>
          <p:cNvSpPr/>
          <p:nvPr/>
        </p:nvSpPr>
        <p:spPr>
          <a:xfrm>
            <a:off x="731520" y="5120640"/>
            <a:ext cx="914400" cy="256032"/>
          </a:xfrm>
          <a:prstGeom prst="roundRect">
            <a:avLst>
              <a:gd name="adj" fmla="val 25000"/>
            </a:avLst>
          </a:prstGeom>
          <a:solidFill>
            <a:schemeClr val="accent4">
              <a:alpha val="14000"/>
            </a:schemeClr>
          </a:solidFill>
          <a:ln w="9525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7" name="chip-t-433"/>
          <p:cNvSpPr txBox="1"/>
          <p:nvPr/>
        </p:nvSpPr>
        <p:spPr>
          <a:xfrm>
            <a:off x="731520" y="51206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Verstoß</a:t>
            </a:r>
            <a:endParaRPr lang="en-US" sz="1000" dirty="0"/>
          </a:p>
        </p:txBody>
      </p:sp>
      <p:sp>
        <p:nvSpPr>
          <p:cNvPr id="28" name="txt-434"/>
          <p:cNvSpPr txBox="1"/>
          <p:nvPr/>
        </p:nvSpPr>
        <p:spPr>
          <a:xfrm>
            <a:off x="1783080" y="5148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9" name="txt-435"/>
          <p:cNvSpPr txBox="1"/>
          <p:nvPr/>
        </p:nvSpPr>
        <p:spPr>
          <a:xfrm>
            <a:off x="3291840" y="51480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apps/client/src/app/app.ts</a:t>
            </a:r>
            <a:endParaRPr lang="en-US" sz="1000" dirty="0"/>
          </a:p>
        </p:txBody>
      </p:sp>
      <p:sp>
        <p:nvSpPr>
          <p:cNvPr id="30" name="txt-436"/>
          <p:cNvSpPr txBox="1"/>
          <p:nvPr/>
        </p:nvSpPr>
        <p:spPr>
          <a:xfrm>
            <a:off x="73152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'@mo-transfer/booking/state';</a:t>
            </a:r>
            <a:endParaRPr lang="en-US" sz="1100" dirty="0"/>
          </a:p>
        </p:txBody>
      </p:sp>
      <p:sp>
        <p:nvSpPr>
          <p:cNvPr id="31" name="txt-437"/>
          <p:cNvSpPr txBox="1"/>
          <p:nvPr/>
        </p:nvSpPr>
        <p:spPr>
          <a:xfrm>
            <a:off x="6858000" y="5440680"/>
            <a:ext cx="460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"type:app" can only depend on libs tagged with "entry", "scope:shared"</a:t>
            </a:r>
            <a:endParaRPr lang="en-US" sz="1000" dirty="0"/>
          </a:p>
        </p:txBody>
      </p:sp>
      <p:sp>
        <p:nvSpPr>
          <p:cNvPr id="32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DURCHSETZUNG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Wer prüft was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Jede Regel wird dort geprüft, wo sie am frühesten auffällt.</a:t>
            </a:r>
            <a:endParaRPr lang="en-US" sz="1400" dirty="0"/>
          </a:p>
        </p:txBody>
      </p:sp>
      <p:sp>
        <p:nvSpPr>
          <p:cNvPr id="5" name="card-438"/>
          <p:cNvSpPr/>
          <p:nvPr/>
        </p:nvSpPr>
        <p:spPr>
          <a:xfrm>
            <a:off x="548640" y="182880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num-439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num-t-440"/>
          <p:cNvSpPr txBox="1"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xt-441"/>
          <p:cNvSpPr txBox="1"/>
          <p:nvPr/>
        </p:nvSpPr>
        <p:spPr>
          <a:xfrm>
            <a:off x="1280160" y="2130552"/>
            <a:ext cx="165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BEIM ANLEGEN</a:t>
            </a:r>
            <a:endParaRPr lang="en-US" sz="1000" dirty="0"/>
          </a:p>
        </p:txBody>
      </p:sp>
      <p:sp>
        <p:nvSpPr>
          <p:cNvPr id="9" name="txt-442"/>
          <p:cNvSpPr txBox="1"/>
          <p:nvPr/>
        </p:nvSpPr>
        <p:spPr>
          <a:xfrm>
            <a:off x="777240" y="26517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Generatoren</a:t>
            </a:r>
            <a:endParaRPr lang="en-US" sz="1800" dirty="0"/>
          </a:p>
        </p:txBody>
      </p:sp>
      <p:sp>
        <p:nvSpPr>
          <p:cNvPr id="10" name="txt-443"/>
          <p:cNvSpPr txBox="1"/>
          <p:nvPr/>
        </p:nvSpPr>
        <p:spPr>
          <a:xfrm>
            <a:off x="777240" y="3154680"/>
            <a:ext cx="2110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domain, layer, feat, testing, client, move, rename, remove schreiben Libs mit Tags, Config und Routen. Unbekannte Optionen brechen ab.</a:t>
            </a:r>
            <a:endParaRPr lang="en-US" sz="1200" dirty="0"/>
          </a:p>
        </p:txBody>
      </p:sp>
      <p:sp>
        <p:nvSpPr>
          <p:cNvPr id="11" name="card-444"/>
          <p:cNvSpPr/>
          <p:nvPr/>
        </p:nvSpPr>
        <p:spPr>
          <a:xfrm>
            <a:off x="3390824" y="182880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num-445"/>
          <p:cNvSpPr/>
          <p:nvPr/>
        </p:nvSpPr>
        <p:spPr>
          <a:xfrm>
            <a:off x="3619424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num-t-446"/>
          <p:cNvSpPr txBox="1"/>
          <p:nvPr/>
        </p:nvSpPr>
        <p:spPr>
          <a:xfrm>
            <a:off x="3619424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xt-447"/>
          <p:cNvSpPr txBox="1"/>
          <p:nvPr/>
        </p:nvSpPr>
        <p:spPr>
          <a:xfrm>
            <a:off x="4122344" y="2130552"/>
            <a:ext cx="165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 NX SYNC</a:t>
            </a:r>
            <a:endParaRPr lang="en-US" sz="1000" dirty="0"/>
          </a:p>
        </p:txBody>
      </p:sp>
      <p:sp>
        <p:nvSpPr>
          <p:cNvPr id="15" name="txt-448"/>
          <p:cNvSpPr txBox="1"/>
          <p:nvPr/>
        </p:nvSpPr>
        <p:spPr>
          <a:xfrm>
            <a:off x="3619424" y="26517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Sync-Generatoren</a:t>
            </a:r>
            <a:endParaRPr lang="en-US" sz="1800" dirty="0"/>
          </a:p>
        </p:txBody>
      </p:sp>
      <p:sp>
        <p:nvSpPr>
          <p:cNvPr id="16" name="txt-449"/>
          <p:cNvSpPr txBox="1"/>
          <p:nvPr/>
        </p:nvSpPr>
        <p:spPr>
          <a:xfrm>
            <a:off x="3619424" y="3154680"/>
            <a:ext cx="2110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app-routes hält Shells und app.routes.ts deckungsgleich, lib-tags leitet die Tags jeder Lib neu aus dem Pfad ab.</a:t>
            </a:r>
            <a:endParaRPr lang="en-US" sz="1200" dirty="0"/>
          </a:p>
        </p:txBody>
      </p:sp>
      <p:sp>
        <p:nvSpPr>
          <p:cNvPr id="17" name="card-450"/>
          <p:cNvSpPr/>
          <p:nvPr/>
        </p:nvSpPr>
        <p:spPr>
          <a:xfrm>
            <a:off x="6233008" y="182880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8" name="num-451"/>
          <p:cNvSpPr/>
          <p:nvPr/>
        </p:nvSpPr>
        <p:spPr>
          <a:xfrm>
            <a:off x="6461608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num-t-452"/>
          <p:cNvSpPr txBox="1"/>
          <p:nvPr/>
        </p:nvSpPr>
        <p:spPr>
          <a:xfrm>
            <a:off x="646160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53"/>
          <p:cNvSpPr txBox="1"/>
          <p:nvPr/>
        </p:nvSpPr>
        <p:spPr>
          <a:xfrm>
            <a:off x="6964528" y="2130552"/>
            <a:ext cx="165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IDE UND NX LINT</a:t>
            </a:r>
            <a:endParaRPr lang="en-US" sz="1000" dirty="0"/>
          </a:p>
        </p:txBody>
      </p:sp>
      <p:sp>
        <p:nvSpPr>
          <p:cNvPr id="21" name="txt-454"/>
          <p:cNvSpPr txBox="1"/>
          <p:nvPr/>
        </p:nvSpPr>
        <p:spPr>
          <a:xfrm>
            <a:off x="6461608" y="26517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ESLint</a:t>
            </a:r>
            <a:endParaRPr lang="en-US" sz="1800" dirty="0"/>
          </a:p>
        </p:txBody>
      </p:sp>
      <p:sp>
        <p:nvSpPr>
          <p:cNvPr id="22" name="txt-455"/>
          <p:cNvSpPr txBox="1"/>
          <p:nvPr/>
        </p:nvSpPr>
        <p:spPr>
          <a:xfrm>
            <a:off x="6461608" y="3154680"/>
            <a:ext cx="2110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@nx/enforce-module-boundaries mit den depConstraints, Deep-Import-Verbot, Namensregeln blueprint/*.</a:t>
            </a:r>
            <a:endParaRPr lang="en-US" sz="1200" dirty="0"/>
          </a:p>
        </p:txBody>
      </p:sp>
      <p:sp>
        <p:nvSpPr>
          <p:cNvPr id="23" name="card-456"/>
          <p:cNvSpPr/>
          <p:nvPr/>
        </p:nvSpPr>
        <p:spPr>
          <a:xfrm>
            <a:off x="9075191" y="182880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4" name="num-457"/>
          <p:cNvSpPr/>
          <p:nvPr/>
        </p:nvSpPr>
        <p:spPr>
          <a:xfrm>
            <a:off x="9303791" y="2057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num-t-458"/>
          <p:cNvSpPr txBox="1"/>
          <p:nvPr/>
        </p:nvSpPr>
        <p:spPr>
          <a:xfrm>
            <a:off x="9303791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xt-459"/>
          <p:cNvSpPr txBox="1"/>
          <p:nvPr/>
        </p:nvSpPr>
        <p:spPr>
          <a:xfrm>
            <a:off x="9806711" y="2130552"/>
            <a:ext cx="1653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CI</a:t>
            </a:r>
            <a:endParaRPr lang="en-US" sz="1000" dirty="0"/>
          </a:p>
        </p:txBody>
      </p:sp>
      <p:sp>
        <p:nvSpPr>
          <p:cNvPr id="27" name="txt-460"/>
          <p:cNvSpPr txBox="1"/>
          <p:nvPr/>
        </p:nvSpPr>
        <p:spPr>
          <a:xfrm>
            <a:off x="9303791" y="265176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verify</a:t>
            </a:r>
            <a:endParaRPr lang="en-US" sz="1800" dirty="0"/>
          </a:p>
        </p:txBody>
      </p:sp>
      <p:sp>
        <p:nvSpPr>
          <p:cNvPr id="28" name="txt-461"/>
          <p:cNvSpPr txBox="1"/>
          <p:nvPr/>
        </p:nvSpPr>
        <p:spPr>
          <a:xfrm>
            <a:off x="9303791" y="3154680"/>
            <a:ext cx="21106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181 Boundary- und Namensfälle, Config pro Lib, Tag-Schema, Test-Isolation, Clients, affected, Bundle-Scan.</a:t>
            </a:r>
            <a:endParaRPr lang="en-US" sz="1200" dirty="0"/>
          </a:p>
        </p:txBody>
      </p:sp>
      <p:sp>
        <p:nvSpPr>
          <p:cNvPr id="29" name="txt-462"/>
          <p:cNvSpPr txBox="1"/>
          <p:nvPr/>
        </p:nvSpPr>
        <p:spPr>
          <a:xfrm>
            <a:off x="548640" y="4846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CI: nx sync:check, nx affected -t build lint test typecheck, nx run tooling-verify:verify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SELBST AUSPROBIEREN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Die wichtigsten Befehle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2618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Voraussetzungen: Node 22 (≥ 22.16), pnpm 10, Java 11+ für den Adapter openapi-tools.</a:t>
            </a:r>
            <a:endParaRPr lang="en-US" sz="1400" dirty="0"/>
          </a:p>
        </p:txBody>
      </p:sp>
      <p:sp>
        <p:nvSpPr>
          <p:cNvPr id="5" name="txt-463"/>
          <p:cNvSpPr txBox="1"/>
          <p:nvPr/>
        </p:nvSpPr>
        <p:spPr>
          <a:xfrm>
            <a:off x="548640" y="182880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Setup und Generieren</a:t>
            </a:r>
            <a:endParaRPr lang="en-US" sz="1300" dirty="0"/>
          </a:p>
        </p:txBody>
      </p:sp>
      <p:sp>
        <p:nvSpPr>
          <p:cNvPr id="6" name="card-464"/>
          <p:cNvSpPr/>
          <p:nvPr/>
        </p:nvSpPr>
        <p:spPr>
          <a:xfrm>
            <a:off x="548640" y="2194560"/>
            <a:ext cx="5410048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7" name="code-465"/>
          <p:cNvSpPr txBox="1"/>
          <p:nvPr/>
        </p:nvSpPr>
        <p:spPr>
          <a:xfrm>
            <a:off x="713232" y="2304288"/>
            <a:ext cx="50808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main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install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playwright install chromium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openapi:generate</a:t>
            </a:r>
            <a:endParaRPr lang="en-US" sz="1000" dirty="0"/>
          </a:p>
        </p:txBody>
      </p:sp>
      <p:sp>
        <p:nvSpPr>
          <p:cNvPr id="8" name="txt-466"/>
          <p:cNvSpPr txBox="1"/>
          <p:nvPr/>
        </p:nvSpPr>
        <p:spPr>
          <a:xfrm>
            <a:off x="6233008" y="182880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Bauen, testen, prüfen</a:t>
            </a:r>
            <a:endParaRPr lang="en-US" sz="1300" dirty="0"/>
          </a:p>
        </p:txBody>
      </p:sp>
      <p:sp>
        <p:nvSpPr>
          <p:cNvPr id="9" name="card-467"/>
          <p:cNvSpPr/>
          <p:nvPr/>
        </p:nvSpPr>
        <p:spPr>
          <a:xfrm>
            <a:off x="6233008" y="2194560"/>
            <a:ext cx="5410048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10" name="code-468"/>
          <p:cNvSpPr txBox="1"/>
          <p:nvPr/>
        </p:nvSpPr>
        <p:spPr>
          <a:xfrm>
            <a:off x="6397600" y="2304288"/>
            <a:ext cx="50808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run-many -t build lint test typecheck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sync:check</a:t>
            </a:r>
            <a:endParaRPr lang="en-US" sz="1000" dirty="0"/>
          </a:p>
        </p:txBody>
      </p:sp>
      <p:sp>
        <p:nvSpPr>
          <p:cNvPr id="11" name="txt-469"/>
          <p:cNvSpPr txBox="1"/>
          <p:nvPr/>
        </p:nvSpPr>
        <p:spPr>
          <a:xfrm>
            <a:off x="548640" y="388620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Neuen Slice anlegen</a:t>
            </a:r>
            <a:endParaRPr lang="en-US" sz="1300" dirty="0"/>
          </a:p>
        </p:txBody>
      </p:sp>
      <p:sp>
        <p:nvSpPr>
          <p:cNvPr id="12" name="card-470"/>
          <p:cNvSpPr/>
          <p:nvPr/>
        </p:nvSpPr>
        <p:spPr>
          <a:xfrm>
            <a:off x="548640" y="4251960"/>
            <a:ext cx="5410048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13" name="code-471"/>
          <p:cNvSpPr txBox="1"/>
          <p:nvPr/>
        </p:nvSpPr>
        <p:spPr>
          <a:xfrm>
            <a:off x="713232" y="4361688"/>
            <a:ext cx="50808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g @mo-transfer/tooling-workspace:domain payment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g @mo-transfer/tooling-workspace:feat payment checkout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--state --ui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g @mo-transfer/tooling-workspace:remove payment --force</a:t>
            </a:r>
            <a:endParaRPr lang="en-US" sz="1000" dirty="0"/>
          </a:p>
        </p:txBody>
      </p:sp>
      <p:sp>
        <p:nvSpPr>
          <p:cNvPr id="14" name="txt-472"/>
          <p:cNvSpPr txBox="1"/>
          <p:nvPr/>
        </p:nvSpPr>
        <p:spPr>
          <a:xfrm>
            <a:off x="6233008" y="388620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Ansehen</a:t>
            </a:r>
            <a:endParaRPr lang="en-US" sz="1300" dirty="0"/>
          </a:p>
        </p:txBody>
      </p:sp>
      <p:sp>
        <p:nvSpPr>
          <p:cNvPr id="15" name="card-473"/>
          <p:cNvSpPr/>
          <p:nvPr/>
        </p:nvSpPr>
        <p:spPr>
          <a:xfrm>
            <a:off x="6233008" y="4251960"/>
            <a:ext cx="5410048" cy="14630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</p:spPr>
        <p:txBody>
          <a:bodyPr/>
          <a:p/>
        </p:txBody>
      </p:sp>
      <p:sp>
        <p:nvSpPr>
          <p:cNvPr id="16" name="code-474"/>
          <p:cNvSpPr txBox="1"/>
          <p:nvPr/>
        </p:nvSpPr>
        <p:spPr>
          <a:xfrm>
            <a:off x="6397600" y="4361688"/>
            <a:ext cx="508086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graph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test:ui booking-state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serve client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print reduziert">
  <a:themeElements>
    <a:clrScheme name="Blueprint reduziert">
      <a:dk1>
        <a:srgbClr val="18222B"/>
      </a:dk1>
      <a:lt1>
        <a:srgbClr val="FFFFFF"/>
      </a:lt1>
      <a:dk2>
        <a:srgbClr val="5B6873"/>
      </a:dk2>
      <a:lt2>
        <a:srgbClr val="EEF1F2"/>
      </a:lt2>
      <a:accent1>
        <a:srgbClr val="0B7D70"/>
      </a:accent1>
      <a:accent2>
        <a:srgbClr val="4A4FC0"/>
      </a:accent2>
      <a:accent3>
        <a:srgbClr val="1F7A46"/>
      </a:accent3>
      <a:accent4>
        <a:srgbClr val="B3402F"/>
      </a:accent4>
      <a:accent5>
        <a:srgbClr val="DFF1E5"/>
      </a:accent5>
      <a:accent6>
        <a:srgbClr val="F8E3DF"/>
      </a:accent6>
      <a:hlink>
        <a:srgbClr val="0B7D70"/>
      </a:hlink>
      <a:folHlink>
        <a:srgbClr val="4A4FC0"/>
      </a:folHlink>
    </a:clrScheme>
    <a:fontScheme name="Blueprint reduzier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Nx-Blueprint reduziert</dc:title>
  <dc:subject>PptxGenJS Presentation</dc:subject>
  <dc:creator>Berger Engineering</dc:creator>
  <cp:lastModifiedBy>Berger Engineering</cp:lastModifiedBy>
  <cp:revision>1</cp:revision>
  <dcterms:created xsi:type="dcterms:W3CDTF">2026-10-02T11:43:29Z</dcterms:created>
  <dcterms:modified xsi:type="dcterms:W3CDTF">2026-10-02T11:43:29Z</dcterms:modified>
</cp:coreProperties>
</file>