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19"/>
    <p:sldId id="259" r:id="rId5"/>
    <p:sldId id="260" r:id="rId6"/>
    <p:sldId id="261" r:id="rId7"/>
    <p:sldId id="262" r:id="rId8"/>
    <p:sldId id="263" r:id="rId9"/>
    <p:sldId id="269" r:id="rId20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Überblick: Wir testen nach dem Testing-Honeycomb. Der Schwerpunkt liegt auf Integrationstests pro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Leitprinzip: Interne Zustände, Signal-Werte oder private Methoden werden nicht getestet. Das macht Tests realitätsnah und wartbar.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Breite jeder Schicht steht für die Anzahl der Tests, nicht für ihre Wichtigkeit. Keine Schicht ersetzt eine andere.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 Flow ist kritisch, wenn mindestens eines der vier Kriterien zutrifft. Details zu Umgebung, Testdaten und Ausführungszeitpunkt legt das Projekt 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Test startet das Feature wie ein User: über die Route oder die Feature-Root-Komponente. Jeder Test beschreibt ein User-Szenario. Fehlerfälle über MSW-Handler provozieren.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Isolierte Tests ergänzen Integrationstests gezielt, sie ersetzen sie nicht. Im Zweifel gehört ein Test in den Integrationstest.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 kritischer Flow bekommt zusätzlich zum E2E-Test weiterhin Integrationstests, denn Varianten und Fehlerfälle werden dort günstiger geprüft.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Einheitlicher Werkzeugkasten: Playwright für E2E, Vitest für alles andere, MSW für API-Mocks.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Integrationstests werden groß. Aufteilung nach User-Szenarien und gemeinsames Setup halten sie lesbar. MSW-Handler, Timer und globaler State werden nach jedem Test zurückgesetzt.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Empfehlung, noch offen zur Bestätigung: Handler aus OpenAPI generieren.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 Prozentziel verleitet zu Tests, die Zeilen abdecken statt Verhalten. Nicht-funktionale Tests haben beim Kunden aktuell keine Priorität.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Offene Punkte aus dem Strategiedokument.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Gesamtbild: Die OpenAPI-Spec ist die einzige Quelle für API-Client und Mocks. Unit läuft in Node, Component und Integration im echten Browser mit MSW als Netzwerkgrenze, E2E gegen das echte System. Die Pipeline trennt schnelles PR-Gate von E2E vor dem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Landkarte der Werkzeuge. Neue Werkzeuge, etwa für Accessibility oder Visual Regression, hängen sich in diese Struktur ein, statt eine neue Schicht aufzumachen.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99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9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08A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Testing-Guidelines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359720"/>
            <a:ext cx="10883392" cy="130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</a:t>
            </a:r>
            <a:endParaRPr lang="en-US" sz="4800" dirty="0"/>
          </a:p>
          <a:p>
            <a:pPr algn="l" indent="0" marL="0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Angular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893840"/>
            <a:ext cx="1088339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Wenige End-to-End-Tests, viele Integrationstests,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gezielte isolierte Tests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Für Entwickler und technisches Management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84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testen, was ein User sehen und tun kann.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1666180"/>
            <a:ext cx="3386634" cy="1731963"/>
          </a:xfrm>
          <a:prstGeom prst="roundRect">
            <a:avLst>
              <a:gd name="adj" fmla="val 5866"/>
            </a:avLst>
          </a:prstGeom>
          <a:solidFill>
            <a:srgbClr val="9C3A14"/>
          </a:solidFill>
          <a:ln/>
        </p:spPr>
      </p:sp>
      <p:sp>
        <p:nvSpPr>
          <p:cNvPr id="4" name="Text 2"/>
          <p:cNvSpPr/>
          <p:nvPr/>
        </p:nvSpPr>
        <p:spPr>
          <a:xfrm>
            <a:off x="1117600" y="1970980"/>
            <a:ext cx="286034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die Oberfläche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17600" y="2346821"/>
            <a:ext cx="2860345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Klick, Eingabe und Navigation statt Methodenaufrufen an der Komponente.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02634" y="1666180"/>
            <a:ext cx="3386733" cy="1731963"/>
          </a:xfrm>
          <a:prstGeom prst="roundRect">
            <a:avLst>
              <a:gd name="adj" fmla="val 5866"/>
            </a:avLst>
          </a:prstGeom>
          <a:solidFill>
            <a:srgbClr val="9C3A14"/>
          </a:solidFill>
          <a:ln/>
        </p:spPr>
      </p:sp>
      <p:sp>
        <p:nvSpPr>
          <p:cNvPr id="7" name="Text 5"/>
          <p:cNvSpPr/>
          <p:nvPr/>
        </p:nvSpPr>
        <p:spPr>
          <a:xfrm>
            <a:off x="4707434" y="1970980"/>
            <a:ext cx="2860447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Sichtbares Ergebnis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07434" y="2346821"/>
            <a:ext cx="2860447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 wird, was angezeigt wird und welche Requests das System verlassen.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92566" y="1666180"/>
            <a:ext cx="3386634" cy="1731963"/>
          </a:xfrm>
          <a:prstGeom prst="roundRect">
            <a:avLst>
              <a:gd name="adj" fmla="val 5866"/>
            </a:avLst>
          </a:prstGeom>
          <a:solidFill>
            <a:srgbClr val="9C3A14"/>
          </a:solidFill>
          <a:ln/>
        </p:spPr>
      </p:sp>
      <p:sp>
        <p:nvSpPr>
          <p:cNvPr id="10" name="Text 8"/>
          <p:cNvSpPr/>
          <p:nvPr/>
        </p:nvSpPr>
        <p:spPr>
          <a:xfrm>
            <a:off x="8297366" y="1970980"/>
            <a:ext cx="286034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Refactoring-sicher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97366" y="2346821"/>
            <a:ext cx="2860345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Ändert sich nur die Implementierung, bleibt jeder Test grün.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3804543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D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roter Test heißt: Ein User würde einen Fehler bemerken.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900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E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 Testing-Honeycomb</a:t>
            </a:r>
            <a:endParaRPr lang="en-US" sz="3200" dirty="0"/>
          </a:p>
        </p:txBody>
      </p:sp>
      <p:pic>
        <p:nvPicPr>
          <p:cNvPr id="3" name="Image 0" descr="Honeycomb mit schmaler E2E-Schicht oben, breiter Integrationsschicht in der Mitte und schmaler isolierter Schicht unt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629073"/>
            <a:ext cx="3810000" cy="3556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37150" y="1621730"/>
            <a:ext cx="6235700" cy="992981"/>
          </a:xfrm>
          <a:prstGeom prst="roundRect">
            <a:avLst>
              <a:gd name="adj" fmla="val 9592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397500" y="1831280"/>
            <a:ext cx="588645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End-to-End-Tests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397500" y="2156321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 gegen echtes Backend, nur geschäftskritische Flows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140325" y="2782987"/>
            <a:ext cx="6229350" cy="1248172"/>
          </a:xfrm>
          <a:prstGeom prst="roundRect">
            <a:avLst>
              <a:gd name="adj" fmla="val 7377"/>
            </a:avLst>
          </a:prstGeom>
          <a:solidFill>
            <a:srgbClr val="FBEEE6"/>
          </a:solidFill>
          <a:ln w="19050">
            <a:solidFill>
              <a:srgbClr val="B8461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3850" y="2995712"/>
            <a:ext cx="5873369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Integrationstests </a:t>
            </a: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Schwerpunkt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03850" y="3320752"/>
            <a:ext cx="5873369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 + MSW, mindestens einer pro Feature, echte Komponenten, Services, Router, Stores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137150" y="4199434"/>
            <a:ext cx="6235700" cy="992981"/>
          </a:xfrm>
          <a:prstGeom prst="roundRect">
            <a:avLst>
              <a:gd name="adj" fmla="val 9592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97500" y="4408984"/>
            <a:ext cx="588645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Isolierte Tests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397500" y="4734024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Component-Tests im Browser Mode, Unit-Tests für reine Logik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1888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End-to-End-Tests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1218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 gegen ein echtes System – nur für geschäftskritische Flows.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91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9500" y="2682081"/>
            <a:ext cx="2014474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Ohne den Flow keine Nutzung, z. B. Login, Onboarding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115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719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71900" y="2682081"/>
            <a:ext cx="2014474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Erzeugt Umsatz oder ist der Kernprozess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039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3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4300" y="2682081"/>
            <a:ext cx="2014474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Fehler hätte rechtliche oder Compliance-Folgen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96350" y="2071291"/>
            <a:ext cx="2476500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6700" y="2331641"/>
            <a:ext cx="2014474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56700" y="2682081"/>
            <a:ext cx="2014474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Mehrere Systeme im Zusammenspiel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05090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Happy Path und wichtigste Abbrüche · Varianten gehören in Integrationstests · Flaky Tests werden behoben, nicht ignoriert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84533" y="6238280"/>
            <a:ext cx="2454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Integrationstests pro Feature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1218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 + MSW: ein ganzes Vertical Slice, so echt wie möglich.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325" y="2074466"/>
            <a:ext cx="5168900" cy="2503091"/>
          </a:xfrm>
          <a:prstGeom prst="roundRect">
            <a:avLst>
              <a:gd name="adj" fmla="val 3678"/>
            </a:avLst>
          </a:prstGeom>
          <a:solidFill>
            <a:srgbClr val="FBEEE6"/>
          </a:solidFill>
          <a:ln w="19050">
            <a:solidFill>
              <a:srgbClr val="B846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5850" y="2337991"/>
            <a:ext cx="478110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Echt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70432" y="2713831"/>
            <a:ext cx="4688904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Komponenten, Child-Komponenten, Directives, Pipes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Services, Stores, Guards, Resolver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Router und Routing-Konfiguration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HttpClient inkl. Interceptors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Libraries anderer Slices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300" y="2071291"/>
            <a:ext cx="5162550" cy="2509441"/>
          </a:xfrm>
          <a:prstGeom prst="roundRect">
            <a:avLst>
              <a:gd name="adj" fmla="val 3796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0650" y="2331641"/>
            <a:ext cx="478110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Gemockt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55232" y="2707481"/>
            <a:ext cx="468890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Backend-APIs und WebSockets über MSW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 (OIDC), Feature Flags, Analytics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 über Fake Timers</a:t>
            </a:r>
            <a:endParaRPr lang="en-US" sz="1400" dirty="0"/>
          </a:p>
          <a:p>
            <a:pPr algn="l" marL="169418" indent="-1694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Browser-APIs außerhalb unserer Kontrolle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4942681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Faustregel: Gemockt wird nur, was wir nicht kontrollieren.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92570" y="6238280"/>
            <a:ext cx="2374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Isolierte Tests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9150" y="1621730"/>
            <a:ext cx="5168900" cy="1368822"/>
          </a:xfrm>
          <a:prstGeom prst="roundRect">
            <a:avLst>
              <a:gd name="adj" fmla="val 6959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9500" y="1882080"/>
            <a:ext cx="478764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Component-Test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79500" y="2232521"/>
            <a:ext cx="478764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Komponente, Services und Children gemockt, bedient über das DOM. Läuft im Vitest Browser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03950" y="1621730"/>
            <a:ext cx="5168900" cy="1368822"/>
          </a:xfrm>
          <a:prstGeom prst="roundRect">
            <a:avLst>
              <a:gd name="adj" fmla="val 6959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4300" y="1882080"/>
            <a:ext cx="4787646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Unit-Test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64300" y="2232521"/>
            <a:ext cx="4787646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Reine Logik: Utils, Pipes, Validatoren, Mapper. Läuft in Vitest.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800" y="3352502"/>
            <a:ext cx="10883392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Nur wenn der Integrationstest nicht reicht: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3779143"/>
            <a:ext cx="3386634" cy="853281"/>
          </a:xfrm>
          <a:prstGeom prst="roundRect">
            <a:avLst>
              <a:gd name="adj" fmla="val 11907"/>
            </a:avLst>
          </a:prstGeom>
          <a:solidFill>
            <a:srgbClr val="1B1E24"/>
          </a:solidFill>
          <a:ln/>
        </p:spPr>
        <p:txBody>
          <a:bodyPr wrap="square" lIns="173442" tIns="148042" rIns="84035" bIns="12264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Komplexe Logik mit vielen Kombinationen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02634" y="3779143"/>
            <a:ext cx="3386733" cy="853281"/>
          </a:xfrm>
          <a:prstGeom prst="roundRect">
            <a:avLst>
              <a:gd name="adj" fmla="val 11907"/>
            </a:avLst>
          </a:prstGeom>
          <a:solidFill>
            <a:srgbClr val="1B1E24"/>
          </a:solidFill>
          <a:ln/>
        </p:spPr>
        <p:txBody>
          <a:bodyPr wrap="square" lIns="173442" tIns="148042" rIns="84032" bIns="12264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Wiederverwendbare Design-System-Komponenten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92566" y="3779143"/>
            <a:ext cx="3386634" cy="853281"/>
          </a:xfrm>
          <a:prstGeom prst="roundRect">
            <a:avLst>
              <a:gd name="adj" fmla="val 11907"/>
            </a:avLst>
          </a:prstGeom>
          <a:solidFill>
            <a:srgbClr val="1B1E24"/>
          </a:solidFill>
          <a:ln/>
        </p:spPr>
        <p:txBody>
          <a:bodyPr wrap="square" lIns="173442" tIns="148042" rIns="84035" bIns="122642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Randfälle mit unverhältnismäßigem Setup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 Zweifel: Integrationstest</a:t>
            </a:r>
            <a:endParaRPr lang="en-US" sz="3200" dirty="0"/>
          </a:p>
        </p:txBody>
      </p:sp>
      <p:pic>
        <p:nvPicPr>
          <p:cNvPr id="3" name="Image 0" descr="Entscheidungsbaum: kritischer Flow ergibt E2E-Test, über das Feature testbar ergibt Integrationstest, reine Logik ergibt Unit-Test, sonst Component-Test">    </p:cNvPr>
          <p:cNvPicPr>
            <a:picLocks noChangeAspect="1"/>
          </p:cNvPicPr>
          <p:nvPr/>
        </p:nvPicPr>
        <p:blipFill>
          <a:blip r:embed="rId1"/>
          <a:srcRect l="-20" r="-20" t="0" b="0"/>
          <a:stretch/>
        </p:blipFill>
        <p:spPr>
          <a:xfrm>
            <a:off x="812800" y="1615380"/>
            <a:ext cx="10566400" cy="406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1199713" y="6238280"/>
            <a:ext cx="23028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Tooling pro Schicht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28080"/>
          <a:ext cx="10553700" cy="2577703"/>
        </p:xfrm>
        <a:graphic>
          <a:graphicData uri="http://schemas.openxmlformats.org/drawingml/2006/table">
            <a:tbl>
              <a:tblPr/>
              <a:tblGrid>
                <a:gridCol w="2638425"/>
                <a:gridCol w="2638425"/>
                <a:gridCol w="2638425"/>
                <a:gridCol w="2638425"/>
              </a:tblGrid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Schicht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Runner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Mocking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Umfang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1DC"/>
                    </a:solidFill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End-to-End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Playwright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keins, echtes Backend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wenige kritische Flows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4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B846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Vitest Browser Mode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MSW + externe Provider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mind. 1 pro Feature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Component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Vitest Browser Mode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Services, Children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gezielt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5541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Unit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Vitest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kaum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1E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gezielt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27000" marB="127000" anchor="t">
                    <a:lnL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2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561384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Ergänzende Werkzeuge, etwa für Accessibility, hängen sich in bestehende Tests ein.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188700" y="6238280"/>
            <a:ext cx="241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Struktur und Test-Infrastruktur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615380"/>
            <a:ext cx="4572000" cy="3118644"/>
          </a:xfrm>
          <a:prstGeom prst="roundRect">
            <a:avLst>
              <a:gd name="adj" fmla="val 3258"/>
            </a:avLst>
          </a:prstGeom>
          <a:solidFill>
            <a:srgbClr val="1B1E24"/>
          </a:solidFill>
          <a:ln/>
        </p:spPr>
        <p:txBody>
          <a:bodyPr wrap="square" lIns="224242" tIns="224242" rIns="102322" bIns="224242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features/orders/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orders.routes.ts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testing/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│ ├─ render-orders-feature.ts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│ ├─ orders.handlers.ts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5F3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│ └─ order.builder.ts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08A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orders.create.integration.spec.ts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08A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├─ orders.list.integration.spec.ts</a:t>
            </a:r>
            <a:endParaRPr lang="en-US" sz="1200" dirty="0"/>
          </a:p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08A4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└─ orders.errors.integration.spec.ts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695950" y="1621730"/>
            <a:ext cx="5676900" cy="942181"/>
          </a:xfrm>
          <a:prstGeom prst="roundRect">
            <a:avLst>
              <a:gd name="adj" fmla="val 10110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30900" y="1805880"/>
            <a:ext cx="536321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renderFeature()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30900" y="2130921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Aufruf für Providers, Routing, MSW und externe Mocks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95950" y="2703612"/>
            <a:ext cx="5676900" cy="942181"/>
          </a:xfrm>
          <a:prstGeom prst="roundRect">
            <a:avLst>
              <a:gd name="adj" fmla="val 10110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30900" y="2887762"/>
            <a:ext cx="536321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Test-Data-Builder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30900" y="3212802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Sinnvolle Defaults statt kopierter JSON-Blöcke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95950" y="3785493"/>
            <a:ext cx="5676900" cy="942181"/>
          </a:xfrm>
          <a:prstGeom prst="roundRect">
            <a:avLst>
              <a:gd name="adj" fmla="val 10110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30900" y="3969643"/>
            <a:ext cx="536321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Spec-File pro Szenario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30900" y="4294684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Testnamen beschreiben Verhalten aus User-Sicht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API-Mocks aus dem Vertrag generieren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41218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Weichen Mocks vom Backend ab, bleiben Tests grün – und Produktion bricht.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9150" y="2071291"/>
            <a:ext cx="3373934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9500" y="2331641"/>
            <a:ext cx="2938831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OpenAPI als Quelle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79500" y="2682081"/>
            <a:ext cx="2938831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Typen, MSW-Handler und Beispieldaten werden aus der Spezifikation generiert.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8984" y="2071291"/>
            <a:ext cx="3374033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9334" y="2331641"/>
            <a:ext cx="2938933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Typisierte Mocks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9334" y="2682081"/>
            <a:ext cx="2938933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API-Änderung bricht den Build, statt still zu driften.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8916" y="2071291"/>
            <a:ext cx="3373934" cy="1617663"/>
          </a:xfrm>
          <a:prstGeom prst="roundRect">
            <a:avLst>
              <a:gd name="adj" fmla="val 5888"/>
            </a:avLst>
          </a:prstGeom>
          <a:solidFill>
            <a:srgbClr val="FDFCF9"/>
          </a:solidFill>
          <a:ln w="12700">
            <a:solidFill>
              <a:srgbClr val="E2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9266" y="2331641"/>
            <a:ext cx="2938831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 als Netz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59266" y="2682081"/>
            <a:ext cx="2938831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gegen das echte Backend prüfen den Vertrag end-to-end.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4050903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Bonus: dieselben Handler dienen für lokale Entwicklung ohne Backend und für Storybook.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2210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Feature-Abdeckung statt Prozentzahl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615380"/>
            <a:ext cx="497078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Jedes Feature hat einen </a:t>
            </a:r>
            <a:r>
              <a:rPr lang="en-US" sz="24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Integrationstest</a:t>
            </a:r>
            <a:r>
              <a:rPr lang="en-US" sz="2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Jeder kritische Flow einen </a:t>
            </a:r>
            <a:r>
              <a:rPr lang="en-US" sz="24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E2E-Test</a:t>
            </a:r>
            <a:r>
              <a:rPr lang="en-US" sz="2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9782" y="1615380"/>
            <a:ext cx="5401818" cy="1163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Isolierte und Integrationstests blockieren jeden PR</a:t>
            </a:r>
            <a:endParaRPr lang="en-US" sz="1400" dirty="0"/>
          </a:p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E2E-Tests laufen mindestens vor jedem Release</a:t>
            </a:r>
            <a:endParaRPr lang="en-US" sz="1400" dirty="0"/>
          </a:p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Coverage ist ein Indikator, kein Gate</a:t>
            </a:r>
            <a:endParaRPr lang="en-US" sz="1400" dirty="0"/>
          </a:p>
          <a:p>
            <a:pPr algn="l" marL="169418" indent="-169418">
              <a:lnSpc>
                <a:spcPts val="2240"/>
              </a:lnSpc>
              <a:buSzPct val="100000"/>
              <a:buChar char="•"/>
            </a:pPr>
            <a:r>
              <a:rPr lang="en-US" sz="14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Flaky Tests werden zeitnah behoben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311398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Ausblick: Accessibility und Visual Regression lassen sich später in bestehende Tests einhängen.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255177" y="6238280"/>
            <a:ext cx="1748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95734" y="1615380"/>
            <a:ext cx="10892838" cy="1579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Angular-Zielversion festlegen</a:t>
            </a:r>
            <a:endParaRPr lang="en-US" sz="1800" dirty="0"/>
          </a:p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Umgang mit Mock-Drift bestätigen (OpenAPI-Generierung)</a:t>
            </a:r>
            <a:endParaRPr lang="en-US" sz="1800" dirty="0"/>
          </a:p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E2E: Umgebung, Testdaten und Ausführungszeitpunkt definieren</a:t>
            </a:r>
            <a:endParaRPr lang="en-US" sz="1800" dirty="0"/>
          </a:p>
          <a:p>
            <a:pPr algn="l" marL="271066" indent="-271066">
              <a:lnSpc>
                <a:spcPts val="3060"/>
              </a:lnSpc>
              <a:buSzPct val="100000"/>
              <a:buFontTx/>
              <a:buAutoNum type="arabicPeriod" startAt="1"/>
            </a:pPr>
            <a:r>
              <a:rPr lang="en-US" sz="1800" dirty="0">
                <a:solidFill>
                  <a:srgbClr val="F5F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Kritische User Flows für das Kundenprojekt auflisten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24220" y="6238280"/>
            <a:ext cx="205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101"/>
          <p:cNvSpPr txBox="1"/>
          <p:nvPr/>
        </p:nvSpPr>
        <p:spPr>
          <a:xfrm>
            <a:off x="812902" y="812902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Testing-Architektur im Überblick</a:t>
            </a:r>
            <a:endParaRPr lang="de-DE" sz="3200" dirty="0"/>
          </a:p>
        </p:txBody>
      </p:sp>
      <p:sp>
        <p:nvSpPr>
          <p:cNvPr id="102" name="Text 102"/>
          <p:cNvSpPr txBox="1"/>
          <p:nvPr/>
        </p:nvSpPr>
        <p:spPr>
          <a:xfrm>
            <a:off x="812902" y="1411834"/>
            <a:ext cx="10881360" cy="322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 Vertrag, drei Ausführungsumgebungen, zwei Gates in der Pipeline.</a:t>
            </a:r>
            <a:endParaRPr lang="de-DE" sz="1800" dirty="0"/>
          </a:p>
        </p:txBody>
      </p:sp>
      <p:sp>
        <p:nvSpPr>
          <p:cNvPr id="103" name="Text 103"/>
          <p:cNvSpPr txBox="1"/>
          <p:nvPr/>
        </p:nvSpPr>
        <p:spPr>
          <a:xfrm>
            <a:off x="812902" y="2011680"/>
            <a:ext cx="1051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VERTRAG</a:t>
            </a:r>
            <a:endParaRPr lang="de-DE" sz="1100" dirty="0"/>
          </a:p>
        </p:txBody>
      </p:sp>
      <p:sp>
        <p:nvSpPr>
          <p:cNvPr id="104" name="Text 104"/>
          <p:cNvSpPr txBox="1"/>
          <p:nvPr/>
        </p:nvSpPr>
        <p:spPr>
          <a:xfrm>
            <a:off x="812902" y="3063240"/>
            <a:ext cx="1051560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AUSFÜHRUNG</a:t>
            </a:r>
            <a:endParaRPr lang="de-DE" sz="1100" dirty="0"/>
          </a:p>
        </p:txBody>
      </p:sp>
      <p:sp>
        <p:nvSpPr>
          <p:cNvPr id="105" name="Text 105"/>
          <p:cNvSpPr txBox="1"/>
          <p:nvPr/>
        </p:nvSpPr>
        <p:spPr>
          <a:xfrm>
            <a:off x="812902" y="5120640"/>
            <a:ext cx="10515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  <a:endParaRPr lang="de-DE" sz="1100" dirty="0"/>
          </a:p>
        </p:txBody>
      </p:sp>
      <p:sp>
        <p:nvSpPr>
          <p:cNvPr id="106" name="Card 106"/>
          <p:cNvSpPr/>
          <p:nvPr/>
        </p:nvSpPr>
        <p:spPr>
          <a:xfrm>
            <a:off x="1874520" y="2011680"/>
            <a:ext cx="1691640" cy="731520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OpenAPI-Spec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Backend-Vertrag</a:t>
            </a:r>
            <a:endParaRPr lang="de-DE" sz="1100" dirty="0"/>
          </a:p>
        </p:txBody>
      </p:sp>
      <p:cxnSp>
        <p:nvCxnSpPr>
          <p:cNvPr id="107" name="Arrow 107"/>
          <p:cNvCxnSpPr/>
          <p:nvPr/>
        </p:nvCxnSpPr>
        <p:spPr>
          <a:xfrm>
            <a:off x="3566160" y="2377440"/>
            <a:ext cx="274320" cy="0"/>
          </a:xfrm>
          <a:prstGeom prst="straightConnector1">
            <a:avLst/>
          </a:prstGeom>
          <a:ln w="15875">
            <a:solidFill>
              <a:srgbClr val="5D626B"/>
            </a:solidFill>
            <a:tailEnd type="triangle" w="med" len="med"/>
          </a:ln>
        </p:spPr>
      </p:cxnSp>
      <p:sp>
        <p:nvSpPr>
          <p:cNvPr id="108" name="Card 108"/>
          <p:cNvSpPr/>
          <p:nvPr/>
        </p:nvSpPr>
        <p:spPr>
          <a:xfrm>
            <a:off x="3840480" y="2011680"/>
            <a:ext cx="2194560" cy="731520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Codegen (Nx-Target)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generate-api-client / -testing</a:t>
            </a:r>
            <a:endParaRPr lang="de-DE" sz="1100" dirty="0"/>
          </a:p>
        </p:txBody>
      </p:sp>
      <p:cxnSp>
        <p:nvCxnSpPr>
          <p:cNvPr id="109" name="Arrow 109"/>
          <p:cNvCxnSpPr/>
          <p:nvPr/>
        </p:nvCxnSpPr>
        <p:spPr>
          <a:xfrm>
            <a:off x="6035040" y="2377440"/>
            <a:ext cx="274320" cy="0"/>
          </a:xfrm>
          <a:prstGeom prst="straightConnector1">
            <a:avLst/>
          </a:prstGeom>
          <a:ln w="15875">
            <a:solidFill>
              <a:srgbClr val="5D626B"/>
            </a:solidFill>
            <a:tailEnd type="triangle" w="med" len="med"/>
          </a:ln>
        </p:spPr>
      </p:cxnSp>
      <p:sp>
        <p:nvSpPr>
          <p:cNvPr id="110" name="Card 110"/>
          <p:cNvSpPr/>
          <p:nvPr/>
        </p:nvSpPr>
        <p:spPr>
          <a:xfrm>
            <a:off x="6309360" y="2011680"/>
            <a:ext cx="2697480" cy="731520"/>
          </a:xfrm>
          <a:prstGeom prst="roundRect">
            <a:avLst>
              <a:gd name="adj" fmla="val 8000"/>
            </a:avLst>
          </a:prstGeom>
          <a:solidFill>
            <a:srgbClr val="FBEEE6"/>
          </a:solidFill>
          <a:ln w="12700">
            <a:solidFill>
              <a:srgbClr val="B8461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API-Client &amp; Testing-Lib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Typen · MSW-Handler · Fakes</a:t>
            </a:r>
            <a:endParaRPr lang="de-DE" sz="1100" dirty="0"/>
          </a:p>
        </p:txBody>
      </p:sp>
      <p:sp>
        <p:nvSpPr>
          <p:cNvPr id="111" name="Text 111"/>
          <p:cNvSpPr txBox="1"/>
          <p:nvPr/>
        </p:nvSpPr>
        <p:spPr>
          <a:xfrm>
            <a:off x="9281160" y="2011680"/>
            <a:ext cx="209763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API-Änderung bricht den Build statt still zu driften.</a:t>
            </a:r>
            <a:endParaRPr lang="de-DE" sz="1100" dirty="0"/>
          </a:p>
        </p:txBody>
      </p:sp>
      <p:sp>
        <p:nvSpPr>
          <p:cNvPr id="112" name="Panel 112"/>
          <p:cNvSpPr/>
          <p:nvPr/>
        </p:nvSpPr>
        <p:spPr>
          <a:xfrm>
            <a:off x="1874520" y="306324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</p:sp>
      <p:sp>
        <p:nvSpPr>
          <p:cNvPr id="113" name="Text 113"/>
          <p:cNvSpPr txBox="1"/>
          <p:nvPr/>
        </p:nvSpPr>
        <p:spPr>
          <a:xfrm>
            <a:off x="2039112" y="3191256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5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</a:t>
            </a:r>
            <a:endParaRPr lang="de-DE" sz="1500" dirty="0"/>
          </a:p>
        </p:txBody>
      </p:sp>
      <p:sp>
        <p:nvSpPr>
          <p:cNvPr id="114" name="Text 114"/>
          <p:cNvSpPr txBox="1"/>
          <p:nvPr/>
        </p:nvSpPr>
        <p:spPr>
          <a:xfrm>
            <a:off x="2039112" y="3483864"/>
            <a:ext cx="168249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· Node</a:t>
            </a:r>
            <a:endParaRPr lang="de-DE" sz="1100" dirty="0"/>
          </a:p>
        </p:txBody>
      </p:sp>
      <p:sp>
        <p:nvSpPr>
          <p:cNvPr id="115" name="Chip 115"/>
          <p:cNvSpPr/>
          <p:nvPr/>
        </p:nvSpPr>
        <p:spPr>
          <a:xfrm>
            <a:off x="2039112" y="3840480"/>
            <a:ext cx="168249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Reine Logik</a:t>
            </a:r>
            <a:endParaRPr lang="de-DE" sz="1100" dirty="0"/>
          </a:p>
        </p:txBody>
      </p:sp>
      <p:sp>
        <p:nvSpPr>
          <p:cNvPr id="116" name="Chip 116"/>
          <p:cNvSpPr/>
          <p:nvPr/>
        </p:nvSpPr>
        <p:spPr>
          <a:xfrm>
            <a:off x="2039112" y="4178808"/>
            <a:ext cx="168249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Utils, Pipes, Mapper</a:t>
            </a:r>
            <a:endParaRPr lang="de-DE" sz="1100" dirty="0"/>
          </a:p>
        </p:txBody>
      </p:sp>
      <p:sp>
        <p:nvSpPr>
          <p:cNvPr id="117" name="Panel 117"/>
          <p:cNvSpPr/>
          <p:nvPr/>
        </p:nvSpPr>
        <p:spPr>
          <a:xfrm>
            <a:off x="4160520" y="3063240"/>
            <a:ext cx="4846320" cy="1828800"/>
          </a:xfrm>
          <a:prstGeom prst="roundRect">
            <a:avLst>
              <a:gd name="adj" fmla="val 5000"/>
            </a:avLst>
          </a:prstGeom>
          <a:solidFill>
            <a:srgbClr val="FBEEE6"/>
          </a:solidFill>
          <a:ln w="12700">
            <a:solidFill>
              <a:srgbClr val="B8461A"/>
            </a:solidFill>
          </a:ln>
        </p:spPr>
      </p:sp>
      <p:sp>
        <p:nvSpPr>
          <p:cNvPr id="118" name="Text 118"/>
          <p:cNvSpPr txBox="1"/>
          <p:nvPr/>
        </p:nvSpPr>
        <p:spPr>
          <a:xfrm>
            <a:off x="4325112" y="3191256"/>
            <a:ext cx="451713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5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 &amp; Integration</a:t>
            </a:r>
            <a:endParaRPr lang="de-DE" sz="1500" dirty="0"/>
          </a:p>
        </p:txBody>
      </p:sp>
      <p:sp>
        <p:nvSpPr>
          <p:cNvPr id="119" name="Text 119"/>
          <p:cNvSpPr txBox="1"/>
          <p:nvPr/>
        </p:nvSpPr>
        <p:spPr>
          <a:xfrm>
            <a:off x="4325112" y="3483864"/>
            <a:ext cx="451713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 · Chromium via Playwright</a:t>
            </a:r>
            <a:endParaRPr lang="de-DE" sz="1100" dirty="0"/>
          </a:p>
        </p:txBody>
      </p:sp>
      <p:sp>
        <p:nvSpPr>
          <p:cNvPr id="120" name="Chip 120"/>
          <p:cNvSpPr/>
          <p:nvPr/>
        </p:nvSpPr>
        <p:spPr>
          <a:xfrm>
            <a:off x="4325112" y="3840480"/>
            <a:ext cx="451713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renderFeature(): echte Komponenten, Router, Stores</a:t>
            </a:r>
            <a:endParaRPr lang="de-DE" sz="1100" dirty="0"/>
          </a:p>
        </p:txBody>
      </p:sp>
      <p:sp>
        <p:nvSpPr>
          <p:cNvPr id="121" name="Chip 121"/>
          <p:cNvSpPr/>
          <p:nvPr/>
        </p:nvSpPr>
        <p:spPr>
          <a:xfrm>
            <a:off x="4325112" y="4178808"/>
            <a:ext cx="451713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HttpClient + Interceptors echt</a:t>
            </a:r>
            <a:endParaRPr lang="de-DE" sz="1100" dirty="0"/>
          </a:p>
        </p:txBody>
      </p:sp>
      <p:sp>
        <p:nvSpPr>
          <p:cNvPr id="122" name="Chip 122"/>
          <p:cNvSpPr/>
          <p:nvPr/>
        </p:nvSpPr>
        <p:spPr>
          <a:xfrm>
            <a:off x="4325112" y="4517136"/>
            <a:ext cx="4517136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MSW Service Worker beantwortet Requests</a:t>
            </a:r>
            <a:endParaRPr lang="de-DE" sz="1100" dirty="0"/>
          </a:p>
        </p:txBody>
      </p:sp>
      <p:sp>
        <p:nvSpPr>
          <p:cNvPr id="123" name="Panel 123"/>
          <p:cNvSpPr/>
          <p:nvPr/>
        </p:nvSpPr>
        <p:spPr>
          <a:xfrm>
            <a:off x="9281160" y="3063240"/>
            <a:ext cx="2097634" cy="1828800"/>
          </a:xfrm>
          <a:prstGeom prst="roundRect">
            <a:avLst>
              <a:gd name="adj" fmla="val 5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</p:sp>
      <p:sp>
        <p:nvSpPr>
          <p:cNvPr id="124" name="Text 124"/>
          <p:cNvSpPr txBox="1"/>
          <p:nvPr/>
        </p:nvSpPr>
        <p:spPr>
          <a:xfrm>
            <a:off x="9445752" y="3191256"/>
            <a:ext cx="176845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5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</a:t>
            </a:r>
            <a:endParaRPr lang="de-DE" sz="1500" dirty="0"/>
          </a:p>
        </p:txBody>
      </p:sp>
      <p:sp>
        <p:nvSpPr>
          <p:cNvPr id="125" name="Text 125"/>
          <p:cNvSpPr txBox="1"/>
          <p:nvPr/>
        </p:nvSpPr>
        <p:spPr>
          <a:xfrm>
            <a:off x="9445752" y="3483864"/>
            <a:ext cx="176845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</a:t>
            </a:r>
            <a:endParaRPr lang="de-DE" sz="1100" dirty="0"/>
          </a:p>
        </p:txBody>
      </p:sp>
      <p:sp>
        <p:nvSpPr>
          <p:cNvPr id="126" name="Chip 126"/>
          <p:cNvSpPr/>
          <p:nvPr/>
        </p:nvSpPr>
        <p:spPr>
          <a:xfrm>
            <a:off x="9445752" y="3840480"/>
            <a:ext cx="1768450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Deployte App</a:t>
            </a:r>
            <a:endParaRPr lang="de-DE" sz="1100" dirty="0"/>
          </a:p>
        </p:txBody>
      </p:sp>
      <p:sp>
        <p:nvSpPr>
          <p:cNvPr id="127" name="Chip 127"/>
          <p:cNvSpPr/>
          <p:nvPr/>
        </p:nvSpPr>
        <p:spPr>
          <a:xfrm>
            <a:off x="9445752" y="4178808"/>
            <a:ext cx="1768450" cy="2743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Echtes Backend</a:t>
            </a:r>
            <a:endParaRPr lang="de-DE" sz="1100" dirty="0"/>
          </a:p>
        </p:txBody>
      </p:sp>
      <p:cxnSp>
        <p:nvCxnSpPr>
          <p:cNvPr id="128" name="Arrow 128"/>
          <p:cNvCxnSpPr/>
          <p:nvPr/>
        </p:nvCxnSpPr>
        <p:spPr>
          <a:xfrm>
            <a:off x="7658100" y="2743200"/>
            <a:ext cx="0" cy="320040"/>
          </a:xfrm>
          <a:prstGeom prst="straightConnector1">
            <a:avLst/>
          </a:prstGeom>
          <a:ln w="15875">
            <a:solidFill>
              <a:srgbClr val="B8461A"/>
            </a:solidFill>
            <a:prstDash val="dash"/>
            <a:tailEnd type="triangle" w="med" len="med"/>
          </a:ln>
        </p:spPr>
      </p:cxnSp>
      <p:sp>
        <p:nvSpPr>
          <p:cNvPr id="129" name="Text 129"/>
          <p:cNvSpPr txBox="1"/>
          <p:nvPr/>
        </p:nvSpPr>
        <p:spPr>
          <a:xfrm>
            <a:off x="7726680" y="276148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0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Handler</a:t>
            </a:r>
            <a:endParaRPr lang="de-DE" sz="1000" dirty="0"/>
          </a:p>
        </p:txBody>
      </p:sp>
      <p:sp>
        <p:nvSpPr>
          <p:cNvPr id="130" name="Card 130"/>
          <p:cNvSpPr/>
          <p:nvPr/>
        </p:nvSpPr>
        <p:spPr>
          <a:xfrm>
            <a:off x="1874520" y="5120640"/>
            <a:ext cx="7132320" cy="566928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PR-Gate · nx affected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Unit, Component und Integration blockieren den Merge · Coverage (v8) nur als Indikator</a:t>
            </a:r>
            <a:endParaRPr lang="de-DE" sz="1100" dirty="0"/>
          </a:p>
        </p:txBody>
      </p:sp>
      <p:sp>
        <p:nvSpPr>
          <p:cNvPr id="131" name="Card 131"/>
          <p:cNvSpPr/>
          <p:nvPr/>
        </p:nvSpPr>
        <p:spPr>
          <a:xfrm>
            <a:off x="9281160" y="5120640"/>
            <a:ext cx="2097634" cy="566928"/>
          </a:xfrm>
          <a:prstGeom prst="roundRect">
            <a:avLst>
              <a:gd name="adj" fmla="val 8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de-DE" sz="14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Release-Gate</a:t>
            </a:r>
            <a:endParaRPr lang="de-DE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E2E vor jedem Release</a:t>
            </a:r>
            <a:endParaRPr lang="de-DE" sz="11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132"/>
          <p:cNvSpPr txBox="1"/>
          <p:nvPr/>
        </p:nvSpPr>
        <p:spPr>
          <a:xfrm>
            <a:off x="812902" y="812902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32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Werkzeuge und ihre Rolle</a:t>
            </a:r>
            <a:endParaRPr lang="de-DE" sz="3200" dirty="0"/>
          </a:p>
        </p:txBody>
      </p:sp>
      <p:sp>
        <p:nvSpPr>
          <p:cNvPr id="133" name="Text 133"/>
          <p:cNvSpPr txBox="1"/>
          <p:nvPr/>
        </p:nvSpPr>
        <p:spPr>
          <a:xfrm>
            <a:off x="812902" y="1411834"/>
            <a:ext cx="10881360" cy="322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de-DE" sz="18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Jedes Werkzeug hat genau eine Aufgabe – zusammen bilden sie die Architektur.</a:t>
            </a:r>
            <a:endParaRPr lang="de-DE" sz="1800" dirty="0"/>
          </a:p>
        </p:txBody>
      </p:sp>
      <p:sp>
        <p:nvSpPr>
          <p:cNvPr id="134" name="Tool 134"/>
          <p:cNvSpPr/>
          <p:nvPr/>
        </p:nvSpPr>
        <p:spPr>
          <a:xfrm>
            <a:off x="812902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Runner für Unit-, Component- und Integrationstests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· Component · Integration</a:t>
            </a:r>
            <a:endParaRPr lang="de-DE" sz="1100" dirty="0"/>
          </a:p>
        </p:txBody>
      </p:sp>
      <p:sp>
        <p:nvSpPr>
          <p:cNvPr id="135" name="Tool 135"/>
          <p:cNvSpPr/>
          <p:nvPr/>
        </p:nvSpPr>
        <p:spPr>
          <a:xfrm>
            <a:off x="3511525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Vitest Browser Mode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laufen in echtem Chromium, Provider Playwright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 · Integration</a:t>
            </a:r>
            <a:endParaRPr lang="de-DE" sz="1100" dirty="0"/>
          </a:p>
        </p:txBody>
      </p:sp>
      <p:sp>
        <p:nvSpPr>
          <p:cNvPr id="136" name="Tool 136"/>
          <p:cNvSpPr/>
          <p:nvPr/>
        </p:nvSpPr>
        <p:spPr>
          <a:xfrm>
            <a:off x="6210148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Playwright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Steuert den Browser gegen die deployte App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</a:t>
            </a:r>
            <a:endParaRPr lang="de-DE" sz="1100" dirty="0"/>
          </a:p>
        </p:txBody>
      </p:sp>
      <p:sp>
        <p:nvSpPr>
          <p:cNvPr id="137" name="Tool 137"/>
          <p:cNvSpPr/>
          <p:nvPr/>
        </p:nvSpPr>
        <p:spPr>
          <a:xfrm>
            <a:off x="8908771" y="210312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MSW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Fängt HTTP im Service Worker ab: die Netzwerkgrenze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· Component · lokal</a:t>
            </a:r>
            <a:endParaRPr lang="de-DE" sz="1100" dirty="0"/>
          </a:p>
        </p:txBody>
      </p:sp>
      <p:sp>
        <p:nvSpPr>
          <p:cNvPr id="138" name="Tool 138"/>
          <p:cNvSpPr/>
          <p:nvPr/>
        </p:nvSpPr>
        <p:spPr>
          <a:xfrm>
            <a:off x="812902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OpenAPI-Codegen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Client, Typen und MSW-Handler aus der Spec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Vertrag</a:t>
            </a:r>
            <a:endParaRPr lang="de-DE" sz="1100" dirty="0"/>
          </a:p>
        </p:txBody>
      </p:sp>
      <p:sp>
        <p:nvSpPr>
          <p:cNvPr id="139" name="Tool 139"/>
          <p:cNvSpPr/>
          <p:nvPr/>
        </p:nvSpPr>
        <p:spPr>
          <a:xfrm>
            <a:off x="3511525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Faker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Stabile, geseedete Beispieldaten in den Mocks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Testdaten</a:t>
            </a:r>
            <a:endParaRPr lang="de-DE" sz="1100" dirty="0"/>
          </a:p>
        </p:txBody>
      </p:sp>
      <p:sp>
        <p:nvSpPr>
          <p:cNvPr id="140" name="Tool 140"/>
          <p:cNvSpPr/>
          <p:nvPr/>
        </p:nvSpPr>
        <p:spPr>
          <a:xfrm>
            <a:off x="6210148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Nx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Codegen-Targets, affected-Runs, Cache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  <a:endParaRPr lang="de-DE" sz="1100" dirty="0"/>
          </a:p>
        </p:txBody>
      </p:sp>
      <p:sp>
        <p:nvSpPr>
          <p:cNvPr id="141" name="Tool 141"/>
          <p:cNvSpPr/>
          <p:nvPr/>
        </p:nvSpPr>
        <p:spPr>
          <a:xfrm>
            <a:off x="8908771" y="3840480"/>
            <a:ext cx="2470023" cy="15087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12700">
            <a:solidFill>
              <a:srgbClr val="E2DED4"/>
            </a:solidFill>
          </a:ln>
        </p:spPr>
        <p:txBody>
          <a:bodyPr wrap="square" lIns="182880" tIns="182880" rIns="182880" bIns="182880" rtlCol="0" anchor="t">
            <a:noAutofit/>
          </a:bodyPr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de-DE" sz="1700" b="1" dirty="0">
                <a:solidFill>
                  <a:srgbClr val="1B1E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 v8</a:t>
            </a:r>
            <a:endParaRPr lang="de-DE" sz="17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de-DE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Abdeckung sichtbar machen, kein Gate</a:t>
            </a:r>
            <a:endParaRPr lang="de-DE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de-DE" sz="1100" b="1" dirty="0">
                <a:solidFill>
                  <a:srgbClr val="B846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</a:t>
            </a:r>
            <a:endParaRPr lang="de-DE" sz="11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87638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Frontend-Testing-Strategie für Angular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88502" y="6238280"/>
            <a:ext cx="2414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D62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Frontend-Testing-Strategie für Angular</dc:title>
  <dc:subject>PptxGenJS Presentation</dc:subject>
  <dc:creator>PptxGenJS</dc:creator>
  <cp:lastModifiedBy>PptxGenJS</cp:lastModifiedBy>
  <cp:revision>1</cp:revision>
  <dcterms:created xsi:type="dcterms:W3CDTF">2026-09-30T06:12:44Z</dcterms:created>
  <dcterms:modified xsi:type="dcterms:W3CDTF">2026-09-30T06:12:44Z</dcterms:modified>
</cp:coreProperties>
</file>