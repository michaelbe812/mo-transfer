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df3ed115-8ee9-33c1-0f00-10ea8ffe0413}">
          <p14:sldIdLst>
            <p14:sldId id="256"/>
          </p14:sldIdLst>
        </p14:section>
        <p14:section name="Nx Cache" id="{3a4731b1-b919-f361-668b-ac9ab7600c11}">
          <p14:sldIdLst>
            <p14:sldId id="257"/>
            <p14:sldId id="258"/>
            <p14:sldId id="259"/>
            <p14:sldId id="260"/>
            <p14:sldId id="261"/>
            <p14:sldId id="262"/>
          </p14:sldIdLst>
        </p14:section>
        <p14:section name="Unser Remote Cache" id="{1414afca-132f-f990-b99b-eebea410aaaa}">
          <p14:sldIdLst>
            <p14:sldId id="263"/>
            <p14:sldId id="264"/>
            <p14:sldId id="265"/>
            <p14:sldId id="266"/>
            <p14:sldId id="267"/>
            <p14:sldId id="268"/>
            <p14:sldId id="269"/>
            <p14:sldId id="270"/>
            <p14:sldId id="271"/>
          </p14:sldIdLst>
        </p14:section>
        <p14:section name="Fazit" id="{a2201cae-8a34-8dbc-cc7f-1eaba5f874e4}">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Teile: zuerst wie der Nx Cache grundsätzlich funktioniert, dann wie unser selbst gehosteter Remote Cache aufgebaut ist und warum.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Teil 1: Grundlagen des Nx Computation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 jedem Task berechnet Nx einen Hash aus Quellen, Abhängigkeits-Inputs, Lockfile, Runtime-Werten und den Target-Optionen. Dieser Hash ist der Schlüssel im Cache. Was nicht als Input deklariert ist, fließt nicht ein – das ist die häufigste Quelle falscher Treffer.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Ablauf ist immer gleich: Hash berechnen, zuerst im lokalen Cache unter .nx/cache nachschauen, dann im Remote Cache. Erst wenn beide nichts haben, läuft der Task wirklich. Das Ergebnis wird lokal gespeichert und – wenn erlaubt – hochgeladen. In der Konsole sieht man den Treffer an [local cache] bzw. [remote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Eintrag stecken die deklarierten Outputs, die Terminal-Ausgabe und Metadaten. Lokal liegt das unter .nx/cache, remote als Objekt unter dem Hash. Wichtig: Nx kennt nur, was deklariert ist – fehlende Outputs oder Inputs sind die typischen Cache-Fehler.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Ohne Remote Cache baut jeder denselben Stand selbst, CI meist sogar ohne jeden Cache. Mit Remote Cache wird ein Hash einmal gebaut und von allen anderen geladen. Genau dieses Teilen ist aber auch das Sicherheitsrisiko –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CREEP, CVE-2025-36852: Wenn PR-Pipelines mit demselben Credential schreiben dürfen wie main, kann ein PR ein manipuliertes Artefakt unter einem Hash ablegen, den main später als Treffer nimmt. Die offiziellen Pakete @nx/s3-cache und @nx/azure-cache sind seit 21.05.2026 deprecated. Unser Server setzt die Gegenmaßnahmen 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Teil 2: Aufbau und Verhalten von packages/nx-remote-cache-custom.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Arten von Clients mit je eigenem Token. Davor ein TLS-Proxy, der große Bodies durchlässt und nicht puffert. Der Server selbst ist zustandslos: Auth, Routen nach Nx-Spec, Prüfungen und ein Storage-Service mit zwei Backends, MinIO/S3 und Azure Blob. Aufräumen übernimmt die Lifecycle-Regel des Speichers.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Rollen über drei Token-Listen. CI schreibt und liest nur trusted/. Entwickler lesen zuerst dev/, dann trusted/, und schreiben nur dev/. PR-Pipelines lesen trusted/ und dürfen gar nicht schreiben. Gleicher Hash heißt nicht gleiches Artefakt – andere Node-Version, nicht deklarierte Env-Variablen – deshalb kommt nichts vom Laptop in CI-Builds. Ein geleakter Dev-Token kann trusted/ nicht vergiften.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Lesen: Der Server ermittelt aus dem Token die Rolle und damit die Namespaces in fester Reihenfolge. Der erste Treffer wird direkt gestreamt, ohne Pufferung im Speicher. Der Header x-nx-cache-namespace zeigt, woher der Treffer kam. Kein Treffer: 404, Nx baut dann selbst.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Schreiben durchläuft sieben Stufen: Token, Schreibrecht der Rolle, Hash-Format, Content-Length, Größenlimit, Vorprüfung ob der Hash in einem lesbaren Namespace schon existiert, und schließlich der bedingte Put. Erst dann 200. Der Body wird gestreamt; die Vorprüfung spart das Hochladen bereits vorhandener Einträge.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Write-once wird nicht im Server per Lock gelöst, sondern atomar im Speicher: S3 und MinIO mit If-None-Match: * beim PutObject, Azure beim Commit der Block-Liste. Bei parallelen Writern gewinnt genau einer, der andere bekommt 409. Damit kann ein einmal abgelegtes Artefakt nicht nachträglich ersetzt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sechs Schritte prüft der E2E-Test gegen MinIO und Azurite mit dem echten Nx-Client. Wichtig ist Schritt 3: CI ignoriert den Dev-Eintrag und baut selbst. In Schritt 5 läuft die PR-Pipeline normal durch, nur der Upload wird abgelehnt.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Server löscht nie. Aufgeräumt wird über Lifecycle-Regeln im Backend je Präfix, Vorschlag 14 Tage für trusted/, 3 Tage für dev/. Ein Treffer verlängert nichts. Bei Verdacht auf ein kaputtes Artefakt einfach das Präfix löschen.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Nx braucht nur zwei Variablen: Server-URL und Token. Entwickler setzen ihren persönlichen Token lokal, CI wählt den Token anhand des Branches: nur main bekommt den CI-Token. Prüfen mit nx reset und einem Build – in der Ausgabe muss [remote cache]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Zusammengefasst: Der Hash bestimmt, was wiederverwendet wird. Der Remote Cache macht das teamweit nutzbar. Unser eigener Server sorgt dafür, dass nur CI auf main vertrauenswürdige Einträge schreibt. Details und Betriebs-Checkliste: packages/nx-remote-cache-custom/README.md.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1822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6400800" cy="365760"/>
          </a:xfrm>
          <a:prstGeom prst="rect">
            <a:avLst/>
          </a:prstGeom>
          <a:noFill/>
          <a:ln/>
        </p:spPr>
        <p:txBody>
          <a:bodyPr wrap="square" rtlCol="0"/>
          <a:lstStyle>
            <a:lvl1pPr indent="0" marL="0">
              <a:buNone/>
              <a:defRPr lang="en-US" sz="1200" spc="200" kern="0" dirty="0">
                <a:solidFill>
                  <a:srgbClr val="7FD1C4"/>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965960"/>
            <a:ext cx="658368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749040"/>
            <a:ext cx="6035040" cy="1097280"/>
          </a:xfrm>
          <a:prstGeom prst="rect">
            <a:avLst/>
          </a:prstGeom>
          <a:noFill/>
          <a:ln/>
        </p:spPr>
        <p:txBody>
          <a:bodyPr wrap="square" rtlCol="0"/>
          <a:lstStyle>
            <a:lvl1pPr indent="0" marL="0">
              <a:buNone/>
              <a:defRPr lang="en-US" sz="1600" dirty="0">
                <a:solidFill>
                  <a:srgbClr val="C9D3DA"/>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PITEL">
    <p:bg>
      <p:bgPr>
        <a:solidFill>
          <a:srgbClr val="1822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365760"/>
          </a:xfrm>
          <a:prstGeom prst="rect">
            <a:avLst/>
          </a:prstGeom>
          <a:noFill/>
          <a:ln/>
        </p:spPr>
        <p:txBody>
          <a:bodyPr wrap="square" rtlCol="0"/>
          <a:lstStyle>
            <a:lvl1pPr indent="0" marL="0">
              <a:buNone/>
              <a:defRPr lang="en-US" sz="1200" spc="200" kern="0" dirty="0">
                <a:solidFill>
                  <a:srgbClr val="7FD1C4"/>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2788920"/>
            <a:ext cx="100584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794760"/>
            <a:ext cx="8229600" cy="822960"/>
          </a:xfrm>
          <a:prstGeom prst="rect">
            <a:avLst/>
          </a:prstGeom>
          <a:noFill/>
          <a:ln/>
        </p:spPr>
        <p:txBody>
          <a:bodyPr wrap="square" rtlCol="0"/>
          <a:lstStyle>
            <a:lvl1pPr indent="0" marL="0">
              <a:buNone/>
              <a:defRPr lang="en-US" sz="1600" dirty="0">
                <a:solidFill>
                  <a:srgbClr val="C9D3DA"/>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6A1"/>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chemeClr val="tx2"/>
                </a:solidFill>
                <a:latin typeface="Courier New" pitchFamily="34" charset="0"/>
                <a:ea typeface="Courier New" pitchFamily="34" charset="-122"/>
                <a:cs typeface="Courier New" pitchFamily="34" charset="-120"/>
              </a:rPr>
              <a:t>Nx Remote Cache · mo-transfer</a:t>
            </a:r>
            <a:endParaRPr lang="en-US" sz="900" dirty="0"/>
          </a:p>
        </p:txBody>
      </p:sp>
      <p:sp>
        <p:nvSpPr>
          <p:cNvPr id="3" name="Text 1"/>
          <p:cNvSpPr/>
          <p:nvPr>
            <p:ph idx="101" type="body" hasCustomPrompt="1"/>
          </p:nvPr>
        </p:nvSpPr>
        <p:spPr>
          <a:xfrm>
            <a:off x="548640" y="365760"/>
            <a:ext cx="8229600" cy="274320"/>
          </a:xfrm>
          <a:prstGeom prst="rect">
            <a:avLst/>
          </a:prstGeom>
          <a:noFill/>
          <a:ln/>
        </p:spPr>
        <p:txBody>
          <a:bodyPr wrap="square" rtlCol="0"/>
          <a:lstStyle>
            <a:lvl1pPr indent="0" marL="0">
              <a:buNone/>
              <a:defRPr lang="en-US" sz="1100" b="1" spc="20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100" dirty="0"/>
          </a:p>
        </p:txBody>
      </p:sp>
      <p:sp>
        <p:nvSpPr>
          <p:cNvPr id="4" name="Text 1"/>
          <p:cNvSpPr/>
          <p:nvPr>
            <p:ph idx="102" type="title" hasCustomPrompt="1"/>
          </p:nvPr>
        </p:nvSpPr>
        <p:spPr>
          <a:xfrm>
            <a:off x="548640" y="658368"/>
            <a:ext cx="11094415" cy="594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5" name="Text 1"/>
          <p:cNvSpPr/>
          <p:nvPr>
            <p:ph idx="103" type="body" hasCustomPrompt="1"/>
          </p:nvPr>
        </p:nvSpPr>
        <p:spPr>
          <a:xfrm>
            <a:off x="548640" y="1280160"/>
            <a:ext cx="11094415" cy="365760"/>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6A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6400800" cy="365760"/>
          </a:xfrm>
          <a:prstGeom prst="rect">
            <a:avLst/>
          </a:prstGeom>
          <a:noFill/>
          <a:ln/>
        </p:spPr>
        <p:txBody>
          <a:bodyPr wrap="square" lIns="0" tIns="0" rIns="0" bIns="0" rtlCol="0"/>
          <a:lstStyle/>
          <a:p>
            <a:pPr indent="0" marL="0">
              <a:buNone/>
            </a:pPr>
            <a:r>
              <a:rPr lang="en-US" sz="1200" spc="200" kern="0" dirty="0">
                <a:solidFill>
                  <a:srgbClr val="7FD1C4"/>
                </a:solidFill>
                <a:latin typeface="Courier New" pitchFamily="34" charset="0"/>
                <a:ea typeface="Courier New" pitchFamily="34" charset="-122"/>
                <a:cs typeface="Courier New" pitchFamily="34" charset="-120"/>
              </a:rPr>
              <a:t>NX-CACHE · MO-TRANSFER</a:t>
            </a:r>
            <a:endParaRPr lang="en-US" sz="1200" dirty="0"/>
          </a:p>
        </p:txBody>
      </p:sp>
      <p:sp>
        <p:nvSpPr>
          <p:cNvPr id="3" name="Text 0"/>
          <p:cNvSpPr/>
          <p:nvPr>
            <p:ph idx="101" type="title" hasCustomPrompt="1"/>
          </p:nvPr>
        </p:nvSpPr>
        <p:spPr>
          <a:xfrm>
            <a:off x="548640" y="1965960"/>
            <a:ext cx="6583680" cy="1645920"/>
          </a:xfrm>
          <a:prstGeom prst="rect">
            <a:avLst/>
          </a:prstGeom>
          <a:noFill/>
          <a:ln/>
        </p:spPr>
        <p:txBody>
          <a:bodyPr wrap="square" lIns="0" tIns="0" rIns="0" bIns="0" rtlCol="0" anchor="t"/>
          <a:lstStyle/>
          <a:p>
            <a:pPr algn="l" indent="0" marL="0">
              <a:buNone/>
            </a:pPr>
            <a:r>
              <a:rPr lang="en-US" sz="4400" b="1" dirty="0">
                <a:solidFill>
                  <a:schemeClr val="bg1"/>
                </a:solidFill>
              </a:rPr>
              <a:t>Nx Cache und unser eigener Remote Cache</a:t>
            </a:r>
            <a:endParaRPr lang="en-US" sz="4400" dirty="0"/>
          </a:p>
        </p:txBody>
      </p:sp>
      <p:sp>
        <p:nvSpPr>
          <p:cNvPr id="4" name="Text 0"/>
          <p:cNvSpPr/>
          <p:nvPr>
            <p:ph idx="102" type="body" hasCustomPrompt="1"/>
          </p:nvPr>
        </p:nvSpPr>
        <p:spPr>
          <a:xfrm>
            <a:off x="548640" y="3749040"/>
            <a:ext cx="6035040" cy="1097280"/>
          </a:xfrm>
          <a:prstGeom prst="rect">
            <a:avLst/>
          </a:prstGeom>
          <a:noFill/>
          <a:ln/>
        </p:spPr>
        <p:txBody>
          <a:bodyPr wrap="square" lIns="0" tIns="0" rIns="0" bIns="0" rtlCol="0" anchor="t"/>
          <a:lstStyle/>
          <a:p>
            <a:pPr indent="0" marL="0">
              <a:buNone/>
            </a:pPr>
            <a:r>
              <a:rPr lang="en-US" sz="1600" dirty="0">
                <a:solidFill>
                  <a:srgbClr val="C9D3DA"/>
                </a:solidFill>
              </a:rPr>
              <a:t>Wie Nx Ergebnisse wiederverwendet und wie wir sie sicher zwischen CI und Entwicklern teilen</a:t>
            </a:r>
            <a:endParaRPr lang="en-US" sz="1600" dirty="0"/>
          </a:p>
        </p:txBody>
      </p:sp>
      <p:sp>
        <p:nvSpPr>
          <p:cNvPr id="5" name="Text 3"/>
          <p:cNvSpPr/>
          <p:nvPr/>
        </p:nvSpPr>
        <p:spPr>
          <a:xfrm>
            <a:off x="7863840" y="1737360"/>
            <a:ext cx="1463040" cy="420624"/>
          </a:xfrm>
          <a:prstGeom prst="roundRect">
            <a:avLst>
              <a:gd name="adj" fmla="val 17391"/>
            </a:avLst>
          </a:prstGeom>
          <a:solidFill>
            <a:srgbClr val="24313C"/>
          </a:solidFill>
          <a:ln w="12700">
            <a:solidFill>
              <a:srgbClr val="35444F"/>
            </a:solidFill>
          </a:ln>
        </p:spPr>
        <p:txBody>
          <a:bodyPr wrap="square" lIns="76200" tIns="76200" rIns="76200" bIns="76200" rtlCol="0" anchor="ctr"/>
          <a:lstStyle/>
          <a:p>
            <a:pPr algn="ctr" indent="0" marL="0">
              <a:buNone/>
            </a:pPr>
            <a:r>
              <a:rPr lang="en-US" sz="1100" dirty="0">
                <a:solidFill>
                  <a:srgbClr val="C9D3DA"/>
                </a:solidFill>
                <a:latin typeface="Courier New" pitchFamily="34" charset="0"/>
                <a:ea typeface="Courier New" pitchFamily="34" charset="-122"/>
                <a:cs typeface="Courier New" pitchFamily="34" charset="-120"/>
              </a:rPr>
              <a:t>src/**</a:t>
            </a:r>
            <a:endParaRPr lang="en-US" sz="1100" dirty="0"/>
          </a:p>
        </p:txBody>
      </p:sp>
      <p:sp>
        <p:nvSpPr>
          <p:cNvPr id="6" name="arrow"/>
          <p:cNvSpPr/>
          <p:nvPr/>
        </p:nvSpPr>
        <p:spPr>
          <a:xfrm>
            <a:off x="9326880" y="1947672"/>
            <a:ext cx="594360" cy="566928"/>
          </a:xfrm>
          <a:prstGeom prst="line">
            <a:avLst/>
          </a:prstGeom>
          <a:noFill/>
          <a:ln w="22225">
            <a:solidFill>
              <a:srgbClr val="5B6873"/>
            </a:solidFill>
            <a:prstDash val="solid"/>
            <a:tailEnd type="triangle"/>
          </a:ln>
        </p:spPr>
      </p:sp>
      <p:sp>
        <p:nvSpPr>
          <p:cNvPr id="7" name="Text 5"/>
          <p:cNvSpPr/>
          <p:nvPr/>
        </p:nvSpPr>
        <p:spPr>
          <a:xfrm>
            <a:off x="7863840" y="2304288"/>
            <a:ext cx="1463040" cy="420624"/>
          </a:xfrm>
          <a:prstGeom prst="roundRect">
            <a:avLst>
              <a:gd name="adj" fmla="val 17391"/>
            </a:avLst>
          </a:prstGeom>
          <a:solidFill>
            <a:srgbClr val="24313C"/>
          </a:solidFill>
          <a:ln w="12700">
            <a:solidFill>
              <a:srgbClr val="35444F"/>
            </a:solidFill>
          </a:ln>
        </p:spPr>
        <p:txBody>
          <a:bodyPr wrap="square" lIns="76200" tIns="76200" rIns="76200" bIns="76200" rtlCol="0" anchor="ctr"/>
          <a:lstStyle/>
          <a:p>
            <a:pPr algn="ctr" indent="0" marL="0">
              <a:buNone/>
            </a:pPr>
            <a:r>
              <a:rPr lang="en-US" sz="1100" dirty="0">
                <a:solidFill>
                  <a:srgbClr val="C9D3DA"/>
                </a:solidFill>
                <a:latin typeface="Courier New" pitchFamily="34" charset="0"/>
                <a:ea typeface="Courier New" pitchFamily="34" charset="-122"/>
                <a:cs typeface="Courier New" pitchFamily="34" charset="-120"/>
              </a:rPr>
              <a:t>package.json</a:t>
            </a:r>
            <a:endParaRPr lang="en-US" sz="1100" dirty="0"/>
          </a:p>
        </p:txBody>
      </p:sp>
      <p:sp>
        <p:nvSpPr>
          <p:cNvPr id="8" name="arrow"/>
          <p:cNvSpPr/>
          <p:nvPr/>
        </p:nvSpPr>
        <p:spPr>
          <a:xfrm>
            <a:off x="9326880" y="2514600"/>
            <a:ext cx="594360" cy="0"/>
          </a:xfrm>
          <a:prstGeom prst="line">
            <a:avLst/>
          </a:prstGeom>
          <a:noFill/>
          <a:ln w="22225">
            <a:solidFill>
              <a:srgbClr val="5B6873"/>
            </a:solidFill>
            <a:prstDash val="solid"/>
            <a:tailEnd type="triangle"/>
          </a:ln>
        </p:spPr>
      </p:sp>
      <p:sp>
        <p:nvSpPr>
          <p:cNvPr id="9" name="Text 7"/>
          <p:cNvSpPr/>
          <p:nvPr/>
        </p:nvSpPr>
        <p:spPr>
          <a:xfrm>
            <a:off x="7863840" y="2871216"/>
            <a:ext cx="1463040" cy="420624"/>
          </a:xfrm>
          <a:prstGeom prst="roundRect">
            <a:avLst>
              <a:gd name="adj" fmla="val 17391"/>
            </a:avLst>
          </a:prstGeom>
          <a:solidFill>
            <a:srgbClr val="24313C"/>
          </a:solidFill>
          <a:ln w="12700">
            <a:solidFill>
              <a:srgbClr val="35444F"/>
            </a:solidFill>
          </a:ln>
        </p:spPr>
        <p:txBody>
          <a:bodyPr wrap="square" lIns="76200" tIns="76200" rIns="76200" bIns="76200" rtlCol="0" anchor="ctr"/>
          <a:lstStyle/>
          <a:p>
            <a:pPr algn="ctr" indent="0" marL="0">
              <a:buNone/>
            </a:pPr>
            <a:r>
              <a:rPr lang="en-US" sz="1100" dirty="0">
                <a:solidFill>
                  <a:srgbClr val="C9D3DA"/>
                </a:solidFill>
                <a:latin typeface="Courier New" pitchFamily="34" charset="0"/>
                <a:ea typeface="Courier New" pitchFamily="34" charset="-122"/>
                <a:cs typeface="Courier New" pitchFamily="34" charset="-120"/>
              </a:rPr>
              <a:t>node 22</a:t>
            </a:r>
            <a:endParaRPr lang="en-US" sz="1100" dirty="0"/>
          </a:p>
        </p:txBody>
      </p:sp>
      <p:sp>
        <p:nvSpPr>
          <p:cNvPr id="10" name="arrow"/>
          <p:cNvSpPr/>
          <p:nvPr/>
        </p:nvSpPr>
        <p:spPr>
          <a:xfrm flipV="1">
            <a:off x="9326880" y="2514600"/>
            <a:ext cx="594360" cy="566928"/>
          </a:xfrm>
          <a:prstGeom prst="line">
            <a:avLst/>
          </a:prstGeom>
          <a:noFill/>
          <a:ln w="22225">
            <a:solidFill>
              <a:srgbClr val="5B6873"/>
            </a:solidFill>
            <a:prstDash val="solid"/>
            <a:tailEnd type="triangle"/>
          </a:ln>
        </p:spPr>
      </p:sp>
      <p:sp>
        <p:nvSpPr>
          <p:cNvPr id="11" name="Text 9"/>
          <p:cNvSpPr/>
          <p:nvPr/>
        </p:nvSpPr>
        <p:spPr>
          <a:xfrm>
            <a:off x="9921240" y="2286000"/>
            <a:ext cx="1371600" cy="457200"/>
          </a:xfrm>
          <a:prstGeom prst="roundRect">
            <a:avLst>
              <a:gd name="adj" fmla="val 16000"/>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#hash</a:t>
            </a:r>
            <a:endParaRPr lang="en-US" sz="1400" dirty="0"/>
          </a:p>
        </p:txBody>
      </p:sp>
      <p:sp>
        <p:nvSpPr>
          <p:cNvPr id="12" name="arrow"/>
          <p:cNvSpPr/>
          <p:nvPr/>
        </p:nvSpPr>
        <p:spPr>
          <a:xfrm>
            <a:off x="10607040" y="2743200"/>
            <a:ext cx="0" cy="685800"/>
          </a:xfrm>
          <a:prstGeom prst="line">
            <a:avLst/>
          </a:prstGeom>
          <a:noFill/>
          <a:ln w="22225">
            <a:solidFill>
              <a:srgbClr val="7FD1C4"/>
            </a:solidFill>
            <a:prstDash val="solid"/>
            <a:tailEnd type="triangle"/>
          </a:ln>
        </p:spPr>
      </p:sp>
      <p:sp>
        <p:nvSpPr>
          <p:cNvPr id="13" name="storage"/>
          <p:cNvSpPr/>
          <p:nvPr/>
        </p:nvSpPr>
        <p:spPr>
          <a:xfrm>
            <a:off x="9966960" y="3474720"/>
            <a:ext cx="1280160" cy="1097280"/>
          </a:xfrm>
          <a:prstGeom prst="can">
            <a:avLst/>
          </a:prstGeom>
          <a:solidFill>
            <a:srgbClr val="24313C"/>
          </a:solidFill>
          <a:ln w="12700">
            <a:solidFill>
              <a:srgbClr val="7FD1C4"/>
            </a:solidFill>
          </a:ln>
        </p:spPr>
        <p:txBody>
          <a:bodyPr wrap="square" lIns="50800" tIns="50800" rIns="50800" bIns="50800" rtlCol="0" anchor="ctr"/>
          <a:lstStyle/>
          <a:p>
            <a:pPr algn="ctr" indent="0" marL="0">
              <a:buNone/>
            </a:pPr>
            <a:r>
              <a:rPr lang="en-US" sz="1300" b="1" dirty="0">
                <a:solidFill>
                  <a:srgbClr val="7FD1C4"/>
                </a:solidFill>
              </a:rPr>
              <a:t>Cache</a:t>
            </a:r>
            <a:endParaRPr lang="en-US" sz="1300" dirty="0"/>
          </a:p>
        </p:txBody>
      </p:sp>
      <p:sp>
        <p:nvSpPr>
          <p:cNvPr id="14" name="Text 12"/>
          <p:cNvSpPr txBox="1"/>
          <p:nvPr/>
        </p:nvSpPr>
        <p:spPr>
          <a:xfrm>
            <a:off x="548640" y="5943600"/>
            <a:ext cx="5486400" cy="274320"/>
          </a:xfrm>
          <a:prstGeom prst="rect">
            <a:avLst/>
          </a:prstGeom>
          <a:noFill/>
          <a:ln/>
        </p:spPr>
        <p:txBody>
          <a:bodyPr wrap="square" lIns="0" tIns="0" rIns="0" bIns="0" rtlCol="0" anchor="t"/>
          <a:lstStyle/>
          <a:p>
            <a:pPr indent="0" marL="0">
              <a:buNone/>
            </a:pPr>
            <a:r>
              <a:rPr lang="en-US" sz="1100" dirty="0">
                <a:solidFill>
                  <a:srgbClr val="8796A1"/>
                </a:solidFill>
                <a:latin typeface="Courier New" pitchFamily="34" charset="0"/>
                <a:ea typeface="Courier New" pitchFamily="34" charset="-122"/>
                <a:cs typeface="Courier New" pitchFamily="34" charset="-120"/>
              </a:rPr>
              <a:t>Michael Berger · Berger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365760"/>
          </a:xfrm>
          <a:prstGeom prst="rect">
            <a:avLst/>
          </a:prstGeom>
          <a:noFill/>
          <a:ln/>
        </p:spPr>
        <p:txBody>
          <a:bodyPr wrap="square" lIns="0" tIns="0" rIns="0" bIns="0" rtlCol="0"/>
          <a:lstStyle/>
          <a:p>
            <a:pPr indent="0" marL="0">
              <a:buNone/>
            </a:pPr>
            <a:r>
              <a:rPr lang="en-US" sz="1200" spc="200" kern="0" dirty="0">
                <a:solidFill>
                  <a:srgbClr val="7FD1C4"/>
                </a:solidFill>
                <a:latin typeface="Courier New" pitchFamily="34" charset="0"/>
                <a:ea typeface="Courier New" pitchFamily="34" charset="-122"/>
                <a:cs typeface="Courier New" pitchFamily="34" charset="-120"/>
              </a:rPr>
              <a:t>TEIL 1</a:t>
            </a:r>
            <a:endParaRPr lang="en-US" sz="1200" dirty="0"/>
          </a:p>
        </p:txBody>
      </p:sp>
      <p:sp>
        <p:nvSpPr>
          <p:cNvPr id="3" name="Text 0"/>
          <p:cNvSpPr/>
          <p:nvPr>
            <p:ph idx="101" type="title" hasCustomPrompt="1"/>
          </p:nvPr>
        </p:nvSpPr>
        <p:spPr>
          <a:xfrm>
            <a:off x="548640" y="27889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Wie der Nx Cache funktioniert</a:t>
            </a:r>
            <a:endParaRPr lang="en-US" sz="4000" dirty="0"/>
          </a:p>
        </p:txBody>
      </p:sp>
      <p:sp>
        <p:nvSpPr>
          <p:cNvPr id="4" name="Text 0"/>
          <p:cNvSpPr/>
          <p:nvPr>
            <p:ph idx="102" type="body" hasCustomPrompt="1"/>
          </p:nvPr>
        </p:nvSpPr>
        <p:spPr>
          <a:xfrm>
            <a:off x="548640" y="3794760"/>
            <a:ext cx="8229600" cy="822960"/>
          </a:xfrm>
          <a:prstGeom prst="rect">
            <a:avLst/>
          </a:prstGeom>
          <a:noFill/>
          <a:ln/>
        </p:spPr>
        <p:txBody>
          <a:bodyPr wrap="square" lIns="0" tIns="0" rIns="0" bIns="0" rtlCol="0" anchor="t"/>
          <a:lstStyle/>
          <a:p>
            <a:pPr indent="0" marL="0">
              <a:buNone/>
            </a:pPr>
            <a:r>
              <a:rPr lang="en-US" sz="1600" dirty="0">
                <a:solidFill>
                  <a:srgbClr val="C9D3DA"/>
                </a:solidFill>
              </a:rPr>
              <a:t>Hash berechnen, nachschlagen, wiederherstellen statt neu rechnen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6A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COMPUTATION HASH</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Der Hash ist der Schlüssel</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Nx fasst alles, was ein Task-Ergebnis beeinflussen kann, zu einem Hash zusammen</a:t>
            </a:r>
            <a:endParaRPr lang="en-US" sz="1500" dirty="0"/>
          </a:p>
        </p:txBody>
      </p:sp>
      <p:sp>
        <p:nvSpPr>
          <p:cNvPr id="5" name="input-card"/>
          <p:cNvSpPr/>
          <p:nvPr/>
        </p:nvSpPr>
        <p:spPr>
          <a:xfrm>
            <a:off x="548640" y="1874520"/>
            <a:ext cx="3931920" cy="658368"/>
          </a:xfrm>
          <a:prstGeom prst="roundRect">
            <a:avLst>
              <a:gd name="adj" fmla="val 11111"/>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6" name="icon-bg"/>
          <p:cNvSpPr/>
          <p:nvPr/>
        </p:nvSpPr>
        <p:spPr>
          <a:xfrm>
            <a:off x="676656" y="1975104"/>
            <a:ext cx="457200" cy="457200"/>
          </a:xfrm>
          <a:prstGeom prst="ellipse">
            <a:avLst/>
          </a:prstGeom>
          <a:solidFill>
            <a:schemeClr val="accent5"/>
          </a:solidFill>
          <a:ln w="12700">
            <a:solidFill>
              <a:schemeClr val="accent5"/>
            </a:solidFill>
            <a:prstDash val="solid"/>
          </a:ln>
        </p:spPr>
      </p:sp>
      <p:pic>
        <p:nvPicPr>
          <p:cNvPr id="7" name="icon-FaFileCode" descr="preencoded.png">    </p:cNvPr>
          <p:cNvPicPr>
            <a:picLocks noChangeAspect="1"/>
          </p:cNvPicPr>
          <p:nvPr/>
        </p:nvPicPr>
        <p:blipFill>
          <a:blip r:embed="rId1"/>
          <a:stretch>
            <a:fillRect/>
          </a:stretch>
        </p:blipFill>
        <p:spPr>
          <a:xfrm>
            <a:off x="786384" y="2084832"/>
            <a:ext cx="237744" cy="237744"/>
          </a:xfrm>
          <a:prstGeom prst="rect">
            <a:avLst/>
          </a:prstGeom>
        </p:spPr>
      </p:pic>
      <p:sp>
        <p:nvSpPr>
          <p:cNvPr id="8" name="Text 5"/>
          <p:cNvSpPr txBox="1"/>
          <p:nvPr/>
        </p:nvSpPr>
        <p:spPr>
          <a:xfrm>
            <a:off x="1280160" y="1965960"/>
            <a:ext cx="3108960" cy="512064"/>
          </a:xfrm>
          <a:prstGeom prst="rect">
            <a:avLst/>
          </a:prstGeom>
          <a:noFill/>
          <a:ln/>
        </p:spPr>
        <p:txBody>
          <a:bodyPr wrap="square" lIns="0" tIns="0" rIns="0" bIns="0" rtlCol="0" anchor="ctr"/>
          <a:lstStyle/>
          <a:p>
            <a:pPr indent="0" marL="0">
              <a:buNone/>
            </a:pPr>
            <a:r>
              <a:rPr lang="en-US" sz="1400" b="1" dirty="0">
                <a:solidFill>
                  <a:schemeClr val="tx1"/>
                </a:solidFill>
              </a:rPr>
              <a:t>Quelldateien des Projekts</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inputs: default / production</a:t>
            </a:r>
            <a:endParaRPr lang="en-US" sz="1400" dirty="0"/>
          </a:p>
        </p:txBody>
      </p:sp>
      <p:sp>
        <p:nvSpPr>
          <p:cNvPr id="9" name="arrow"/>
          <p:cNvSpPr/>
          <p:nvPr/>
        </p:nvSpPr>
        <p:spPr>
          <a:xfrm>
            <a:off x="4480560" y="2203704"/>
            <a:ext cx="1280160" cy="1508760"/>
          </a:xfrm>
          <a:prstGeom prst="line">
            <a:avLst/>
          </a:prstGeom>
          <a:noFill/>
          <a:ln w="15875">
            <a:solidFill>
              <a:srgbClr val="A9B4BC"/>
            </a:solidFill>
            <a:prstDash val="solid"/>
            <a:tailEnd type="triangle"/>
          </a:ln>
        </p:spPr>
      </p:sp>
      <p:sp>
        <p:nvSpPr>
          <p:cNvPr id="10" name="input-card"/>
          <p:cNvSpPr/>
          <p:nvPr/>
        </p:nvSpPr>
        <p:spPr>
          <a:xfrm>
            <a:off x="548640" y="2679192"/>
            <a:ext cx="3931920" cy="658368"/>
          </a:xfrm>
          <a:prstGeom prst="roundRect">
            <a:avLst>
              <a:gd name="adj" fmla="val 11111"/>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1" name="icon-bg"/>
          <p:cNvSpPr/>
          <p:nvPr/>
        </p:nvSpPr>
        <p:spPr>
          <a:xfrm>
            <a:off x="676656" y="2779776"/>
            <a:ext cx="457200" cy="457200"/>
          </a:xfrm>
          <a:prstGeom prst="ellipse">
            <a:avLst/>
          </a:prstGeom>
          <a:solidFill>
            <a:schemeClr val="accent5"/>
          </a:solidFill>
          <a:ln w="12700">
            <a:solidFill>
              <a:schemeClr val="accent5"/>
            </a:solidFill>
            <a:prstDash val="solid"/>
          </a:ln>
        </p:spPr>
      </p:sp>
      <p:pic>
        <p:nvPicPr>
          <p:cNvPr id="12" name="icon-FaProjectDiagram" descr="preencoded.png">    </p:cNvPr>
          <p:cNvPicPr>
            <a:picLocks noChangeAspect="1"/>
          </p:cNvPicPr>
          <p:nvPr/>
        </p:nvPicPr>
        <p:blipFill>
          <a:blip r:embed="rId2"/>
          <a:stretch>
            <a:fillRect/>
          </a:stretch>
        </p:blipFill>
        <p:spPr>
          <a:xfrm>
            <a:off x="786384" y="2889504"/>
            <a:ext cx="237744" cy="237744"/>
          </a:xfrm>
          <a:prstGeom prst="rect">
            <a:avLst/>
          </a:prstGeom>
        </p:spPr>
      </p:pic>
      <p:sp>
        <p:nvSpPr>
          <p:cNvPr id="13" name="Text 9"/>
          <p:cNvSpPr txBox="1"/>
          <p:nvPr/>
        </p:nvSpPr>
        <p:spPr>
          <a:xfrm>
            <a:off x="1280160" y="2770632"/>
            <a:ext cx="3108960" cy="512064"/>
          </a:xfrm>
          <a:prstGeom prst="rect">
            <a:avLst/>
          </a:prstGeom>
          <a:noFill/>
          <a:ln/>
        </p:spPr>
        <p:txBody>
          <a:bodyPr wrap="square" lIns="0" tIns="0" rIns="0" bIns="0" rtlCol="0" anchor="ctr"/>
          <a:lstStyle/>
          <a:p>
            <a:pPr indent="0" marL="0">
              <a:buNone/>
            </a:pPr>
            <a:r>
              <a:rPr lang="en-US" sz="1400" b="1" dirty="0">
                <a:solidFill>
                  <a:schemeClr val="tx1"/>
                </a:solidFill>
              </a:rPr>
              <a:t>Inputs der Abhängigkeiten</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^default, ^production</a:t>
            </a:r>
            <a:endParaRPr lang="en-US" sz="1400" dirty="0"/>
          </a:p>
        </p:txBody>
      </p:sp>
      <p:sp>
        <p:nvSpPr>
          <p:cNvPr id="14" name="arrow"/>
          <p:cNvSpPr/>
          <p:nvPr/>
        </p:nvSpPr>
        <p:spPr>
          <a:xfrm>
            <a:off x="4480560" y="3008376"/>
            <a:ext cx="1280160" cy="704088"/>
          </a:xfrm>
          <a:prstGeom prst="line">
            <a:avLst/>
          </a:prstGeom>
          <a:noFill/>
          <a:ln w="15875">
            <a:solidFill>
              <a:srgbClr val="A9B4BC"/>
            </a:solidFill>
            <a:prstDash val="solid"/>
            <a:tailEnd type="triangle"/>
          </a:ln>
        </p:spPr>
      </p:sp>
      <p:sp>
        <p:nvSpPr>
          <p:cNvPr id="15" name="input-card"/>
          <p:cNvSpPr/>
          <p:nvPr/>
        </p:nvSpPr>
        <p:spPr>
          <a:xfrm>
            <a:off x="548640" y="3483864"/>
            <a:ext cx="3931920" cy="658368"/>
          </a:xfrm>
          <a:prstGeom prst="roundRect">
            <a:avLst>
              <a:gd name="adj" fmla="val 11111"/>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6" name="icon-bg"/>
          <p:cNvSpPr/>
          <p:nvPr/>
        </p:nvSpPr>
        <p:spPr>
          <a:xfrm>
            <a:off x="676656" y="3584448"/>
            <a:ext cx="457200" cy="457200"/>
          </a:xfrm>
          <a:prstGeom prst="ellipse">
            <a:avLst/>
          </a:prstGeom>
          <a:solidFill>
            <a:schemeClr val="accent5"/>
          </a:solidFill>
          <a:ln w="12700">
            <a:solidFill>
              <a:schemeClr val="accent5"/>
            </a:solidFill>
            <a:prstDash val="solid"/>
          </a:ln>
        </p:spPr>
      </p:sp>
      <p:pic>
        <p:nvPicPr>
          <p:cNvPr id="17" name="icon-FaCube" descr="preencoded.png">    </p:cNvPr>
          <p:cNvPicPr>
            <a:picLocks noChangeAspect="1"/>
          </p:cNvPicPr>
          <p:nvPr/>
        </p:nvPicPr>
        <p:blipFill>
          <a:blip r:embed="rId3"/>
          <a:stretch>
            <a:fillRect/>
          </a:stretch>
        </p:blipFill>
        <p:spPr>
          <a:xfrm>
            <a:off x="786384" y="3694176"/>
            <a:ext cx="237744" cy="237744"/>
          </a:xfrm>
          <a:prstGeom prst="rect">
            <a:avLst/>
          </a:prstGeom>
        </p:spPr>
      </p:pic>
      <p:sp>
        <p:nvSpPr>
          <p:cNvPr id="18" name="Text 13"/>
          <p:cNvSpPr txBox="1"/>
          <p:nvPr/>
        </p:nvSpPr>
        <p:spPr>
          <a:xfrm>
            <a:off x="1280160" y="3575304"/>
            <a:ext cx="3108960" cy="512064"/>
          </a:xfrm>
          <a:prstGeom prst="rect">
            <a:avLst/>
          </a:prstGeom>
          <a:noFill/>
          <a:ln/>
        </p:spPr>
        <p:txBody>
          <a:bodyPr wrap="square" lIns="0" tIns="0" rIns="0" bIns="0" rtlCol="0" anchor="ctr"/>
          <a:lstStyle/>
          <a:p>
            <a:pPr indent="0" marL="0">
              <a:buNone/>
            </a:pPr>
            <a:r>
              <a:rPr lang="en-US" sz="1400" b="1" dirty="0">
                <a:solidFill>
                  <a:schemeClr val="tx1"/>
                </a:solidFill>
              </a:rPr>
              <a:t>Externe Pakete</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Versionen aus dem Lockfile</a:t>
            </a:r>
            <a:endParaRPr lang="en-US" sz="1400" dirty="0"/>
          </a:p>
        </p:txBody>
      </p:sp>
      <p:sp>
        <p:nvSpPr>
          <p:cNvPr id="19" name="arrow"/>
          <p:cNvSpPr/>
          <p:nvPr/>
        </p:nvSpPr>
        <p:spPr>
          <a:xfrm flipV="1">
            <a:off x="4480560" y="3712464"/>
            <a:ext cx="1280160" cy="100584"/>
          </a:xfrm>
          <a:prstGeom prst="line">
            <a:avLst/>
          </a:prstGeom>
          <a:noFill/>
          <a:ln w="15875">
            <a:solidFill>
              <a:srgbClr val="A9B4BC"/>
            </a:solidFill>
            <a:prstDash val="solid"/>
            <a:tailEnd type="triangle"/>
          </a:ln>
        </p:spPr>
      </p:sp>
      <p:sp>
        <p:nvSpPr>
          <p:cNvPr id="20" name="input-card"/>
          <p:cNvSpPr/>
          <p:nvPr/>
        </p:nvSpPr>
        <p:spPr>
          <a:xfrm>
            <a:off x="548640" y="4288536"/>
            <a:ext cx="3931920" cy="658368"/>
          </a:xfrm>
          <a:prstGeom prst="roundRect">
            <a:avLst>
              <a:gd name="adj" fmla="val 11111"/>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1" name="icon-bg"/>
          <p:cNvSpPr/>
          <p:nvPr/>
        </p:nvSpPr>
        <p:spPr>
          <a:xfrm>
            <a:off x="676656" y="4389120"/>
            <a:ext cx="457200" cy="457200"/>
          </a:xfrm>
          <a:prstGeom prst="ellipse">
            <a:avLst/>
          </a:prstGeom>
          <a:solidFill>
            <a:schemeClr val="accent5"/>
          </a:solidFill>
          <a:ln w="12700">
            <a:solidFill>
              <a:schemeClr val="accent5"/>
            </a:solidFill>
            <a:prstDash val="solid"/>
          </a:ln>
        </p:spPr>
      </p:sp>
      <p:pic>
        <p:nvPicPr>
          <p:cNvPr id="22" name="icon-FaCogs" descr="preencoded.png">    </p:cNvPr>
          <p:cNvPicPr>
            <a:picLocks noChangeAspect="1"/>
          </p:cNvPicPr>
          <p:nvPr/>
        </p:nvPicPr>
        <p:blipFill>
          <a:blip r:embed="rId4"/>
          <a:stretch>
            <a:fillRect/>
          </a:stretch>
        </p:blipFill>
        <p:spPr>
          <a:xfrm>
            <a:off x="786384" y="4498848"/>
            <a:ext cx="237744" cy="237744"/>
          </a:xfrm>
          <a:prstGeom prst="rect">
            <a:avLst/>
          </a:prstGeom>
        </p:spPr>
      </p:pic>
      <p:sp>
        <p:nvSpPr>
          <p:cNvPr id="23" name="Text 17"/>
          <p:cNvSpPr txBox="1"/>
          <p:nvPr/>
        </p:nvSpPr>
        <p:spPr>
          <a:xfrm>
            <a:off x="1280160" y="4379976"/>
            <a:ext cx="3108960" cy="512064"/>
          </a:xfrm>
          <a:prstGeom prst="rect">
            <a:avLst/>
          </a:prstGeom>
          <a:noFill/>
          <a:ln/>
        </p:spPr>
        <p:txBody>
          <a:bodyPr wrap="square" lIns="0" tIns="0" rIns="0" bIns="0" rtlCol="0" anchor="ctr"/>
          <a:lstStyle/>
          <a:p>
            <a:pPr indent="0" marL="0">
              <a:buNone/>
            </a:pPr>
            <a:r>
              <a:rPr lang="en-US" sz="1400" b="1" dirty="0">
                <a:solidFill>
                  <a:schemeClr val="tx1"/>
                </a:solidFill>
              </a:rPr>
              <a:t>Runtime und Umgebung</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z. B. Node-Version, deklarierte Env-Vars</a:t>
            </a:r>
            <a:endParaRPr lang="en-US" sz="1400" dirty="0"/>
          </a:p>
        </p:txBody>
      </p:sp>
      <p:sp>
        <p:nvSpPr>
          <p:cNvPr id="24" name="arrow"/>
          <p:cNvSpPr/>
          <p:nvPr/>
        </p:nvSpPr>
        <p:spPr>
          <a:xfrm flipV="1">
            <a:off x="4480560" y="3712464"/>
            <a:ext cx="1280160" cy="905256"/>
          </a:xfrm>
          <a:prstGeom prst="line">
            <a:avLst/>
          </a:prstGeom>
          <a:noFill/>
          <a:ln w="15875">
            <a:solidFill>
              <a:srgbClr val="A9B4BC"/>
            </a:solidFill>
            <a:prstDash val="solid"/>
            <a:tailEnd type="triangle"/>
          </a:ln>
        </p:spPr>
      </p:sp>
      <p:sp>
        <p:nvSpPr>
          <p:cNvPr id="25" name="input-card"/>
          <p:cNvSpPr/>
          <p:nvPr/>
        </p:nvSpPr>
        <p:spPr>
          <a:xfrm>
            <a:off x="548640" y="5093208"/>
            <a:ext cx="3931920" cy="658368"/>
          </a:xfrm>
          <a:prstGeom prst="roundRect">
            <a:avLst>
              <a:gd name="adj" fmla="val 11111"/>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6" name="icon-bg"/>
          <p:cNvSpPr/>
          <p:nvPr/>
        </p:nvSpPr>
        <p:spPr>
          <a:xfrm>
            <a:off x="676656" y="5193792"/>
            <a:ext cx="457200" cy="457200"/>
          </a:xfrm>
          <a:prstGeom prst="ellipse">
            <a:avLst/>
          </a:prstGeom>
          <a:solidFill>
            <a:schemeClr val="accent5"/>
          </a:solidFill>
          <a:ln w="12700">
            <a:solidFill>
              <a:schemeClr val="accent5"/>
            </a:solidFill>
            <a:prstDash val="solid"/>
          </a:ln>
        </p:spPr>
      </p:sp>
      <p:pic>
        <p:nvPicPr>
          <p:cNvPr id="27" name="icon-FaTerminal" descr="preencoded.png">    </p:cNvPr>
          <p:cNvPicPr>
            <a:picLocks noChangeAspect="1"/>
          </p:cNvPicPr>
          <p:nvPr/>
        </p:nvPicPr>
        <p:blipFill>
          <a:blip r:embed="rId5"/>
          <a:stretch>
            <a:fillRect/>
          </a:stretch>
        </p:blipFill>
        <p:spPr>
          <a:xfrm>
            <a:off x="786384" y="5303520"/>
            <a:ext cx="237744" cy="237744"/>
          </a:xfrm>
          <a:prstGeom prst="rect">
            <a:avLst/>
          </a:prstGeom>
        </p:spPr>
      </p:pic>
      <p:sp>
        <p:nvSpPr>
          <p:cNvPr id="28" name="Text 21"/>
          <p:cNvSpPr txBox="1"/>
          <p:nvPr/>
        </p:nvSpPr>
        <p:spPr>
          <a:xfrm>
            <a:off x="1280160" y="5184648"/>
            <a:ext cx="3108960" cy="512064"/>
          </a:xfrm>
          <a:prstGeom prst="rect">
            <a:avLst/>
          </a:prstGeom>
          <a:noFill/>
          <a:ln/>
        </p:spPr>
        <p:txBody>
          <a:bodyPr wrap="square" lIns="0" tIns="0" rIns="0" bIns="0" rtlCol="0" anchor="ctr"/>
          <a:lstStyle/>
          <a:p>
            <a:pPr indent="0" marL="0">
              <a:buNone/>
            </a:pPr>
            <a:r>
              <a:rPr lang="en-US" sz="1400" b="1" dirty="0">
                <a:solidFill>
                  <a:schemeClr val="tx1"/>
                </a:solidFill>
              </a:rPr>
              <a:t>Target und Optionen</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Executor, Args, Konfiguration</a:t>
            </a:r>
            <a:endParaRPr lang="en-US" sz="1400" dirty="0"/>
          </a:p>
        </p:txBody>
      </p:sp>
      <p:sp>
        <p:nvSpPr>
          <p:cNvPr id="29" name="arrow"/>
          <p:cNvSpPr/>
          <p:nvPr/>
        </p:nvSpPr>
        <p:spPr>
          <a:xfrm flipV="1">
            <a:off x="4480560" y="3712464"/>
            <a:ext cx="1280160" cy="1709928"/>
          </a:xfrm>
          <a:prstGeom prst="line">
            <a:avLst/>
          </a:prstGeom>
          <a:noFill/>
          <a:ln w="15875">
            <a:solidFill>
              <a:srgbClr val="A9B4BC"/>
            </a:solidFill>
            <a:prstDash val="solid"/>
            <a:tailEnd type="triangle"/>
          </a:ln>
        </p:spPr>
      </p:sp>
      <p:sp>
        <p:nvSpPr>
          <p:cNvPr id="30" name="hash"/>
          <p:cNvSpPr/>
          <p:nvPr/>
        </p:nvSpPr>
        <p:spPr>
          <a:xfrm>
            <a:off x="5760720" y="3072384"/>
            <a:ext cx="2377440" cy="1280160"/>
          </a:xfrm>
          <a:prstGeom prst="roundRect">
            <a:avLst>
              <a:gd name="adj" fmla="val 5714"/>
            </a:avLst>
          </a:prstGeom>
          <a:solidFill>
            <a:schemeClr val="tx1"/>
          </a:solidFill>
          <a:ln w="12700">
            <a:solidFill>
              <a:schemeClr val="tx1"/>
            </a:solidFill>
          </a:ln>
        </p:spPr>
        <p:txBody>
          <a:bodyPr wrap="square" lIns="76200" tIns="76200" rIns="76200" bIns="76200" rtlCol="0" anchor="ctr"/>
          <a:lstStyle/>
          <a:p>
            <a:pPr algn="ctr" indent="0" marL="0">
              <a:buNone/>
            </a:pPr>
            <a:endParaRPr lang="en-US" sz="1400" dirty="0"/>
          </a:p>
        </p:txBody>
      </p:sp>
      <p:sp>
        <p:nvSpPr>
          <p:cNvPr id="31" name="Text 24"/>
          <p:cNvSpPr txBox="1"/>
          <p:nvPr/>
        </p:nvSpPr>
        <p:spPr>
          <a:xfrm>
            <a:off x="5897880" y="3200400"/>
            <a:ext cx="2103120" cy="1005840"/>
          </a:xfrm>
          <a:prstGeom prst="rect">
            <a:avLst/>
          </a:prstGeom>
          <a:noFill/>
          <a:ln/>
        </p:spPr>
        <p:txBody>
          <a:bodyPr wrap="square" lIns="0" tIns="0" rIns="0" bIns="0" rtlCol="0" anchor="ctr"/>
          <a:lstStyle/>
          <a:p>
            <a:pPr algn="ctr" indent="0" marL="0">
              <a:buNone/>
            </a:pPr>
            <a:r>
              <a:rPr lang="en-US" sz="1600" b="1" dirty="0">
                <a:solidFill>
                  <a:schemeClr val="bg1"/>
                </a:solidFill>
              </a:rPr>
              <a:t>Hash</a:t>
            </a:r>
            <a:endParaRPr lang="en-US" sz="1400" dirty="0"/>
          </a:p>
          <a:p>
            <a:pPr algn="ctr" indent="0" marL="0">
              <a:buNone/>
            </a:pPr>
            <a:r>
              <a:rPr lang="en-US" sz="1300" dirty="0">
                <a:solidFill>
                  <a:srgbClr val="7FD1C4"/>
                </a:solidFill>
                <a:latin typeface="Courier New" pitchFamily="34" charset="0"/>
                <a:ea typeface="Courier New" pitchFamily="34" charset="-122"/>
                <a:cs typeface="Courier New" pitchFamily="34" charset="-120"/>
              </a:rPr>
              <a:t>1370824011962730</a:t>
            </a:r>
            <a:endParaRPr lang="en-US" sz="1400" dirty="0"/>
          </a:p>
        </p:txBody>
      </p:sp>
      <p:sp>
        <p:nvSpPr>
          <p:cNvPr id="32" name="arrow"/>
          <p:cNvSpPr/>
          <p:nvPr/>
        </p:nvSpPr>
        <p:spPr>
          <a:xfrm>
            <a:off x="8138160" y="3712464"/>
            <a:ext cx="777240" cy="0"/>
          </a:xfrm>
          <a:prstGeom prst="line">
            <a:avLst/>
          </a:prstGeom>
          <a:noFill/>
          <a:ln w="28575">
            <a:solidFill>
              <a:schemeClr val="accent1"/>
            </a:solidFill>
            <a:prstDash val="solid"/>
            <a:tailEnd type="triangle"/>
          </a:ln>
        </p:spPr>
      </p:sp>
      <p:sp>
        <p:nvSpPr>
          <p:cNvPr id="33" name="storage"/>
          <p:cNvSpPr/>
          <p:nvPr/>
        </p:nvSpPr>
        <p:spPr>
          <a:xfrm>
            <a:off x="8961120" y="2926080"/>
            <a:ext cx="2651760" cy="1600200"/>
          </a:xfrm>
          <a:prstGeom prst="can">
            <a:avLst/>
          </a:prstGeom>
          <a:solidFill>
            <a:schemeClr val="accent5"/>
          </a:solidFill>
          <a:ln w="12700">
            <a:solidFill>
              <a:schemeClr val="accent1"/>
            </a:solidFill>
          </a:ln>
        </p:spPr>
        <p:txBody>
          <a:bodyPr wrap="square" lIns="50800" tIns="50800" rIns="50800" bIns="50800" rtlCol="0" anchor="ctr"/>
          <a:lstStyle/>
          <a:p>
            <a:pPr algn="ctr" indent="0" marL="0">
              <a:buNone/>
            </a:pPr>
            <a:r>
              <a:rPr lang="en-US" sz="1400" b="1" dirty="0">
                <a:solidFill>
                  <a:schemeClr val="tx1"/>
                </a:solidFill>
              </a:rPr>
              <a:t>Cache-Eintrag</a:t>
            </a:r>
            <a:endParaRPr lang="en-US" sz="1400" dirty="0"/>
          </a:p>
          <a:p>
            <a:pPr algn="ctr" indent="0" marL="0">
              <a:buNone/>
            </a:pPr>
            <a:r>
              <a:rPr lang="en-US" sz="1400" b="1" dirty="0">
                <a:solidFill>
                  <a:schemeClr val="tx1"/>
                </a:solidFill>
              </a:rPr>
              <a:t>zu diesem Hash</a:t>
            </a:r>
            <a:endParaRPr lang="en-US" sz="1400" dirty="0"/>
          </a:p>
        </p:txBody>
      </p:sp>
      <p:sp>
        <p:nvSpPr>
          <p:cNvPr id="34" name="Text 27"/>
          <p:cNvSpPr txBox="1"/>
          <p:nvPr/>
        </p:nvSpPr>
        <p:spPr>
          <a:xfrm>
            <a:off x="5760720" y="4892040"/>
            <a:ext cx="5852160" cy="822960"/>
          </a:xfrm>
          <a:prstGeom prst="rect">
            <a:avLst/>
          </a:prstGeom>
          <a:noFill/>
          <a:ln/>
        </p:spPr>
        <p:txBody>
          <a:bodyPr wrap="square" lIns="0" tIns="0" rIns="0" bIns="0" rtlCol="0" anchor="t"/>
          <a:lstStyle/>
          <a:p>
            <a:pPr indent="0" marL="0">
              <a:buNone/>
            </a:pPr>
            <a:r>
              <a:rPr lang="en-US" sz="1400" b="1" dirty="0">
                <a:solidFill>
                  <a:schemeClr val="tx1"/>
                </a:solidFill>
              </a:rPr>
              <a:t>Gleiche Inputs → gleicher Hash → Ergebnis wiederverwendbar.</a:t>
            </a:r>
            <a:endParaRPr lang="en-US" sz="1400" dirty="0"/>
          </a:p>
          <a:p>
            <a:pPr indent="0" marL="0">
              <a:buNone/>
            </a:pPr>
            <a:r>
              <a:rPr lang="en-US" sz="1400" dirty="0">
                <a:solidFill>
                  <a:schemeClr val="tx2"/>
                </a:solidFill>
              </a:rPr>
              <a:t>Ändert sich irgendein Input, entsteht ein neuer Hash und der Task läuft neu.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ABLAUF EINES TASKS</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Erst lokal, dann remote, zuletzt rechnen</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Was bei nx run app:build passiert</a:t>
            </a:r>
            <a:endParaRPr lang="en-US" sz="1500" dirty="0"/>
          </a:p>
        </p:txBody>
      </p:sp>
      <p:sp>
        <p:nvSpPr>
          <p:cNvPr id="5" name="Text 3"/>
          <p:cNvSpPr/>
          <p:nvPr/>
        </p:nvSpPr>
        <p:spPr>
          <a:xfrm>
            <a:off x="548640" y="2286000"/>
            <a:ext cx="1417320" cy="1005840"/>
          </a:xfrm>
          <a:prstGeom prst="roundRect">
            <a:avLst>
              <a:gd name="adj" fmla="val 7273"/>
            </a:avLst>
          </a:prstGeom>
          <a:solidFill>
            <a:schemeClr val="tx1"/>
          </a:solidFill>
          <a:ln w="12700">
            <a:solidFill>
              <a:schemeClr val="tx1"/>
            </a:solid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nx run</a:t>
            </a:r>
            <a:endParaRPr lang="en-US" sz="1400" dirty="0"/>
          </a:p>
          <a:p>
            <a:pPr algn="ctr" indent="0" marL="0">
              <a:buNone/>
            </a:pPr>
            <a:r>
              <a:rPr lang="en-US" sz="1400" b="1" dirty="0">
                <a:solidFill>
                  <a:schemeClr val="bg1"/>
                </a:solidFill>
                <a:latin typeface="Courier New" pitchFamily="34" charset="0"/>
                <a:ea typeface="Courier New" pitchFamily="34" charset="-122"/>
                <a:cs typeface="Courier New" pitchFamily="34" charset="-120"/>
              </a:rPr>
              <a:t>app:build</a:t>
            </a:r>
            <a:endParaRPr lang="en-US" sz="1400" dirty="0"/>
          </a:p>
        </p:txBody>
      </p:sp>
      <p:sp>
        <p:nvSpPr>
          <p:cNvPr id="6" name="Text 4"/>
          <p:cNvSpPr/>
          <p:nvPr/>
        </p:nvSpPr>
        <p:spPr>
          <a:xfrm>
            <a:off x="2246315" y="2286000"/>
            <a:ext cx="1417320"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r>
              <a:rPr lang="en-US" sz="1400" b="1" dirty="0">
                <a:solidFill>
                  <a:schemeClr val="tx1"/>
                </a:solidFill>
              </a:rPr>
              <a:t>Hash</a:t>
            </a:r>
            <a:endParaRPr lang="en-US" sz="1400" dirty="0"/>
          </a:p>
          <a:p>
            <a:pPr algn="ctr" indent="0" marL="0">
              <a:buNone/>
            </a:pPr>
            <a:r>
              <a:rPr lang="en-US" sz="1400" b="1" dirty="0">
                <a:solidFill>
                  <a:schemeClr val="tx1"/>
                </a:solidFill>
              </a:rPr>
              <a:t>berechnen</a:t>
            </a:r>
            <a:endParaRPr lang="en-US" sz="1400" dirty="0"/>
          </a:p>
        </p:txBody>
      </p:sp>
      <p:sp>
        <p:nvSpPr>
          <p:cNvPr id="7" name="decision"/>
          <p:cNvSpPr/>
          <p:nvPr/>
        </p:nvSpPr>
        <p:spPr>
          <a:xfrm>
            <a:off x="3943990" y="2148840"/>
            <a:ext cx="1783080" cy="1280160"/>
          </a:xfrm>
          <a:prstGeom prst="diamond">
            <a:avLst/>
          </a:prstGeom>
          <a:solidFill>
            <a:schemeClr val="bg1"/>
          </a:solidFill>
          <a:ln w="19050">
            <a:solidFill>
              <a:schemeClr val="tx1"/>
            </a:solidFill>
          </a:ln>
        </p:spPr>
        <p:txBody>
          <a:bodyPr wrap="square" lIns="0" tIns="0" rIns="0" bIns="0" rtlCol="0" anchor="ctr"/>
          <a:lstStyle/>
          <a:p>
            <a:pPr algn="ctr" indent="0" marL="0">
              <a:buNone/>
            </a:pPr>
            <a:r>
              <a:rPr lang="en-US" sz="1300" b="1" dirty="0">
                <a:solidFill>
                  <a:schemeClr val="tx1"/>
                </a:solidFill>
              </a:rPr>
              <a:t>lokal in</a:t>
            </a:r>
            <a:endParaRPr lang="en-US" sz="1300" dirty="0"/>
          </a:p>
          <a:p>
            <a:pPr algn="ctr" indent="0" marL="0">
              <a:buNone/>
            </a:pPr>
            <a:r>
              <a:rPr lang="en-US" sz="1300" b="1" dirty="0">
                <a:solidFill>
                  <a:schemeClr val="tx1"/>
                </a:solidFill>
              </a:rPr>
              <a:t>.nx/cache?</a:t>
            </a:r>
            <a:endParaRPr lang="en-US" sz="1300" dirty="0"/>
          </a:p>
        </p:txBody>
      </p:sp>
      <p:sp>
        <p:nvSpPr>
          <p:cNvPr id="8" name="decision"/>
          <p:cNvSpPr/>
          <p:nvPr/>
        </p:nvSpPr>
        <p:spPr>
          <a:xfrm>
            <a:off x="6007425" y="2148840"/>
            <a:ext cx="1783080" cy="1280160"/>
          </a:xfrm>
          <a:prstGeom prst="diamond">
            <a:avLst/>
          </a:prstGeom>
          <a:solidFill>
            <a:schemeClr val="bg1"/>
          </a:solidFill>
          <a:ln w="19050">
            <a:solidFill>
              <a:schemeClr val="tx1"/>
            </a:solidFill>
          </a:ln>
        </p:spPr>
        <p:txBody>
          <a:bodyPr wrap="square" lIns="0" tIns="0" rIns="0" bIns="0" rtlCol="0" anchor="ctr"/>
          <a:lstStyle/>
          <a:p>
            <a:pPr algn="ctr" indent="0" marL="0">
              <a:buNone/>
            </a:pPr>
            <a:r>
              <a:rPr lang="en-US" sz="1300" b="1" dirty="0">
                <a:solidFill>
                  <a:schemeClr val="tx1"/>
                </a:solidFill>
              </a:rPr>
              <a:t>im Remote</a:t>
            </a:r>
            <a:endParaRPr lang="en-US" sz="1300" dirty="0"/>
          </a:p>
          <a:p>
            <a:pPr algn="ctr" indent="0" marL="0">
              <a:buNone/>
            </a:pPr>
            <a:r>
              <a:rPr lang="en-US" sz="1300" b="1" dirty="0">
                <a:solidFill>
                  <a:schemeClr val="tx1"/>
                </a:solidFill>
              </a:rPr>
              <a:t>Cache?</a:t>
            </a:r>
            <a:endParaRPr lang="en-US" sz="1300" dirty="0"/>
          </a:p>
        </p:txBody>
      </p:sp>
      <p:sp>
        <p:nvSpPr>
          <p:cNvPr id="9" name="Text 7"/>
          <p:cNvSpPr/>
          <p:nvPr/>
        </p:nvSpPr>
        <p:spPr>
          <a:xfrm>
            <a:off x="8070860" y="2286000"/>
            <a:ext cx="1508760" cy="1005840"/>
          </a:xfrm>
          <a:prstGeom prst="roundRect">
            <a:avLst>
              <a:gd name="adj" fmla="val 7273"/>
            </a:avLst>
          </a:prstGeom>
          <a:solidFill>
            <a:schemeClr val="accent6"/>
          </a:solidFill>
          <a:ln w="12700">
            <a:solidFill>
              <a:schemeClr val="accent6"/>
            </a:solidFill>
          </a:ln>
        </p:spPr>
        <p:txBody>
          <a:bodyPr wrap="square" lIns="76200" tIns="76200" rIns="76200" bIns="76200" rtlCol="0" anchor="ctr"/>
          <a:lstStyle/>
          <a:p>
            <a:pPr algn="ctr" indent="0" marL="0">
              <a:buNone/>
            </a:pPr>
            <a:r>
              <a:rPr lang="en-US" sz="1400" b="1" dirty="0">
                <a:solidFill>
                  <a:schemeClr val="tx1"/>
                </a:solidFill>
              </a:rPr>
              <a:t>Task</a:t>
            </a:r>
            <a:endParaRPr lang="en-US" sz="1400" dirty="0"/>
          </a:p>
          <a:p>
            <a:pPr algn="ctr" indent="0" marL="0">
              <a:buNone/>
            </a:pPr>
            <a:r>
              <a:rPr lang="en-US" sz="1400" b="1" dirty="0">
                <a:solidFill>
                  <a:schemeClr val="tx1"/>
                </a:solidFill>
              </a:rPr>
              <a:t>ausführen</a:t>
            </a:r>
            <a:endParaRPr lang="en-US" sz="1400" dirty="0"/>
          </a:p>
        </p:txBody>
      </p:sp>
      <p:sp>
        <p:nvSpPr>
          <p:cNvPr id="10" name="Text 8"/>
          <p:cNvSpPr/>
          <p:nvPr/>
        </p:nvSpPr>
        <p:spPr>
          <a:xfrm>
            <a:off x="9859975" y="2286000"/>
            <a:ext cx="1783080" cy="1005840"/>
          </a:xfrm>
          <a:prstGeom prst="roundRect">
            <a:avLst>
              <a:gd name="adj" fmla="val 7273"/>
            </a:avLst>
          </a:prstGeom>
          <a:solidFill>
            <a:schemeClr val="accent5"/>
          </a:solidFill>
          <a:ln w="12700">
            <a:solidFill>
              <a:schemeClr val="accent5"/>
            </a:solidFill>
          </a:ln>
        </p:spPr>
        <p:txBody>
          <a:bodyPr wrap="square" lIns="76200" tIns="76200" rIns="76200" bIns="76200" rtlCol="0" anchor="ctr"/>
          <a:lstStyle/>
          <a:p>
            <a:pPr algn="ctr" indent="0" marL="0">
              <a:buNone/>
            </a:pPr>
            <a:r>
              <a:rPr lang="en-US" sz="1400" b="1" dirty="0">
                <a:solidFill>
                  <a:schemeClr val="tx1"/>
                </a:solidFill>
              </a:rPr>
              <a:t>lokal speichern</a:t>
            </a:r>
            <a:endParaRPr lang="en-US" sz="1400" dirty="0"/>
          </a:p>
          <a:p>
            <a:pPr algn="ctr" indent="0" marL="0">
              <a:buNone/>
            </a:pPr>
            <a:r>
              <a:rPr lang="en-US" sz="1400" b="1" dirty="0">
                <a:solidFill>
                  <a:schemeClr val="tx1"/>
                </a:solidFill>
              </a:rPr>
              <a:t>+ hochladen</a:t>
            </a:r>
            <a:endParaRPr lang="en-US" sz="1400" dirty="0"/>
          </a:p>
        </p:txBody>
      </p:sp>
      <p:sp>
        <p:nvSpPr>
          <p:cNvPr id="11" name="arrow"/>
          <p:cNvSpPr/>
          <p:nvPr/>
        </p:nvSpPr>
        <p:spPr>
          <a:xfrm>
            <a:off x="1965960" y="2788920"/>
            <a:ext cx="280355" cy="0"/>
          </a:xfrm>
          <a:prstGeom prst="line">
            <a:avLst/>
          </a:prstGeom>
          <a:noFill/>
          <a:ln w="22225">
            <a:solidFill>
              <a:schemeClr val="tx1"/>
            </a:solidFill>
            <a:prstDash val="solid"/>
            <a:tailEnd type="triangle"/>
          </a:ln>
        </p:spPr>
      </p:sp>
      <p:sp>
        <p:nvSpPr>
          <p:cNvPr id="12" name="arrow"/>
          <p:cNvSpPr/>
          <p:nvPr/>
        </p:nvSpPr>
        <p:spPr>
          <a:xfrm>
            <a:off x="3663635" y="2788920"/>
            <a:ext cx="280355" cy="0"/>
          </a:xfrm>
          <a:prstGeom prst="line">
            <a:avLst/>
          </a:prstGeom>
          <a:noFill/>
          <a:ln w="22225">
            <a:solidFill>
              <a:schemeClr val="tx1"/>
            </a:solidFill>
            <a:prstDash val="solid"/>
            <a:tailEnd type="triangle"/>
          </a:ln>
        </p:spPr>
      </p:sp>
      <p:sp>
        <p:nvSpPr>
          <p:cNvPr id="13" name="arrow"/>
          <p:cNvSpPr/>
          <p:nvPr/>
        </p:nvSpPr>
        <p:spPr>
          <a:xfrm>
            <a:off x="5727070" y="2788920"/>
            <a:ext cx="280355" cy="0"/>
          </a:xfrm>
          <a:prstGeom prst="line">
            <a:avLst/>
          </a:prstGeom>
          <a:noFill/>
          <a:ln w="22225">
            <a:solidFill>
              <a:schemeClr val="tx1"/>
            </a:solidFill>
            <a:prstDash val="solid"/>
            <a:tailEnd type="triangle"/>
          </a:ln>
        </p:spPr>
      </p:sp>
      <p:sp>
        <p:nvSpPr>
          <p:cNvPr id="14" name="arrow"/>
          <p:cNvSpPr/>
          <p:nvPr/>
        </p:nvSpPr>
        <p:spPr>
          <a:xfrm>
            <a:off x="7790505" y="2788920"/>
            <a:ext cx="280355" cy="0"/>
          </a:xfrm>
          <a:prstGeom prst="line">
            <a:avLst/>
          </a:prstGeom>
          <a:noFill/>
          <a:ln w="22225">
            <a:solidFill>
              <a:schemeClr val="tx1"/>
            </a:solidFill>
            <a:prstDash val="solid"/>
            <a:tailEnd type="triangle"/>
          </a:ln>
        </p:spPr>
      </p:sp>
      <p:sp>
        <p:nvSpPr>
          <p:cNvPr id="15" name="arrow"/>
          <p:cNvSpPr/>
          <p:nvPr/>
        </p:nvSpPr>
        <p:spPr>
          <a:xfrm>
            <a:off x="9579620" y="2788920"/>
            <a:ext cx="280355" cy="0"/>
          </a:xfrm>
          <a:prstGeom prst="line">
            <a:avLst/>
          </a:prstGeom>
          <a:noFill/>
          <a:ln w="22225">
            <a:solidFill>
              <a:schemeClr val="tx1"/>
            </a:solidFill>
            <a:prstDash val="solid"/>
            <a:tailEnd type="triangle"/>
          </a:ln>
        </p:spPr>
      </p:sp>
      <p:sp>
        <p:nvSpPr>
          <p:cNvPr id="16" name="Text 14"/>
          <p:cNvSpPr txBox="1"/>
          <p:nvPr/>
        </p:nvSpPr>
        <p:spPr>
          <a:xfrm>
            <a:off x="5745358" y="2496312"/>
            <a:ext cx="280355" cy="228600"/>
          </a:xfrm>
          <a:prstGeom prst="rect">
            <a:avLst/>
          </a:prstGeom>
          <a:noFill/>
          <a:ln/>
        </p:spPr>
        <p:txBody>
          <a:bodyPr wrap="square" lIns="0" tIns="0" rIns="0" bIns="0" rtlCol="0" anchor="t"/>
          <a:lstStyle/>
          <a:p>
            <a:pPr algn="ctr" indent="0" marL="0">
              <a:buNone/>
            </a:pPr>
            <a:r>
              <a:rPr lang="en-US" sz="1100" b="1" dirty="0">
                <a:solidFill>
                  <a:schemeClr val="accent4"/>
                </a:solidFill>
              </a:rPr>
              <a:t>nein</a:t>
            </a:r>
            <a:endParaRPr lang="en-US" sz="1100" dirty="0"/>
          </a:p>
        </p:txBody>
      </p:sp>
      <p:sp>
        <p:nvSpPr>
          <p:cNvPr id="17" name="Text 15"/>
          <p:cNvSpPr txBox="1"/>
          <p:nvPr/>
        </p:nvSpPr>
        <p:spPr>
          <a:xfrm>
            <a:off x="7808793" y="2496312"/>
            <a:ext cx="280355" cy="228600"/>
          </a:xfrm>
          <a:prstGeom prst="rect">
            <a:avLst/>
          </a:prstGeom>
          <a:noFill/>
          <a:ln/>
        </p:spPr>
        <p:txBody>
          <a:bodyPr wrap="square" lIns="0" tIns="0" rIns="0" bIns="0" rtlCol="0" anchor="t"/>
          <a:lstStyle/>
          <a:p>
            <a:pPr algn="ctr" indent="0" marL="0">
              <a:buNone/>
            </a:pPr>
            <a:r>
              <a:rPr lang="en-US" sz="1100" b="1" dirty="0">
                <a:solidFill>
                  <a:schemeClr val="accent4"/>
                </a:solidFill>
              </a:rPr>
              <a:t>nein</a:t>
            </a:r>
            <a:endParaRPr lang="en-US" sz="1100" dirty="0"/>
          </a:p>
        </p:txBody>
      </p:sp>
      <p:sp>
        <p:nvSpPr>
          <p:cNvPr id="18" name="arrow"/>
          <p:cNvSpPr/>
          <p:nvPr/>
        </p:nvSpPr>
        <p:spPr>
          <a:xfrm>
            <a:off x="4835530" y="3429000"/>
            <a:ext cx="0" cy="640080"/>
          </a:xfrm>
          <a:prstGeom prst="line">
            <a:avLst/>
          </a:prstGeom>
          <a:noFill/>
          <a:ln w="25400">
            <a:solidFill>
              <a:schemeClr val="accent3"/>
            </a:solidFill>
            <a:prstDash val="solid"/>
            <a:tailEnd type="triangle"/>
          </a:ln>
        </p:spPr>
      </p:sp>
      <p:sp>
        <p:nvSpPr>
          <p:cNvPr id="19" name="Text 17"/>
          <p:cNvSpPr txBox="1"/>
          <p:nvPr/>
        </p:nvSpPr>
        <p:spPr>
          <a:xfrm>
            <a:off x="4926970" y="3611880"/>
            <a:ext cx="365760" cy="228600"/>
          </a:xfrm>
          <a:prstGeom prst="rect">
            <a:avLst/>
          </a:prstGeom>
          <a:noFill/>
          <a:ln/>
        </p:spPr>
        <p:txBody>
          <a:bodyPr wrap="square" lIns="0" tIns="0" rIns="0" bIns="0" rtlCol="0" anchor="t"/>
          <a:lstStyle/>
          <a:p>
            <a:pPr indent="0" marL="0">
              <a:buNone/>
            </a:pPr>
            <a:r>
              <a:rPr lang="en-US" sz="1100" b="1" dirty="0">
                <a:solidFill>
                  <a:schemeClr val="accent3"/>
                </a:solidFill>
              </a:rPr>
              <a:t>ja</a:t>
            </a:r>
            <a:endParaRPr lang="en-US" sz="1100" dirty="0"/>
          </a:p>
        </p:txBody>
      </p:sp>
      <p:sp>
        <p:nvSpPr>
          <p:cNvPr id="20" name="hit"/>
          <p:cNvSpPr/>
          <p:nvPr/>
        </p:nvSpPr>
        <p:spPr>
          <a:xfrm>
            <a:off x="3921130" y="4114800"/>
            <a:ext cx="1828800" cy="1325880"/>
          </a:xfrm>
          <a:prstGeom prst="roundRect">
            <a:avLst>
              <a:gd name="adj" fmla="val 5517"/>
            </a:avLst>
          </a:prstGeom>
          <a:solidFill>
            <a:srgbClr val="E3F2E8"/>
          </a:solidFill>
          <a:ln w="12700">
            <a:solidFill>
              <a:schemeClr val="accent3"/>
            </a:solidFill>
          </a:ln>
        </p:spPr>
        <p:txBody>
          <a:bodyPr wrap="square" lIns="76200" tIns="76200" rIns="76200" bIns="76200" rtlCol="0" anchor="ctr"/>
          <a:lstStyle/>
          <a:p>
            <a:pPr algn="ctr" indent="0" marL="0">
              <a:buNone/>
            </a:pPr>
            <a:endParaRPr lang="en-US" sz="1400" dirty="0"/>
          </a:p>
        </p:txBody>
      </p:sp>
      <p:sp>
        <p:nvSpPr>
          <p:cNvPr id="21" name="Text 19"/>
          <p:cNvSpPr txBox="1"/>
          <p:nvPr/>
        </p:nvSpPr>
        <p:spPr>
          <a:xfrm>
            <a:off x="3994282" y="4224528"/>
            <a:ext cx="1682496" cy="1143000"/>
          </a:xfrm>
          <a:prstGeom prst="rect">
            <a:avLst/>
          </a:prstGeom>
          <a:noFill/>
          <a:ln/>
        </p:spPr>
        <p:txBody>
          <a:bodyPr wrap="square" lIns="0" tIns="0" rIns="0" bIns="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[local cache]</a:t>
            </a:r>
            <a:endParaRPr lang="en-US" sz="1400" dirty="0"/>
          </a:p>
          <a:p>
            <a:pPr algn="ctr" indent="0" marL="0">
              <a:buNone/>
            </a:pPr>
            <a:r>
              <a:rPr lang="en-US" sz="1200" dirty="0">
                <a:solidFill>
                  <a:schemeClr val="tx1"/>
                </a:solidFill>
              </a:rPr>
              <a:t>Outputs aus .nx/cache wiederherstellen, Terminal-Log abspielen</a:t>
            </a:r>
            <a:endParaRPr lang="en-US" sz="1400" dirty="0"/>
          </a:p>
        </p:txBody>
      </p:sp>
      <p:sp>
        <p:nvSpPr>
          <p:cNvPr id="22" name="arrow"/>
          <p:cNvSpPr/>
          <p:nvPr/>
        </p:nvSpPr>
        <p:spPr>
          <a:xfrm>
            <a:off x="6898965" y="3429000"/>
            <a:ext cx="0" cy="640080"/>
          </a:xfrm>
          <a:prstGeom prst="line">
            <a:avLst/>
          </a:prstGeom>
          <a:noFill/>
          <a:ln w="25400">
            <a:solidFill>
              <a:schemeClr val="accent3"/>
            </a:solidFill>
            <a:prstDash val="solid"/>
            <a:tailEnd type="triangle"/>
          </a:ln>
        </p:spPr>
      </p:sp>
      <p:sp>
        <p:nvSpPr>
          <p:cNvPr id="23" name="Text 21"/>
          <p:cNvSpPr txBox="1"/>
          <p:nvPr/>
        </p:nvSpPr>
        <p:spPr>
          <a:xfrm>
            <a:off x="6990405" y="3611880"/>
            <a:ext cx="365760" cy="228600"/>
          </a:xfrm>
          <a:prstGeom prst="rect">
            <a:avLst/>
          </a:prstGeom>
          <a:noFill/>
          <a:ln/>
        </p:spPr>
        <p:txBody>
          <a:bodyPr wrap="square" lIns="0" tIns="0" rIns="0" bIns="0" rtlCol="0" anchor="t"/>
          <a:lstStyle/>
          <a:p>
            <a:pPr indent="0" marL="0">
              <a:buNone/>
            </a:pPr>
            <a:r>
              <a:rPr lang="en-US" sz="1100" b="1" dirty="0">
                <a:solidFill>
                  <a:schemeClr val="accent3"/>
                </a:solidFill>
              </a:rPr>
              <a:t>ja</a:t>
            </a:r>
            <a:endParaRPr lang="en-US" sz="1100" dirty="0"/>
          </a:p>
        </p:txBody>
      </p:sp>
      <p:sp>
        <p:nvSpPr>
          <p:cNvPr id="24" name="hit"/>
          <p:cNvSpPr/>
          <p:nvPr/>
        </p:nvSpPr>
        <p:spPr>
          <a:xfrm>
            <a:off x="5984565" y="4114800"/>
            <a:ext cx="1828800" cy="1325880"/>
          </a:xfrm>
          <a:prstGeom prst="roundRect">
            <a:avLst>
              <a:gd name="adj" fmla="val 5517"/>
            </a:avLst>
          </a:prstGeom>
          <a:solidFill>
            <a:srgbClr val="E3F2E8"/>
          </a:solidFill>
          <a:ln w="12700">
            <a:solidFill>
              <a:schemeClr val="accent3"/>
            </a:solidFill>
          </a:ln>
        </p:spPr>
        <p:txBody>
          <a:bodyPr wrap="square" lIns="76200" tIns="76200" rIns="76200" bIns="76200" rtlCol="0" anchor="ctr"/>
          <a:lstStyle/>
          <a:p>
            <a:pPr algn="ctr" indent="0" marL="0">
              <a:buNone/>
            </a:pPr>
            <a:endParaRPr lang="en-US" sz="1400" dirty="0"/>
          </a:p>
        </p:txBody>
      </p:sp>
      <p:sp>
        <p:nvSpPr>
          <p:cNvPr id="25" name="Text 23"/>
          <p:cNvSpPr txBox="1"/>
          <p:nvPr/>
        </p:nvSpPr>
        <p:spPr>
          <a:xfrm>
            <a:off x="6057717" y="4224528"/>
            <a:ext cx="1682496" cy="1143000"/>
          </a:xfrm>
          <a:prstGeom prst="rect">
            <a:avLst/>
          </a:prstGeom>
          <a:noFill/>
          <a:ln/>
        </p:spPr>
        <p:txBody>
          <a:bodyPr wrap="square" lIns="0" tIns="0" rIns="0" bIns="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[remote cache]</a:t>
            </a:r>
            <a:endParaRPr lang="en-US" sz="1400" dirty="0"/>
          </a:p>
          <a:p>
            <a:pPr algn="ctr" indent="0" marL="0">
              <a:buNone/>
            </a:pPr>
            <a:r>
              <a:rPr lang="en-US" sz="1200" dirty="0">
                <a:solidFill>
                  <a:schemeClr val="tx1"/>
                </a:solidFill>
              </a:rPr>
              <a:t>Archiv laden, entpacken, lokal ablegen, Log abspielen</a:t>
            </a:r>
            <a:endParaRPr lang="en-US" sz="1400" dirty="0"/>
          </a:p>
        </p:txBody>
      </p:sp>
      <p:sp>
        <p:nvSpPr>
          <p:cNvPr id="26" name="Text 24"/>
          <p:cNvSpPr/>
          <p:nvPr/>
        </p:nvSpPr>
        <p:spPr>
          <a:xfrm>
            <a:off x="8070860" y="4114800"/>
            <a:ext cx="3572195"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7" name="Text 25"/>
          <p:cNvSpPr txBox="1"/>
          <p:nvPr/>
        </p:nvSpPr>
        <p:spPr>
          <a:xfrm>
            <a:off x="8253740" y="4224528"/>
            <a:ext cx="3206435" cy="1143000"/>
          </a:xfrm>
          <a:prstGeom prst="rect">
            <a:avLst/>
          </a:prstGeom>
          <a:noFill/>
          <a:ln/>
        </p:spPr>
        <p:txBody>
          <a:bodyPr wrap="square" lIns="0" tIns="0" rIns="0" bIns="0" rtlCol="0" anchor="ctr"/>
          <a:lstStyle/>
          <a:p>
            <a:pPr indent="0" marL="0">
              <a:buNone/>
            </a:pPr>
            <a:r>
              <a:rPr lang="en-US" sz="1300" b="1" dirty="0">
                <a:solidFill>
                  <a:schemeClr val="tx1"/>
                </a:solidFill>
              </a:rPr>
              <a:t>Nur bei Miss kostet es Zeit</a:t>
            </a:r>
            <a:endParaRPr lang="en-US" sz="1300" dirty="0"/>
          </a:p>
          <a:p>
            <a:pPr indent="0" marL="0">
              <a:buNone/>
            </a:pPr>
            <a:r>
              <a:rPr lang="en-US" sz="1300" dirty="0">
                <a:solidFill>
                  <a:schemeClr val="tx2"/>
                </a:solidFill>
              </a:rPr>
              <a:t>Treffer dauern Sekunden, egal wie lange der Task ursprünglich lief.</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CACHE-EINTRAG</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Was im Cache liegt</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Ein Eintrag ist ein gepacktes Archiv unter dem Hash als Schlüssel</a:t>
            </a:r>
            <a:endParaRPr lang="en-US" sz="1500" dirty="0"/>
          </a:p>
        </p:txBody>
      </p:sp>
      <p:sp>
        <p:nvSpPr>
          <p:cNvPr id="5" name="entry"/>
          <p:cNvSpPr/>
          <p:nvPr/>
        </p:nvSpPr>
        <p:spPr>
          <a:xfrm>
            <a:off x="548640" y="1920240"/>
            <a:ext cx="5120640" cy="3931920"/>
          </a:xfrm>
          <a:prstGeom prst="roundRect">
            <a:avLst>
              <a:gd name="adj" fmla="val 1860"/>
            </a:avLst>
          </a:prstGeom>
          <a:solidFill>
            <a:schemeClr val="bg1"/>
          </a:solidFill>
          <a:ln w="25400">
            <a:solidFill>
              <a:schemeClr val="accent1"/>
            </a:solidFill>
          </a:ln>
        </p:spPr>
        <p:txBody>
          <a:bodyPr wrap="square" lIns="76200" tIns="76200" rIns="76200" bIns="76200" rtlCol="0" anchor="ctr"/>
          <a:lstStyle/>
          <a:p>
            <a:pPr algn="ctr" indent="0" marL="0">
              <a:buNone/>
            </a:pPr>
            <a:endParaRPr lang="en-US" sz="1400" dirty="0"/>
          </a:p>
        </p:txBody>
      </p:sp>
      <p:sp>
        <p:nvSpPr>
          <p:cNvPr id="6" name="Text 4"/>
          <p:cNvSpPr/>
          <p:nvPr/>
        </p:nvSpPr>
        <p:spPr>
          <a:xfrm>
            <a:off x="548640" y="1920240"/>
            <a:ext cx="5120640" cy="502920"/>
          </a:xfrm>
          <a:prstGeom prst="roundRect">
            <a:avLst>
              <a:gd name="adj" fmla="val 14545"/>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hash 1370824011962730</a:t>
            </a:r>
            <a:endParaRPr lang="en-US" sz="1300" dirty="0"/>
          </a:p>
        </p:txBody>
      </p:sp>
      <p:sp>
        <p:nvSpPr>
          <p:cNvPr id="7" name="icon-bg"/>
          <p:cNvSpPr/>
          <p:nvPr/>
        </p:nvSpPr>
        <p:spPr>
          <a:xfrm>
            <a:off x="822960" y="2724912"/>
            <a:ext cx="566928" cy="566928"/>
          </a:xfrm>
          <a:prstGeom prst="ellipse">
            <a:avLst/>
          </a:prstGeom>
          <a:solidFill>
            <a:schemeClr val="accent5"/>
          </a:solidFill>
          <a:ln w="12700">
            <a:solidFill>
              <a:schemeClr val="accent5"/>
            </a:solidFill>
            <a:prstDash val="solid"/>
          </a:ln>
        </p:spPr>
      </p:sp>
      <p:pic>
        <p:nvPicPr>
          <p:cNvPr id="8" name="icon-FaFolderOpen" descr="preencoded.png">    </p:cNvPr>
          <p:cNvPicPr>
            <a:picLocks noChangeAspect="1"/>
          </p:cNvPicPr>
          <p:nvPr/>
        </p:nvPicPr>
        <p:blipFill>
          <a:blip r:embed="rId1"/>
          <a:stretch>
            <a:fillRect/>
          </a:stretch>
        </p:blipFill>
        <p:spPr>
          <a:xfrm>
            <a:off x="959023" y="2860975"/>
            <a:ext cx="294803" cy="294803"/>
          </a:xfrm>
          <a:prstGeom prst="rect">
            <a:avLst/>
          </a:prstGeom>
        </p:spPr>
      </p:pic>
      <p:sp>
        <p:nvSpPr>
          <p:cNvPr id="9" name="Text 6"/>
          <p:cNvSpPr txBox="1"/>
          <p:nvPr/>
        </p:nvSpPr>
        <p:spPr>
          <a:xfrm>
            <a:off x="1600200" y="2651760"/>
            <a:ext cx="3886200" cy="868680"/>
          </a:xfrm>
          <a:prstGeom prst="rect">
            <a:avLst/>
          </a:prstGeom>
          <a:noFill/>
          <a:ln/>
        </p:spPr>
        <p:txBody>
          <a:bodyPr wrap="square" lIns="0" tIns="0" rIns="0" bIns="0" rtlCol="0" anchor="ctr"/>
          <a:lstStyle/>
          <a:p>
            <a:pPr indent="0" marL="0">
              <a:buNone/>
            </a:pPr>
            <a:r>
              <a:rPr lang="en-US" sz="1500" b="1" dirty="0">
                <a:solidFill>
                  <a:schemeClr val="tx1"/>
                </a:solidFill>
              </a:rPr>
              <a:t>Outputs</a:t>
            </a:r>
            <a:endParaRPr lang="en-US" sz="1400" dirty="0"/>
          </a:p>
          <a:p>
            <a:pPr indent="0" marL="0">
              <a:buNone/>
            </a:pPr>
            <a:r>
              <a:rPr lang="en-US" sz="1300" dirty="0">
                <a:solidFill>
                  <a:schemeClr val="tx2"/>
                </a:solidFill>
              </a:rPr>
              <a:t>alles, was im Target unter outputs deklariert ist, z. B. dist/apps/client, coverage/…</a:t>
            </a:r>
            <a:endParaRPr lang="en-US" sz="1400" dirty="0"/>
          </a:p>
        </p:txBody>
      </p:sp>
      <p:sp>
        <p:nvSpPr>
          <p:cNvPr id="10" name="icon-bg"/>
          <p:cNvSpPr/>
          <p:nvPr/>
        </p:nvSpPr>
        <p:spPr>
          <a:xfrm>
            <a:off x="822960" y="3749040"/>
            <a:ext cx="566928" cy="566928"/>
          </a:xfrm>
          <a:prstGeom prst="ellipse">
            <a:avLst/>
          </a:prstGeom>
          <a:solidFill>
            <a:schemeClr val="accent5"/>
          </a:solidFill>
          <a:ln w="12700">
            <a:solidFill>
              <a:schemeClr val="accent5"/>
            </a:solidFill>
            <a:prstDash val="solid"/>
          </a:ln>
        </p:spPr>
      </p:sp>
      <p:pic>
        <p:nvPicPr>
          <p:cNvPr id="11" name="icon-FaTerminal" descr="preencoded.png">    </p:cNvPr>
          <p:cNvPicPr>
            <a:picLocks noChangeAspect="1"/>
          </p:cNvPicPr>
          <p:nvPr/>
        </p:nvPicPr>
        <p:blipFill>
          <a:blip r:embed="rId2"/>
          <a:stretch>
            <a:fillRect/>
          </a:stretch>
        </p:blipFill>
        <p:spPr>
          <a:xfrm>
            <a:off x="959023" y="3885103"/>
            <a:ext cx="294803" cy="294803"/>
          </a:xfrm>
          <a:prstGeom prst="rect">
            <a:avLst/>
          </a:prstGeom>
        </p:spPr>
      </p:pic>
      <p:sp>
        <p:nvSpPr>
          <p:cNvPr id="12" name="Text 8"/>
          <p:cNvSpPr txBox="1"/>
          <p:nvPr/>
        </p:nvSpPr>
        <p:spPr>
          <a:xfrm>
            <a:off x="1600200" y="3675888"/>
            <a:ext cx="3886200" cy="868680"/>
          </a:xfrm>
          <a:prstGeom prst="rect">
            <a:avLst/>
          </a:prstGeom>
          <a:noFill/>
          <a:ln/>
        </p:spPr>
        <p:txBody>
          <a:bodyPr wrap="square" lIns="0" tIns="0" rIns="0" bIns="0" rtlCol="0" anchor="ctr"/>
          <a:lstStyle/>
          <a:p>
            <a:pPr indent="0" marL="0">
              <a:buNone/>
            </a:pPr>
            <a:r>
              <a:rPr lang="en-US" sz="1500" b="1" dirty="0">
                <a:solidFill>
                  <a:schemeClr val="tx1"/>
                </a:solidFill>
              </a:rPr>
              <a:t>Terminal-Ausgabe</a:t>
            </a:r>
            <a:endParaRPr lang="en-US" sz="1400" dirty="0"/>
          </a:p>
          <a:p>
            <a:pPr indent="0" marL="0">
              <a:buNone/>
            </a:pPr>
            <a:r>
              <a:rPr lang="en-US" sz="1300" dirty="0">
                <a:solidFill>
                  <a:schemeClr val="tx2"/>
                </a:solidFill>
              </a:rPr>
              <a:t>wird beim Treffer 1:1 wiedergegeben</a:t>
            </a:r>
            <a:endParaRPr lang="en-US" sz="1400" dirty="0"/>
          </a:p>
        </p:txBody>
      </p:sp>
      <p:sp>
        <p:nvSpPr>
          <p:cNvPr id="13" name="icon-bg"/>
          <p:cNvSpPr/>
          <p:nvPr/>
        </p:nvSpPr>
        <p:spPr>
          <a:xfrm>
            <a:off x="822960" y="4773168"/>
            <a:ext cx="566928" cy="566928"/>
          </a:xfrm>
          <a:prstGeom prst="ellipse">
            <a:avLst/>
          </a:prstGeom>
          <a:solidFill>
            <a:schemeClr val="accent5"/>
          </a:solidFill>
          <a:ln w="12700">
            <a:solidFill>
              <a:schemeClr val="accent5"/>
            </a:solidFill>
            <a:prstDash val="solid"/>
          </a:ln>
        </p:spPr>
      </p:sp>
      <p:pic>
        <p:nvPicPr>
          <p:cNvPr id="14" name="icon-FaHashtag" descr="preencoded.png">    </p:cNvPr>
          <p:cNvPicPr>
            <a:picLocks noChangeAspect="1"/>
          </p:cNvPicPr>
          <p:nvPr/>
        </p:nvPicPr>
        <p:blipFill>
          <a:blip r:embed="rId3"/>
          <a:stretch>
            <a:fillRect/>
          </a:stretch>
        </p:blipFill>
        <p:spPr>
          <a:xfrm>
            <a:off x="959023" y="4909231"/>
            <a:ext cx="294803" cy="294803"/>
          </a:xfrm>
          <a:prstGeom prst="rect">
            <a:avLst/>
          </a:prstGeom>
        </p:spPr>
      </p:pic>
      <p:sp>
        <p:nvSpPr>
          <p:cNvPr id="15" name="Text 10"/>
          <p:cNvSpPr txBox="1"/>
          <p:nvPr/>
        </p:nvSpPr>
        <p:spPr>
          <a:xfrm>
            <a:off x="1600200" y="4700016"/>
            <a:ext cx="3886200" cy="868680"/>
          </a:xfrm>
          <a:prstGeom prst="rect">
            <a:avLst/>
          </a:prstGeom>
          <a:noFill/>
          <a:ln/>
        </p:spPr>
        <p:txBody>
          <a:bodyPr wrap="square" lIns="0" tIns="0" rIns="0" bIns="0" rtlCol="0" anchor="ctr"/>
          <a:lstStyle/>
          <a:p>
            <a:pPr indent="0" marL="0">
              <a:buNone/>
            </a:pPr>
            <a:r>
              <a:rPr lang="en-US" sz="1500" b="1" dirty="0">
                <a:solidFill>
                  <a:schemeClr val="tx1"/>
                </a:solidFill>
              </a:rPr>
              <a:t>Metadaten</a:t>
            </a:r>
            <a:endParaRPr lang="en-US" sz="1400" dirty="0"/>
          </a:p>
          <a:p>
            <a:pPr indent="0" marL="0">
              <a:buNone/>
            </a:pPr>
            <a:r>
              <a:rPr lang="en-US" sz="1300" dirty="0">
                <a:solidFill>
                  <a:schemeClr val="tx2"/>
                </a:solidFill>
              </a:rPr>
              <a:t>Hash, Exit-Code</a:t>
            </a:r>
            <a:endParaRPr lang="en-US" sz="1400" dirty="0"/>
          </a:p>
        </p:txBody>
      </p:sp>
      <p:sp>
        <p:nvSpPr>
          <p:cNvPr id="16" name="Text 11"/>
          <p:cNvSpPr txBox="1"/>
          <p:nvPr/>
        </p:nvSpPr>
        <p:spPr>
          <a:xfrm>
            <a:off x="6400800" y="1920240"/>
            <a:ext cx="5212080" cy="320040"/>
          </a:xfrm>
          <a:prstGeom prst="rect">
            <a:avLst/>
          </a:prstGeom>
          <a:noFill/>
          <a:ln/>
        </p:spPr>
        <p:txBody>
          <a:bodyPr wrap="square" lIns="0" tIns="0" rIns="0" bIns="0" rtlCol="0" anchor="t"/>
          <a:lstStyle/>
          <a:p>
            <a:pPr indent="0" marL="0">
              <a:buNone/>
            </a:pPr>
            <a:r>
              <a:rPr lang="en-US" sz="1800" b="1" dirty="0">
                <a:solidFill>
                  <a:schemeClr val="tx1"/>
                </a:solidFill>
              </a:rPr>
              <a:t>Wo es liegt</a:t>
            </a:r>
            <a:endParaRPr lang="en-US" sz="1800" dirty="0"/>
          </a:p>
        </p:txBody>
      </p:sp>
      <p:sp>
        <p:nvSpPr>
          <p:cNvPr id="17" name="Text 12"/>
          <p:cNvSpPr/>
          <p:nvPr/>
        </p:nvSpPr>
        <p:spPr>
          <a:xfrm>
            <a:off x="6400800" y="2377440"/>
            <a:ext cx="2468880" cy="1371600"/>
          </a:xfrm>
          <a:prstGeom prst="roundRect">
            <a:avLst>
              <a:gd name="adj" fmla="val 533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pic>
        <p:nvPicPr>
          <p:cNvPr id="18" name="icon-FaLaptopCode" descr="preencoded.png">    </p:cNvPr>
          <p:cNvPicPr>
            <a:picLocks noChangeAspect="1"/>
          </p:cNvPicPr>
          <p:nvPr/>
        </p:nvPicPr>
        <p:blipFill>
          <a:blip r:embed="rId4"/>
          <a:stretch>
            <a:fillRect/>
          </a:stretch>
        </p:blipFill>
        <p:spPr>
          <a:xfrm>
            <a:off x="6583680" y="2514600"/>
            <a:ext cx="457200" cy="457200"/>
          </a:xfrm>
          <a:prstGeom prst="rect">
            <a:avLst/>
          </a:prstGeom>
        </p:spPr>
      </p:pic>
      <p:sp>
        <p:nvSpPr>
          <p:cNvPr id="19" name="Text 13"/>
          <p:cNvSpPr txBox="1"/>
          <p:nvPr/>
        </p:nvSpPr>
        <p:spPr>
          <a:xfrm>
            <a:off x="6583680" y="3063240"/>
            <a:ext cx="2194560" cy="640080"/>
          </a:xfrm>
          <a:prstGeom prst="rect">
            <a:avLst/>
          </a:prstGeom>
          <a:noFill/>
          <a:ln/>
        </p:spPr>
        <p:txBody>
          <a:bodyPr wrap="square" lIns="0" tIns="0" rIns="0" bIns="0" rtlCol="0" anchor="t"/>
          <a:lstStyle/>
          <a:p>
            <a:pPr indent="0" marL="0">
              <a:buNone/>
            </a:pPr>
            <a:r>
              <a:rPr lang="en-US" sz="1400" b="1" dirty="0">
                <a:solidFill>
                  <a:schemeClr val="tx1"/>
                </a:solidFill>
              </a:rPr>
              <a:t>Lokal</a:t>
            </a:r>
            <a:endParaRPr lang="en-US" sz="1400" dirty="0"/>
          </a:p>
          <a:p>
            <a:pPr indent="0" marL="0">
              <a:buNone/>
            </a:pPr>
            <a:r>
              <a:rPr lang="en-US" sz="1200" dirty="0">
                <a:solidFill>
                  <a:schemeClr val="tx2"/>
                </a:solidFill>
                <a:latin typeface="Courier New" pitchFamily="34" charset="0"/>
                <a:ea typeface="Courier New" pitchFamily="34" charset="-122"/>
                <a:cs typeface="Courier New" pitchFamily="34" charset="-120"/>
              </a:rPr>
              <a:t>.nx/cache im Workspace</a:t>
            </a:r>
            <a:endParaRPr lang="en-US" sz="1400" dirty="0"/>
          </a:p>
        </p:txBody>
      </p:sp>
      <p:sp>
        <p:nvSpPr>
          <p:cNvPr id="20" name="Text 14"/>
          <p:cNvSpPr/>
          <p:nvPr/>
        </p:nvSpPr>
        <p:spPr>
          <a:xfrm>
            <a:off x="9144000" y="2377440"/>
            <a:ext cx="2468880" cy="1371600"/>
          </a:xfrm>
          <a:prstGeom prst="roundRect">
            <a:avLst>
              <a:gd name="adj" fmla="val 5333"/>
            </a:avLst>
          </a:prstGeom>
          <a:solidFill>
            <a:schemeClr val="accent5"/>
          </a:solidFill>
          <a:ln w="12700">
            <a:solidFill>
              <a:schemeClr val="accent5"/>
            </a:solidFill>
          </a:ln>
        </p:spPr>
        <p:txBody>
          <a:bodyPr wrap="square" lIns="76200" tIns="76200" rIns="76200" bIns="76200" rtlCol="0" anchor="ctr"/>
          <a:lstStyle/>
          <a:p>
            <a:pPr algn="ctr" indent="0" marL="0">
              <a:buNone/>
            </a:pPr>
            <a:endParaRPr lang="en-US" sz="1400" dirty="0"/>
          </a:p>
        </p:txBody>
      </p:sp>
      <p:pic>
        <p:nvPicPr>
          <p:cNvPr id="21" name="icon-FaCloud" descr="preencoded.png">    </p:cNvPr>
          <p:cNvPicPr>
            <a:picLocks noChangeAspect="1"/>
          </p:cNvPicPr>
          <p:nvPr/>
        </p:nvPicPr>
        <p:blipFill>
          <a:blip r:embed="rId5"/>
          <a:stretch>
            <a:fillRect/>
          </a:stretch>
        </p:blipFill>
        <p:spPr>
          <a:xfrm>
            <a:off x="9326880" y="2514600"/>
            <a:ext cx="457200" cy="457200"/>
          </a:xfrm>
          <a:prstGeom prst="rect">
            <a:avLst/>
          </a:prstGeom>
        </p:spPr>
      </p:pic>
      <p:sp>
        <p:nvSpPr>
          <p:cNvPr id="22" name="Text 15"/>
          <p:cNvSpPr txBox="1"/>
          <p:nvPr/>
        </p:nvSpPr>
        <p:spPr>
          <a:xfrm>
            <a:off x="9326880" y="3063240"/>
            <a:ext cx="2194560" cy="640080"/>
          </a:xfrm>
          <a:prstGeom prst="rect">
            <a:avLst/>
          </a:prstGeom>
          <a:noFill/>
          <a:ln/>
        </p:spPr>
        <p:txBody>
          <a:bodyPr wrap="square" lIns="0" tIns="0" rIns="0" bIns="0" rtlCol="0" anchor="t"/>
          <a:lstStyle/>
          <a:p>
            <a:pPr indent="0" marL="0">
              <a:buNone/>
            </a:pPr>
            <a:r>
              <a:rPr lang="en-US" sz="1400" b="1" dirty="0">
                <a:solidFill>
                  <a:schemeClr val="tx1"/>
                </a:solidFill>
              </a:rPr>
              <a:t>Remote</a:t>
            </a:r>
            <a:endParaRPr lang="en-US" sz="1400" dirty="0"/>
          </a:p>
          <a:p>
            <a:pPr indent="0" marL="0">
              <a:buNone/>
            </a:pPr>
            <a:r>
              <a:rPr lang="en-US" sz="1200" dirty="0">
                <a:solidFill>
                  <a:schemeClr val="tx2"/>
                </a:solidFill>
                <a:latin typeface="Courier New" pitchFamily="34" charset="0"/>
                <a:ea typeface="Courier New" pitchFamily="34" charset="-122"/>
                <a:cs typeface="Courier New" pitchFamily="34" charset="-120"/>
              </a:rPr>
              <a:t>PUT/GET /v1/cache/{hash}</a:t>
            </a:r>
            <a:endParaRPr lang="en-US" sz="1400" dirty="0"/>
          </a:p>
        </p:txBody>
      </p:sp>
      <p:sp>
        <p:nvSpPr>
          <p:cNvPr id="23" name="Text 16"/>
          <p:cNvSpPr/>
          <p:nvPr/>
        </p:nvSpPr>
        <p:spPr>
          <a:xfrm>
            <a:off x="6400800" y="4023360"/>
            <a:ext cx="5212080" cy="1828800"/>
          </a:xfrm>
          <a:prstGeom prst="roundRect">
            <a:avLst>
              <a:gd name="adj" fmla="val 4000"/>
            </a:avLst>
          </a:prstGeom>
          <a:solidFill>
            <a:schemeClr val="accent6"/>
          </a:solidFill>
          <a:ln w="12700">
            <a:solidFill>
              <a:schemeClr val="accent6"/>
            </a:solidFill>
          </a:ln>
        </p:spPr>
        <p:txBody>
          <a:bodyPr wrap="square" lIns="76200" tIns="76200" rIns="76200" bIns="76200" rtlCol="0" anchor="ctr"/>
          <a:lstStyle/>
          <a:p>
            <a:pPr algn="ctr" indent="0" marL="0">
              <a:buNone/>
            </a:pPr>
            <a:endParaRPr lang="en-US" sz="1400" dirty="0"/>
          </a:p>
        </p:txBody>
      </p:sp>
      <p:pic>
        <p:nvPicPr>
          <p:cNvPr id="24" name="icon-FaExclamationTriangle" descr="preencoded.png">    </p:cNvPr>
          <p:cNvPicPr>
            <a:picLocks noChangeAspect="1"/>
          </p:cNvPicPr>
          <p:nvPr/>
        </p:nvPicPr>
        <p:blipFill>
          <a:blip r:embed="rId6"/>
          <a:stretch>
            <a:fillRect/>
          </a:stretch>
        </p:blipFill>
        <p:spPr>
          <a:xfrm>
            <a:off x="6629400" y="4206240"/>
            <a:ext cx="384048" cy="384048"/>
          </a:xfrm>
          <a:prstGeom prst="rect">
            <a:avLst/>
          </a:prstGeom>
        </p:spPr>
      </p:pic>
      <p:sp>
        <p:nvSpPr>
          <p:cNvPr id="25" name="Text 17"/>
          <p:cNvSpPr txBox="1"/>
          <p:nvPr/>
        </p:nvSpPr>
        <p:spPr>
          <a:xfrm>
            <a:off x="7178040" y="4206240"/>
            <a:ext cx="4251960" cy="150876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Was der Cache nicht weiß</a:t>
            </a:r>
            <a:endParaRPr lang="en-US" sz="1300" dirty="0"/>
          </a:p>
          <a:p>
            <a:pPr marL="342900" indent="-342900">
              <a:spcAft>
                <a:spcPts val="400"/>
              </a:spcAft>
              <a:buSzPct val="100000"/>
              <a:buChar char="•"/>
            </a:pPr>
            <a:r>
              <a:rPr lang="en-US" sz="1300" dirty="0">
                <a:solidFill>
                  <a:schemeClr val="tx1"/>
                </a:solidFill>
              </a:rPr>
              <a:t>Nicht deklarierte Outputs fehlen nach einem Treffer.</a:t>
            </a:r>
            <a:endParaRPr lang="en-US" sz="1300" dirty="0"/>
          </a:p>
          <a:p>
            <a:pPr marL="342900" indent="-342900">
              <a:spcAft>
                <a:spcPts val="400"/>
              </a:spcAft>
              <a:buSzPct val="100000"/>
              <a:buChar char="•"/>
            </a:pPr>
            <a:r>
              <a:rPr lang="en-US" sz="1300" dirty="0">
                <a:solidFill>
                  <a:schemeClr val="tx1"/>
                </a:solidFill>
              </a:rPr>
              <a:t>Nicht deklarierte Inputs (Env, Dateien) führen zu falschen Treffern.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LOKAL VS. REMOTE</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Einmal bauen, überall treffen</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Der lokale Cache hilft nur auf dem eigenen Rechner, der Remote Cache teilt Ergebnisse</a:t>
            </a:r>
            <a:endParaRPr lang="en-US" sz="1500" dirty="0"/>
          </a:p>
        </p:txBody>
      </p:sp>
      <p:sp>
        <p:nvSpPr>
          <p:cNvPr id="5" name="Text 3"/>
          <p:cNvSpPr/>
          <p:nvPr/>
        </p:nvSpPr>
        <p:spPr>
          <a:xfrm>
            <a:off x="548640" y="1874520"/>
            <a:ext cx="5349240" cy="4160520"/>
          </a:xfrm>
          <a:prstGeom prst="roundRect">
            <a:avLst>
              <a:gd name="adj" fmla="val 1758"/>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6" name="Text 4"/>
          <p:cNvSpPr txBox="1"/>
          <p:nvPr/>
        </p:nvSpPr>
        <p:spPr>
          <a:xfrm>
            <a:off x="822960" y="2011680"/>
            <a:ext cx="4754880" cy="365760"/>
          </a:xfrm>
          <a:prstGeom prst="rect">
            <a:avLst/>
          </a:prstGeom>
          <a:noFill/>
          <a:ln/>
        </p:spPr>
        <p:txBody>
          <a:bodyPr wrap="square" lIns="0" tIns="0" rIns="0" bIns="0" rtlCol="0" anchor="t"/>
          <a:lstStyle/>
          <a:p>
            <a:pPr indent="0" marL="0">
              <a:buNone/>
            </a:pPr>
            <a:r>
              <a:rPr lang="en-US" sz="1700" b="1" dirty="0">
                <a:solidFill>
                  <a:schemeClr val="tx1"/>
                </a:solidFill>
              </a:rPr>
              <a:t>Nur lokal</a:t>
            </a:r>
            <a:endParaRPr lang="en-US" sz="1700" dirty="0"/>
          </a:p>
        </p:txBody>
      </p:sp>
      <p:sp>
        <p:nvSpPr>
          <p:cNvPr id="7" name="Text 5"/>
          <p:cNvSpPr/>
          <p:nvPr/>
        </p:nvSpPr>
        <p:spPr>
          <a:xfrm>
            <a:off x="868680" y="2606040"/>
            <a:ext cx="1463040" cy="1463040"/>
          </a:xfrm>
          <a:prstGeom prst="roundRect">
            <a:avLst>
              <a:gd name="adj" fmla="val 5000"/>
            </a:avLst>
          </a:prstGeom>
          <a:solidFill>
            <a:schemeClr val="bg1"/>
          </a:solidFill>
          <a:ln w="12700">
            <a:solidFill>
              <a:schemeClr val="bg1"/>
            </a:solidFill>
          </a:ln>
        </p:spPr>
        <p:txBody>
          <a:bodyPr wrap="square" lIns="76200" tIns="76200" rIns="76200" bIns="76200" rtlCol="0" anchor="ctr"/>
          <a:lstStyle/>
          <a:p>
            <a:pPr algn="ctr" indent="0" marL="0">
              <a:buNone/>
            </a:pPr>
            <a:endParaRPr lang="en-US" sz="1400" dirty="0"/>
          </a:p>
        </p:txBody>
      </p:sp>
      <p:pic>
        <p:nvPicPr>
          <p:cNvPr id="8" name="icon-FaLaptopCode" descr="preencoded.png">    </p:cNvPr>
          <p:cNvPicPr>
            <a:picLocks noChangeAspect="1"/>
          </p:cNvPicPr>
          <p:nvPr/>
        </p:nvPicPr>
        <p:blipFill>
          <a:blip r:embed="rId1"/>
          <a:stretch>
            <a:fillRect/>
          </a:stretch>
        </p:blipFill>
        <p:spPr>
          <a:xfrm>
            <a:off x="1325880" y="2724912"/>
            <a:ext cx="548640" cy="548640"/>
          </a:xfrm>
          <a:prstGeom prst="rect">
            <a:avLst/>
          </a:prstGeom>
        </p:spPr>
      </p:pic>
      <p:sp>
        <p:nvSpPr>
          <p:cNvPr id="9" name="Text 6"/>
          <p:cNvSpPr txBox="1"/>
          <p:nvPr/>
        </p:nvSpPr>
        <p:spPr>
          <a:xfrm>
            <a:off x="868680" y="3337560"/>
            <a:ext cx="1463040" cy="274320"/>
          </a:xfrm>
          <a:prstGeom prst="rect">
            <a:avLst/>
          </a:prstGeom>
          <a:noFill/>
          <a:ln/>
        </p:spPr>
        <p:txBody>
          <a:bodyPr wrap="square" lIns="0" tIns="0" rIns="0" bIns="0" rtlCol="0" anchor="t"/>
          <a:lstStyle/>
          <a:p>
            <a:pPr algn="ctr" indent="0" marL="0">
              <a:buNone/>
            </a:pPr>
            <a:r>
              <a:rPr lang="en-US" sz="1400" b="1" dirty="0">
                <a:solidFill>
                  <a:schemeClr val="tx1"/>
                </a:solidFill>
              </a:rPr>
              <a:t>Anna</a:t>
            </a:r>
            <a:endParaRPr lang="en-US" sz="1400" dirty="0"/>
          </a:p>
        </p:txBody>
      </p:sp>
      <p:sp>
        <p:nvSpPr>
          <p:cNvPr id="10" name="Text 7"/>
          <p:cNvSpPr txBox="1"/>
          <p:nvPr/>
        </p:nvSpPr>
        <p:spPr>
          <a:xfrm>
            <a:off x="868680" y="3639312"/>
            <a:ext cx="1463040" cy="274320"/>
          </a:xfrm>
          <a:prstGeom prst="rect">
            <a:avLst/>
          </a:prstGeom>
          <a:noFill/>
          <a:ln/>
        </p:spPr>
        <p:txBody>
          <a:bodyPr wrap="square" lIns="0" tIns="0" rIns="0" bIns="0" rtlCol="0" anchor="t"/>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.nx/cache</a:t>
            </a:r>
            <a:endParaRPr lang="en-US" sz="1100" dirty="0"/>
          </a:p>
        </p:txBody>
      </p:sp>
      <p:sp>
        <p:nvSpPr>
          <p:cNvPr id="11" name="Text 8"/>
          <p:cNvSpPr/>
          <p:nvPr/>
        </p:nvSpPr>
        <p:spPr>
          <a:xfrm>
            <a:off x="1234440" y="4251960"/>
            <a:ext cx="731520" cy="292608"/>
          </a:xfrm>
          <a:prstGeom prst="roundRect">
            <a:avLst>
              <a:gd name="adj" fmla="val 156250"/>
            </a:avLst>
          </a:prstGeom>
          <a:solidFill>
            <a:schemeClr val="accent2"/>
          </a:solidFill>
          <a:ln w="12700">
            <a:solidFill>
              <a:schemeClr val="accent2"/>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baut</a:t>
            </a:r>
            <a:endParaRPr lang="en-US" sz="1100" dirty="0"/>
          </a:p>
        </p:txBody>
      </p:sp>
      <p:sp>
        <p:nvSpPr>
          <p:cNvPr id="12" name="Text 9"/>
          <p:cNvSpPr/>
          <p:nvPr/>
        </p:nvSpPr>
        <p:spPr>
          <a:xfrm>
            <a:off x="2560320" y="2606040"/>
            <a:ext cx="1463040" cy="1463040"/>
          </a:xfrm>
          <a:prstGeom prst="roundRect">
            <a:avLst>
              <a:gd name="adj" fmla="val 5000"/>
            </a:avLst>
          </a:prstGeom>
          <a:solidFill>
            <a:schemeClr val="bg1"/>
          </a:solidFill>
          <a:ln w="12700">
            <a:solidFill>
              <a:schemeClr val="bg1"/>
            </a:solidFill>
          </a:ln>
        </p:spPr>
        <p:txBody>
          <a:bodyPr wrap="square" lIns="76200" tIns="76200" rIns="76200" bIns="76200" rtlCol="0" anchor="ctr"/>
          <a:lstStyle/>
          <a:p>
            <a:pPr algn="ctr" indent="0" marL="0">
              <a:buNone/>
            </a:pPr>
            <a:endParaRPr lang="en-US" sz="1400" dirty="0"/>
          </a:p>
        </p:txBody>
      </p:sp>
      <p:pic>
        <p:nvPicPr>
          <p:cNvPr id="13" name="icon-FaLaptopCode" descr="preencoded.png">    </p:cNvPr>
          <p:cNvPicPr>
            <a:picLocks noChangeAspect="1"/>
          </p:cNvPicPr>
          <p:nvPr/>
        </p:nvPicPr>
        <p:blipFill>
          <a:blip r:embed="rId2"/>
          <a:stretch>
            <a:fillRect/>
          </a:stretch>
        </p:blipFill>
        <p:spPr>
          <a:xfrm>
            <a:off x="3017520" y="2724912"/>
            <a:ext cx="548640" cy="548640"/>
          </a:xfrm>
          <a:prstGeom prst="rect">
            <a:avLst/>
          </a:prstGeom>
        </p:spPr>
      </p:pic>
      <p:sp>
        <p:nvSpPr>
          <p:cNvPr id="14" name="Text 10"/>
          <p:cNvSpPr txBox="1"/>
          <p:nvPr/>
        </p:nvSpPr>
        <p:spPr>
          <a:xfrm>
            <a:off x="2560320" y="3337560"/>
            <a:ext cx="1463040" cy="274320"/>
          </a:xfrm>
          <a:prstGeom prst="rect">
            <a:avLst/>
          </a:prstGeom>
          <a:noFill/>
          <a:ln/>
        </p:spPr>
        <p:txBody>
          <a:bodyPr wrap="square" lIns="0" tIns="0" rIns="0" bIns="0" rtlCol="0" anchor="t"/>
          <a:lstStyle/>
          <a:p>
            <a:pPr algn="ctr" indent="0" marL="0">
              <a:buNone/>
            </a:pPr>
            <a:r>
              <a:rPr lang="en-US" sz="1400" b="1" dirty="0">
                <a:solidFill>
                  <a:schemeClr val="tx1"/>
                </a:solidFill>
              </a:rPr>
              <a:t>Ben</a:t>
            </a:r>
            <a:endParaRPr lang="en-US" sz="1400" dirty="0"/>
          </a:p>
        </p:txBody>
      </p:sp>
      <p:sp>
        <p:nvSpPr>
          <p:cNvPr id="15" name="Text 11"/>
          <p:cNvSpPr txBox="1"/>
          <p:nvPr/>
        </p:nvSpPr>
        <p:spPr>
          <a:xfrm>
            <a:off x="2560320" y="3639312"/>
            <a:ext cx="1463040" cy="274320"/>
          </a:xfrm>
          <a:prstGeom prst="rect">
            <a:avLst/>
          </a:prstGeom>
          <a:noFill/>
          <a:ln/>
        </p:spPr>
        <p:txBody>
          <a:bodyPr wrap="square" lIns="0" tIns="0" rIns="0" bIns="0" rtlCol="0" anchor="t"/>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.nx/cache</a:t>
            </a:r>
            <a:endParaRPr lang="en-US" sz="1100" dirty="0"/>
          </a:p>
        </p:txBody>
      </p:sp>
      <p:sp>
        <p:nvSpPr>
          <p:cNvPr id="16" name="Text 12"/>
          <p:cNvSpPr/>
          <p:nvPr/>
        </p:nvSpPr>
        <p:spPr>
          <a:xfrm>
            <a:off x="2926080" y="4251960"/>
            <a:ext cx="731520" cy="292608"/>
          </a:xfrm>
          <a:prstGeom prst="roundRect">
            <a:avLst>
              <a:gd name="adj" fmla="val 156250"/>
            </a:avLst>
          </a:prstGeom>
          <a:solidFill>
            <a:schemeClr val="accent2"/>
          </a:solidFill>
          <a:ln w="12700">
            <a:solidFill>
              <a:schemeClr val="accent2"/>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baut</a:t>
            </a:r>
            <a:endParaRPr lang="en-US" sz="1100" dirty="0"/>
          </a:p>
        </p:txBody>
      </p:sp>
      <p:sp>
        <p:nvSpPr>
          <p:cNvPr id="17" name="Text 13"/>
          <p:cNvSpPr/>
          <p:nvPr/>
        </p:nvSpPr>
        <p:spPr>
          <a:xfrm>
            <a:off x="4251960" y="2606040"/>
            <a:ext cx="1463040" cy="1463040"/>
          </a:xfrm>
          <a:prstGeom prst="roundRect">
            <a:avLst>
              <a:gd name="adj" fmla="val 5000"/>
            </a:avLst>
          </a:prstGeom>
          <a:solidFill>
            <a:schemeClr val="bg1"/>
          </a:solidFill>
          <a:ln w="12700">
            <a:solidFill>
              <a:schemeClr val="bg1"/>
            </a:solidFill>
          </a:ln>
        </p:spPr>
        <p:txBody>
          <a:bodyPr wrap="square" lIns="76200" tIns="76200" rIns="76200" bIns="76200" rtlCol="0" anchor="ctr"/>
          <a:lstStyle/>
          <a:p>
            <a:pPr algn="ctr" indent="0" marL="0">
              <a:buNone/>
            </a:pPr>
            <a:endParaRPr lang="en-US" sz="1400" dirty="0"/>
          </a:p>
        </p:txBody>
      </p:sp>
      <p:pic>
        <p:nvPicPr>
          <p:cNvPr id="18" name="icon-FaServer" descr="preencoded.png">    </p:cNvPr>
          <p:cNvPicPr>
            <a:picLocks noChangeAspect="1"/>
          </p:cNvPicPr>
          <p:nvPr/>
        </p:nvPicPr>
        <p:blipFill>
          <a:blip r:embed="rId3"/>
          <a:stretch>
            <a:fillRect/>
          </a:stretch>
        </p:blipFill>
        <p:spPr>
          <a:xfrm>
            <a:off x="4709160" y="2724912"/>
            <a:ext cx="548640" cy="548640"/>
          </a:xfrm>
          <a:prstGeom prst="rect">
            <a:avLst/>
          </a:prstGeom>
        </p:spPr>
      </p:pic>
      <p:sp>
        <p:nvSpPr>
          <p:cNvPr id="19" name="Text 14"/>
          <p:cNvSpPr txBox="1"/>
          <p:nvPr/>
        </p:nvSpPr>
        <p:spPr>
          <a:xfrm>
            <a:off x="4251960" y="3337560"/>
            <a:ext cx="1463040" cy="274320"/>
          </a:xfrm>
          <a:prstGeom prst="rect">
            <a:avLst/>
          </a:prstGeom>
          <a:noFill/>
          <a:ln/>
        </p:spPr>
        <p:txBody>
          <a:bodyPr wrap="square" lIns="0" tIns="0" rIns="0" bIns="0" rtlCol="0" anchor="t"/>
          <a:lstStyle/>
          <a:p>
            <a:pPr algn="ctr" indent="0" marL="0">
              <a:buNone/>
            </a:pPr>
            <a:r>
              <a:rPr lang="en-US" sz="1400" b="1" dirty="0">
                <a:solidFill>
                  <a:schemeClr val="tx1"/>
                </a:solidFill>
              </a:rPr>
              <a:t>CI</a:t>
            </a:r>
            <a:endParaRPr lang="en-US" sz="1400" dirty="0"/>
          </a:p>
        </p:txBody>
      </p:sp>
      <p:sp>
        <p:nvSpPr>
          <p:cNvPr id="20" name="Text 15"/>
          <p:cNvSpPr txBox="1"/>
          <p:nvPr/>
        </p:nvSpPr>
        <p:spPr>
          <a:xfrm>
            <a:off x="4251960" y="3639312"/>
            <a:ext cx="1463040" cy="274320"/>
          </a:xfrm>
          <a:prstGeom prst="rect">
            <a:avLst/>
          </a:prstGeom>
          <a:noFill/>
          <a:ln/>
        </p:spPr>
        <p:txBody>
          <a:bodyPr wrap="square" lIns="0" tIns="0" rIns="0" bIns="0" rtlCol="0" anchor="t"/>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.nx/cache</a:t>
            </a:r>
            <a:endParaRPr lang="en-US" sz="1100" dirty="0"/>
          </a:p>
        </p:txBody>
      </p:sp>
      <p:sp>
        <p:nvSpPr>
          <p:cNvPr id="21" name="Text 16"/>
          <p:cNvSpPr/>
          <p:nvPr/>
        </p:nvSpPr>
        <p:spPr>
          <a:xfrm>
            <a:off x="4617720" y="4251960"/>
            <a:ext cx="731520" cy="292608"/>
          </a:xfrm>
          <a:prstGeom prst="roundRect">
            <a:avLst>
              <a:gd name="adj" fmla="val 156250"/>
            </a:avLst>
          </a:prstGeom>
          <a:solidFill>
            <a:schemeClr val="accent2"/>
          </a:solidFill>
          <a:ln w="12700">
            <a:solidFill>
              <a:schemeClr val="accent2"/>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baut</a:t>
            </a:r>
            <a:endParaRPr lang="en-US" sz="1100" dirty="0"/>
          </a:p>
        </p:txBody>
      </p:sp>
      <p:sp>
        <p:nvSpPr>
          <p:cNvPr id="22" name="Text 17"/>
          <p:cNvSpPr txBox="1"/>
          <p:nvPr/>
        </p:nvSpPr>
        <p:spPr>
          <a:xfrm>
            <a:off x="868680" y="4846320"/>
            <a:ext cx="4754880" cy="731520"/>
          </a:xfrm>
          <a:prstGeom prst="rect">
            <a:avLst/>
          </a:prstGeom>
          <a:noFill/>
          <a:ln/>
        </p:spPr>
        <p:txBody>
          <a:bodyPr wrap="square" lIns="0" tIns="0" rIns="0" bIns="0" rtlCol="0" anchor="t"/>
          <a:lstStyle/>
          <a:p>
            <a:pPr indent="0" marL="0">
              <a:buNone/>
            </a:pPr>
            <a:r>
              <a:rPr lang="en-US" sz="1400" dirty="0">
                <a:solidFill>
                  <a:schemeClr val="tx2"/>
                </a:solidFill>
              </a:rPr>
              <a:t>Jeder rechnet denselben Hash selbst. CI startet meist mit leerem Cache.</a:t>
            </a:r>
            <a:endParaRPr lang="en-US" sz="1400" dirty="0"/>
          </a:p>
        </p:txBody>
      </p:sp>
      <p:sp>
        <p:nvSpPr>
          <p:cNvPr id="23" name="Text 18"/>
          <p:cNvSpPr/>
          <p:nvPr/>
        </p:nvSpPr>
        <p:spPr>
          <a:xfrm>
            <a:off x="6263640" y="1874520"/>
            <a:ext cx="5349240" cy="4160520"/>
          </a:xfrm>
          <a:prstGeom prst="roundRect">
            <a:avLst>
              <a:gd name="adj" fmla="val 1758"/>
            </a:avLst>
          </a:prstGeom>
          <a:solidFill>
            <a:schemeClr val="accent5"/>
          </a:solidFill>
          <a:ln w="12700">
            <a:solidFill>
              <a:schemeClr val="accent5"/>
            </a:solidFill>
          </a:ln>
        </p:spPr>
        <p:txBody>
          <a:bodyPr wrap="square" lIns="76200" tIns="76200" rIns="76200" bIns="76200" rtlCol="0" anchor="ctr"/>
          <a:lstStyle/>
          <a:p>
            <a:pPr algn="ctr" indent="0" marL="0">
              <a:buNone/>
            </a:pPr>
            <a:endParaRPr lang="en-US" sz="1400" dirty="0"/>
          </a:p>
        </p:txBody>
      </p:sp>
      <p:sp>
        <p:nvSpPr>
          <p:cNvPr id="24" name="Text 19"/>
          <p:cNvSpPr txBox="1"/>
          <p:nvPr/>
        </p:nvSpPr>
        <p:spPr>
          <a:xfrm>
            <a:off x="6537960" y="2011680"/>
            <a:ext cx="4754880" cy="365760"/>
          </a:xfrm>
          <a:prstGeom prst="rect">
            <a:avLst/>
          </a:prstGeom>
          <a:noFill/>
          <a:ln/>
        </p:spPr>
        <p:txBody>
          <a:bodyPr wrap="square" lIns="0" tIns="0" rIns="0" bIns="0" rtlCol="0" anchor="t"/>
          <a:lstStyle/>
          <a:p>
            <a:pPr indent="0" marL="0">
              <a:buNone/>
            </a:pPr>
            <a:r>
              <a:rPr lang="en-US" sz="1700" b="1" dirty="0">
                <a:solidFill>
                  <a:schemeClr val="tx1"/>
                </a:solidFill>
              </a:rPr>
              <a:t>Mit Remote Cache</a:t>
            </a:r>
            <a:endParaRPr lang="en-US" sz="1700" dirty="0"/>
          </a:p>
        </p:txBody>
      </p:sp>
      <p:sp>
        <p:nvSpPr>
          <p:cNvPr id="25" name="storage"/>
          <p:cNvSpPr/>
          <p:nvPr/>
        </p:nvSpPr>
        <p:spPr>
          <a:xfrm>
            <a:off x="8275320" y="3977640"/>
            <a:ext cx="1325880" cy="1234440"/>
          </a:xfrm>
          <a:prstGeom prst="can">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Remote</a:t>
            </a:r>
            <a:endParaRPr lang="en-US" sz="1300" dirty="0"/>
          </a:p>
          <a:p>
            <a:pPr algn="ctr" indent="0" marL="0">
              <a:buNone/>
            </a:pPr>
            <a:r>
              <a:rPr lang="en-US" sz="1300" b="1" dirty="0">
                <a:solidFill>
                  <a:schemeClr val="bg1"/>
                </a:solidFill>
              </a:rPr>
              <a:t>Cache</a:t>
            </a:r>
            <a:endParaRPr lang="en-US" sz="1300" dirty="0"/>
          </a:p>
        </p:txBody>
      </p:sp>
      <p:sp>
        <p:nvSpPr>
          <p:cNvPr id="26" name="Text 21"/>
          <p:cNvSpPr/>
          <p:nvPr/>
        </p:nvSpPr>
        <p:spPr>
          <a:xfrm>
            <a:off x="6537960" y="2514600"/>
            <a:ext cx="1463040" cy="1051560"/>
          </a:xfrm>
          <a:prstGeom prst="roundRect">
            <a:avLst>
              <a:gd name="adj" fmla="val 6957"/>
            </a:avLst>
          </a:prstGeom>
          <a:solidFill>
            <a:schemeClr val="bg1"/>
          </a:solidFill>
          <a:ln w="12700">
            <a:solidFill>
              <a:schemeClr val="bg1"/>
            </a:solidFill>
          </a:ln>
        </p:spPr>
        <p:txBody>
          <a:bodyPr wrap="square" lIns="76200" tIns="76200" rIns="76200" bIns="76200" rtlCol="0" anchor="ctr"/>
          <a:lstStyle/>
          <a:p>
            <a:pPr algn="ctr" indent="0" marL="0">
              <a:buNone/>
            </a:pPr>
            <a:endParaRPr lang="en-US" sz="1400" dirty="0"/>
          </a:p>
        </p:txBody>
      </p:sp>
      <p:pic>
        <p:nvPicPr>
          <p:cNvPr id="27" name="icon-FaLaptopCode" descr="preencoded.png">    </p:cNvPr>
          <p:cNvPicPr>
            <a:picLocks noChangeAspect="1"/>
          </p:cNvPicPr>
          <p:nvPr/>
        </p:nvPicPr>
        <p:blipFill>
          <a:blip r:embed="rId4"/>
          <a:stretch>
            <a:fillRect/>
          </a:stretch>
        </p:blipFill>
        <p:spPr>
          <a:xfrm>
            <a:off x="6720840" y="2697480"/>
            <a:ext cx="457200" cy="457200"/>
          </a:xfrm>
          <a:prstGeom prst="rect">
            <a:avLst/>
          </a:prstGeom>
        </p:spPr>
      </p:pic>
      <p:sp>
        <p:nvSpPr>
          <p:cNvPr id="28" name="Text 22"/>
          <p:cNvSpPr txBox="1"/>
          <p:nvPr/>
        </p:nvSpPr>
        <p:spPr>
          <a:xfrm>
            <a:off x="7269480" y="2651760"/>
            <a:ext cx="685800" cy="274320"/>
          </a:xfrm>
          <a:prstGeom prst="rect">
            <a:avLst/>
          </a:prstGeom>
          <a:noFill/>
          <a:ln/>
        </p:spPr>
        <p:txBody>
          <a:bodyPr wrap="square" lIns="0" tIns="0" rIns="0" bIns="0" rtlCol="0" anchor="t"/>
          <a:lstStyle/>
          <a:p>
            <a:pPr indent="0" marL="0">
              <a:buNone/>
            </a:pPr>
            <a:r>
              <a:rPr lang="en-US" sz="1400" b="1" dirty="0">
                <a:solidFill>
                  <a:schemeClr val="tx1"/>
                </a:solidFill>
              </a:rPr>
              <a:t>Anna</a:t>
            </a:r>
            <a:endParaRPr lang="en-US" sz="1400" dirty="0"/>
          </a:p>
        </p:txBody>
      </p:sp>
      <p:sp>
        <p:nvSpPr>
          <p:cNvPr id="29" name="Text 23"/>
          <p:cNvSpPr/>
          <p:nvPr/>
        </p:nvSpPr>
        <p:spPr>
          <a:xfrm>
            <a:off x="7223760" y="3017520"/>
            <a:ext cx="713232" cy="292608"/>
          </a:xfrm>
          <a:prstGeom prst="roundRect">
            <a:avLst>
              <a:gd name="adj" fmla="val 156250"/>
            </a:avLst>
          </a:prstGeom>
          <a:solidFill>
            <a:schemeClr val="accent2"/>
          </a:solidFill>
          <a:ln w="12700">
            <a:solidFill>
              <a:schemeClr val="accent2"/>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baut 1×</a:t>
            </a:r>
            <a:endParaRPr lang="en-US" sz="1100" dirty="0"/>
          </a:p>
        </p:txBody>
      </p:sp>
      <p:sp>
        <p:nvSpPr>
          <p:cNvPr id="30" name="arrow"/>
          <p:cNvSpPr/>
          <p:nvPr/>
        </p:nvSpPr>
        <p:spPr>
          <a:xfrm>
            <a:off x="7269480" y="3566160"/>
            <a:ext cx="1664208" cy="411480"/>
          </a:xfrm>
          <a:prstGeom prst="line">
            <a:avLst/>
          </a:prstGeom>
          <a:noFill/>
          <a:ln w="19050">
            <a:solidFill>
              <a:schemeClr val="accent1"/>
            </a:solidFill>
            <a:prstDash val="solid"/>
            <a:headEnd type="triangle"/>
            <a:tailEnd type="triangle"/>
          </a:ln>
        </p:spPr>
      </p:sp>
      <p:sp>
        <p:nvSpPr>
          <p:cNvPr id="31" name="Text 25"/>
          <p:cNvSpPr/>
          <p:nvPr/>
        </p:nvSpPr>
        <p:spPr>
          <a:xfrm>
            <a:off x="8202168" y="2514600"/>
            <a:ext cx="1463040" cy="1051560"/>
          </a:xfrm>
          <a:prstGeom prst="roundRect">
            <a:avLst>
              <a:gd name="adj" fmla="val 6957"/>
            </a:avLst>
          </a:prstGeom>
          <a:solidFill>
            <a:schemeClr val="bg1"/>
          </a:solidFill>
          <a:ln w="12700">
            <a:solidFill>
              <a:schemeClr val="bg1"/>
            </a:solidFill>
          </a:ln>
        </p:spPr>
        <p:txBody>
          <a:bodyPr wrap="square" lIns="76200" tIns="76200" rIns="76200" bIns="76200" rtlCol="0" anchor="ctr"/>
          <a:lstStyle/>
          <a:p>
            <a:pPr algn="ctr" indent="0" marL="0">
              <a:buNone/>
            </a:pPr>
            <a:endParaRPr lang="en-US" sz="1400" dirty="0"/>
          </a:p>
        </p:txBody>
      </p:sp>
      <p:pic>
        <p:nvPicPr>
          <p:cNvPr id="32" name="icon-FaLaptopCode" descr="preencoded.png">    </p:cNvPr>
          <p:cNvPicPr>
            <a:picLocks noChangeAspect="1"/>
          </p:cNvPicPr>
          <p:nvPr/>
        </p:nvPicPr>
        <p:blipFill>
          <a:blip r:embed="rId5"/>
          <a:stretch>
            <a:fillRect/>
          </a:stretch>
        </p:blipFill>
        <p:spPr>
          <a:xfrm>
            <a:off x="8385048" y="2697480"/>
            <a:ext cx="457200" cy="457200"/>
          </a:xfrm>
          <a:prstGeom prst="rect">
            <a:avLst/>
          </a:prstGeom>
        </p:spPr>
      </p:pic>
      <p:sp>
        <p:nvSpPr>
          <p:cNvPr id="33" name="Text 26"/>
          <p:cNvSpPr txBox="1"/>
          <p:nvPr/>
        </p:nvSpPr>
        <p:spPr>
          <a:xfrm>
            <a:off x="8933688" y="2651760"/>
            <a:ext cx="685800" cy="274320"/>
          </a:xfrm>
          <a:prstGeom prst="rect">
            <a:avLst/>
          </a:prstGeom>
          <a:noFill/>
          <a:ln/>
        </p:spPr>
        <p:txBody>
          <a:bodyPr wrap="square" lIns="0" tIns="0" rIns="0" bIns="0" rtlCol="0" anchor="t"/>
          <a:lstStyle/>
          <a:p>
            <a:pPr indent="0" marL="0">
              <a:buNone/>
            </a:pPr>
            <a:r>
              <a:rPr lang="en-US" sz="1400" b="1" dirty="0">
                <a:solidFill>
                  <a:schemeClr val="tx1"/>
                </a:solidFill>
              </a:rPr>
              <a:t>Ben</a:t>
            </a:r>
            <a:endParaRPr lang="en-US" sz="1400" dirty="0"/>
          </a:p>
        </p:txBody>
      </p:sp>
      <p:sp>
        <p:nvSpPr>
          <p:cNvPr id="34" name="Text 27"/>
          <p:cNvSpPr/>
          <p:nvPr/>
        </p:nvSpPr>
        <p:spPr>
          <a:xfrm>
            <a:off x="8887968" y="3017520"/>
            <a:ext cx="713232" cy="292608"/>
          </a:xfrm>
          <a:prstGeom prst="roundRect">
            <a:avLst>
              <a:gd name="adj" fmla="val 156250"/>
            </a:avLst>
          </a:prstGeom>
          <a:solidFill>
            <a:schemeClr val="accent3"/>
          </a:solidFill>
          <a:ln w="12700">
            <a:solidFill>
              <a:schemeClr val="accent3"/>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Treffer</a:t>
            </a:r>
            <a:endParaRPr lang="en-US" sz="1100" dirty="0"/>
          </a:p>
        </p:txBody>
      </p:sp>
      <p:sp>
        <p:nvSpPr>
          <p:cNvPr id="35" name="arrow"/>
          <p:cNvSpPr/>
          <p:nvPr/>
        </p:nvSpPr>
        <p:spPr>
          <a:xfrm>
            <a:off x="8933688" y="3566160"/>
            <a:ext cx="0" cy="411480"/>
          </a:xfrm>
          <a:prstGeom prst="line">
            <a:avLst/>
          </a:prstGeom>
          <a:noFill/>
          <a:ln w="19050">
            <a:solidFill>
              <a:schemeClr val="accent1"/>
            </a:solidFill>
            <a:prstDash val="solid"/>
            <a:headEnd type="triangle"/>
            <a:tailEnd type="triangle"/>
          </a:ln>
        </p:spPr>
      </p:sp>
      <p:sp>
        <p:nvSpPr>
          <p:cNvPr id="36" name="Text 29"/>
          <p:cNvSpPr/>
          <p:nvPr/>
        </p:nvSpPr>
        <p:spPr>
          <a:xfrm>
            <a:off x="9875520" y="2514600"/>
            <a:ext cx="1463040" cy="1051560"/>
          </a:xfrm>
          <a:prstGeom prst="roundRect">
            <a:avLst>
              <a:gd name="adj" fmla="val 6957"/>
            </a:avLst>
          </a:prstGeom>
          <a:solidFill>
            <a:schemeClr val="bg1"/>
          </a:solidFill>
          <a:ln w="12700">
            <a:solidFill>
              <a:schemeClr val="bg1"/>
            </a:solidFill>
          </a:ln>
        </p:spPr>
        <p:txBody>
          <a:bodyPr wrap="square" lIns="76200" tIns="76200" rIns="76200" bIns="76200" rtlCol="0" anchor="ctr"/>
          <a:lstStyle/>
          <a:p>
            <a:pPr algn="ctr" indent="0" marL="0">
              <a:buNone/>
            </a:pPr>
            <a:endParaRPr lang="en-US" sz="1400" dirty="0"/>
          </a:p>
        </p:txBody>
      </p:sp>
      <p:pic>
        <p:nvPicPr>
          <p:cNvPr id="37" name="icon-FaServer" descr="preencoded.png">    </p:cNvPr>
          <p:cNvPicPr>
            <a:picLocks noChangeAspect="1"/>
          </p:cNvPicPr>
          <p:nvPr/>
        </p:nvPicPr>
        <p:blipFill>
          <a:blip r:embed="rId6"/>
          <a:stretch>
            <a:fillRect/>
          </a:stretch>
        </p:blipFill>
        <p:spPr>
          <a:xfrm>
            <a:off x="10058400" y="2697480"/>
            <a:ext cx="457200" cy="457200"/>
          </a:xfrm>
          <a:prstGeom prst="rect">
            <a:avLst/>
          </a:prstGeom>
        </p:spPr>
      </p:pic>
      <p:sp>
        <p:nvSpPr>
          <p:cNvPr id="38" name="Text 30"/>
          <p:cNvSpPr txBox="1"/>
          <p:nvPr/>
        </p:nvSpPr>
        <p:spPr>
          <a:xfrm>
            <a:off x="10607040" y="2651760"/>
            <a:ext cx="685800" cy="274320"/>
          </a:xfrm>
          <a:prstGeom prst="rect">
            <a:avLst/>
          </a:prstGeom>
          <a:noFill/>
          <a:ln/>
        </p:spPr>
        <p:txBody>
          <a:bodyPr wrap="square" lIns="0" tIns="0" rIns="0" bIns="0" rtlCol="0" anchor="t"/>
          <a:lstStyle/>
          <a:p>
            <a:pPr indent="0" marL="0">
              <a:buNone/>
            </a:pPr>
            <a:r>
              <a:rPr lang="en-US" sz="1400" b="1" dirty="0">
                <a:solidFill>
                  <a:schemeClr val="tx1"/>
                </a:solidFill>
              </a:rPr>
              <a:t>CI</a:t>
            </a:r>
            <a:endParaRPr lang="en-US" sz="1400" dirty="0"/>
          </a:p>
        </p:txBody>
      </p:sp>
      <p:sp>
        <p:nvSpPr>
          <p:cNvPr id="39" name="Text 31"/>
          <p:cNvSpPr/>
          <p:nvPr/>
        </p:nvSpPr>
        <p:spPr>
          <a:xfrm>
            <a:off x="10561320" y="3017520"/>
            <a:ext cx="713232" cy="292608"/>
          </a:xfrm>
          <a:prstGeom prst="roundRect">
            <a:avLst>
              <a:gd name="adj" fmla="val 156250"/>
            </a:avLst>
          </a:prstGeom>
          <a:solidFill>
            <a:schemeClr val="accent3"/>
          </a:solidFill>
          <a:ln w="12700">
            <a:solidFill>
              <a:schemeClr val="accent3"/>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Treffer</a:t>
            </a:r>
            <a:endParaRPr lang="en-US" sz="1100" dirty="0"/>
          </a:p>
        </p:txBody>
      </p:sp>
      <p:sp>
        <p:nvSpPr>
          <p:cNvPr id="40" name="arrow"/>
          <p:cNvSpPr/>
          <p:nvPr/>
        </p:nvSpPr>
        <p:spPr>
          <a:xfrm flipH="1">
            <a:off x="8933688" y="3566160"/>
            <a:ext cx="1673352" cy="411480"/>
          </a:xfrm>
          <a:prstGeom prst="line">
            <a:avLst/>
          </a:prstGeom>
          <a:noFill/>
          <a:ln w="19050">
            <a:solidFill>
              <a:schemeClr val="accent1"/>
            </a:solidFill>
            <a:prstDash val="solid"/>
            <a:headEnd type="triangle"/>
            <a:tailEnd type="triangle"/>
          </a:ln>
        </p:spPr>
      </p:sp>
      <p:sp>
        <p:nvSpPr>
          <p:cNvPr id="41" name="Text 33"/>
          <p:cNvSpPr txBox="1"/>
          <p:nvPr/>
        </p:nvSpPr>
        <p:spPr>
          <a:xfrm>
            <a:off x="6537960" y="5349240"/>
            <a:ext cx="4846320" cy="548640"/>
          </a:xfrm>
          <a:prstGeom prst="rect">
            <a:avLst/>
          </a:prstGeom>
          <a:noFill/>
          <a:ln/>
        </p:spPr>
        <p:txBody>
          <a:bodyPr wrap="square" lIns="0" tIns="0" rIns="0" bIns="0" rtlCol="0" anchor="t"/>
          <a:lstStyle/>
          <a:p>
            <a:pPr indent="0" marL="0">
              <a:buNone/>
            </a:pPr>
            <a:r>
              <a:rPr lang="en-US" sz="1400" dirty="0">
                <a:solidFill>
                  <a:schemeClr val="tx1"/>
                </a:solidFill>
              </a:rPr>
              <a:t>Ein Ergebnis, alle profitieren: Kollegen und CI laden statt zu bauen.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RISIKO · CVE-2025-36852 (CREEP)</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Ein geteilter Cache kann vergiftet werden</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Ein Credential für Lesen und Schreiben reicht, um main ein fremdes Artefakt unterzuschieben</a:t>
            </a:r>
            <a:endParaRPr lang="en-US" sz="1500" dirty="0"/>
          </a:p>
        </p:txBody>
      </p:sp>
      <p:sp>
        <p:nvSpPr>
          <p:cNvPr id="5" name="Text 3"/>
          <p:cNvSpPr/>
          <p:nvPr/>
        </p:nvSpPr>
        <p:spPr>
          <a:xfrm>
            <a:off x="548640" y="2011680"/>
            <a:ext cx="2011680" cy="2148840"/>
          </a:xfrm>
          <a:prstGeom prst="roundRect">
            <a:avLst>
              <a:gd name="adj" fmla="val 3636"/>
            </a:avLst>
          </a:prstGeom>
          <a:solidFill>
            <a:srgbClr val="FBE9E7"/>
          </a:solidFill>
          <a:ln w="12700">
            <a:solidFill>
              <a:srgbClr val="F2C4BE"/>
            </a:solidFill>
          </a:ln>
        </p:spPr>
        <p:txBody>
          <a:bodyPr wrap="square" lIns="76200" tIns="76200" rIns="76200" bIns="76200" rtlCol="0" anchor="ctr"/>
          <a:lstStyle/>
          <a:p>
            <a:pPr algn="ctr" indent="0" marL="0">
              <a:buNone/>
            </a:pPr>
            <a:endParaRPr lang="en-US" sz="1400" dirty="0"/>
          </a:p>
        </p:txBody>
      </p:sp>
      <p:sp>
        <p:nvSpPr>
          <p:cNvPr id="6" name="icon-bg"/>
          <p:cNvSpPr/>
          <p:nvPr/>
        </p:nvSpPr>
        <p:spPr>
          <a:xfrm>
            <a:off x="1234440" y="2212848"/>
            <a:ext cx="640080" cy="640080"/>
          </a:xfrm>
          <a:prstGeom prst="ellipse">
            <a:avLst/>
          </a:prstGeom>
          <a:solidFill>
            <a:schemeClr val="accent4"/>
          </a:solidFill>
          <a:ln w="12700">
            <a:solidFill>
              <a:schemeClr val="accent4"/>
            </a:solidFill>
            <a:prstDash val="solid"/>
          </a:ln>
        </p:spPr>
      </p:sp>
      <p:pic>
        <p:nvPicPr>
          <p:cNvPr id="7" name="icon-FaCodeBranch" descr="preencoded.png">    </p:cNvPr>
          <p:cNvPicPr>
            <a:picLocks noChangeAspect="1"/>
          </p:cNvPicPr>
          <p:nvPr/>
        </p:nvPicPr>
        <p:blipFill>
          <a:blip r:embed="rId1"/>
          <a:stretch>
            <a:fillRect/>
          </a:stretch>
        </p:blipFill>
        <p:spPr>
          <a:xfrm>
            <a:off x="1388059" y="2366467"/>
            <a:ext cx="332842" cy="332842"/>
          </a:xfrm>
          <a:prstGeom prst="rect">
            <a:avLst/>
          </a:prstGeom>
        </p:spPr>
      </p:pic>
      <p:sp>
        <p:nvSpPr>
          <p:cNvPr id="8" name="Text 5"/>
          <p:cNvSpPr txBox="1"/>
          <p:nvPr/>
        </p:nvSpPr>
        <p:spPr>
          <a:xfrm>
            <a:off x="658368" y="2971800"/>
            <a:ext cx="1792224" cy="1097280"/>
          </a:xfrm>
          <a:prstGeom prst="rect">
            <a:avLst/>
          </a:prstGeom>
          <a:noFill/>
          <a:ln/>
        </p:spPr>
        <p:txBody>
          <a:bodyPr wrap="square" lIns="0" tIns="0" rIns="0" bIns="0" rtlCol="0" anchor="t"/>
          <a:lstStyle/>
          <a:p>
            <a:pPr algn="ctr" indent="0" marL="0">
              <a:buNone/>
            </a:pPr>
            <a:r>
              <a:rPr lang="en-US" sz="1500" b="1" dirty="0">
                <a:solidFill>
                  <a:schemeClr val="tx1"/>
                </a:solidFill>
              </a:rPr>
              <a:t>PR (auch Fork)</a:t>
            </a:r>
            <a:endParaRPr lang="en-US" sz="1400" dirty="0"/>
          </a:p>
          <a:p>
            <a:pPr algn="ctr" indent="0" marL="0">
              <a:buNone/>
            </a:pPr>
            <a:r>
              <a:rPr lang="en-US" sz="1200" dirty="0">
                <a:solidFill>
                  <a:schemeClr val="tx1"/>
                </a:solidFill>
              </a:rPr>
              <a:t>hat Lese- und Schreibzugriff auf den Cache</a:t>
            </a:r>
            <a:endParaRPr lang="en-US" sz="1400" dirty="0"/>
          </a:p>
        </p:txBody>
      </p:sp>
      <p:sp>
        <p:nvSpPr>
          <p:cNvPr id="9" name="arrow"/>
          <p:cNvSpPr/>
          <p:nvPr/>
        </p:nvSpPr>
        <p:spPr>
          <a:xfrm>
            <a:off x="2560320" y="3081528"/>
            <a:ext cx="259004" cy="0"/>
          </a:xfrm>
          <a:prstGeom prst="line">
            <a:avLst/>
          </a:prstGeom>
          <a:noFill/>
          <a:ln w="25400">
            <a:solidFill>
              <a:schemeClr val="accent4"/>
            </a:solidFill>
            <a:prstDash val="solid"/>
            <a:tailEnd type="triangle"/>
          </a:ln>
        </p:spPr>
      </p:sp>
      <p:sp>
        <p:nvSpPr>
          <p:cNvPr id="10" name="Text 7"/>
          <p:cNvSpPr/>
          <p:nvPr/>
        </p:nvSpPr>
        <p:spPr>
          <a:xfrm>
            <a:off x="2819324" y="2011680"/>
            <a:ext cx="2011680" cy="2148840"/>
          </a:xfrm>
          <a:prstGeom prst="roundRect">
            <a:avLst>
              <a:gd name="adj" fmla="val 3636"/>
            </a:avLst>
          </a:prstGeom>
          <a:solidFill>
            <a:srgbClr val="FBE9E7"/>
          </a:solidFill>
          <a:ln w="12700">
            <a:solidFill>
              <a:srgbClr val="F2C4BE"/>
            </a:solidFill>
          </a:ln>
        </p:spPr>
        <p:txBody>
          <a:bodyPr wrap="square" lIns="76200" tIns="76200" rIns="76200" bIns="76200" rtlCol="0" anchor="ctr"/>
          <a:lstStyle/>
          <a:p>
            <a:pPr algn="ctr" indent="0" marL="0">
              <a:buNone/>
            </a:pPr>
            <a:endParaRPr lang="en-US" sz="1400" dirty="0"/>
          </a:p>
        </p:txBody>
      </p:sp>
      <p:sp>
        <p:nvSpPr>
          <p:cNvPr id="11" name="icon-bg"/>
          <p:cNvSpPr/>
          <p:nvPr/>
        </p:nvSpPr>
        <p:spPr>
          <a:xfrm>
            <a:off x="3505124" y="2212848"/>
            <a:ext cx="640080" cy="640080"/>
          </a:xfrm>
          <a:prstGeom prst="ellipse">
            <a:avLst/>
          </a:prstGeom>
          <a:solidFill>
            <a:schemeClr val="accent4"/>
          </a:solidFill>
          <a:ln w="12700">
            <a:solidFill>
              <a:schemeClr val="accent4"/>
            </a:solidFill>
            <a:prstDash val="solid"/>
          </a:ln>
        </p:spPr>
      </p:sp>
      <p:pic>
        <p:nvPicPr>
          <p:cNvPr id="12" name="icon-FaBug" descr="preencoded.png">    </p:cNvPr>
          <p:cNvPicPr>
            <a:picLocks noChangeAspect="1"/>
          </p:cNvPicPr>
          <p:nvPr/>
        </p:nvPicPr>
        <p:blipFill>
          <a:blip r:embed="rId2"/>
          <a:stretch>
            <a:fillRect/>
          </a:stretch>
        </p:blipFill>
        <p:spPr>
          <a:xfrm>
            <a:off x="3658743" y="2366467"/>
            <a:ext cx="332842" cy="332842"/>
          </a:xfrm>
          <a:prstGeom prst="rect">
            <a:avLst/>
          </a:prstGeom>
        </p:spPr>
      </p:pic>
      <p:sp>
        <p:nvSpPr>
          <p:cNvPr id="13" name="Text 9"/>
          <p:cNvSpPr txBox="1"/>
          <p:nvPr/>
        </p:nvSpPr>
        <p:spPr>
          <a:xfrm>
            <a:off x="2929052" y="2971800"/>
            <a:ext cx="1792224" cy="1097280"/>
          </a:xfrm>
          <a:prstGeom prst="rect">
            <a:avLst/>
          </a:prstGeom>
          <a:noFill/>
          <a:ln/>
        </p:spPr>
        <p:txBody>
          <a:bodyPr wrap="square" lIns="0" tIns="0" rIns="0" bIns="0" rtlCol="0" anchor="t"/>
          <a:lstStyle/>
          <a:p>
            <a:pPr algn="ctr" indent="0" marL="0">
              <a:buNone/>
            </a:pPr>
            <a:r>
              <a:rPr lang="en-US" sz="1500" b="1" dirty="0">
                <a:solidFill>
                  <a:schemeClr val="tx1"/>
                </a:solidFill>
              </a:rPr>
              <a:t>Manipuliertes Artefakt</a:t>
            </a:r>
            <a:endParaRPr lang="en-US" sz="1400" dirty="0"/>
          </a:p>
          <a:p>
            <a:pPr algn="ctr" indent="0" marL="0">
              <a:buNone/>
            </a:pPr>
            <a:r>
              <a:rPr lang="en-US" sz="1200" dirty="0">
                <a:solidFill>
                  <a:schemeClr val="tx1"/>
                </a:solidFill>
              </a:rPr>
              <a:t>für einen Hash, den main bald braucht</a:t>
            </a:r>
            <a:endParaRPr lang="en-US" sz="1400" dirty="0"/>
          </a:p>
        </p:txBody>
      </p:sp>
      <p:sp>
        <p:nvSpPr>
          <p:cNvPr id="14" name="arrow"/>
          <p:cNvSpPr/>
          <p:nvPr/>
        </p:nvSpPr>
        <p:spPr>
          <a:xfrm>
            <a:off x="4831004" y="3081528"/>
            <a:ext cx="259004" cy="0"/>
          </a:xfrm>
          <a:prstGeom prst="line">
            <a:avLst/>
          </a:prstGeom>
          <a:noFill/>
          <a:ln w="25400">
            <a:solidFill>
              <a:schemeClr val="accent4"/>
            </a:solidFill>
            <a:prstDash val="solid"/>
            <a:tailEnd type="triangle"/>
          </a:ln>
        </p:spPr>
      </p:sp>
      <p:sp>
        <p:nvSpPr>
          <p:cNvPr id="15" name="Text 11"/>
          <p:cNvSpPr/>
          <p:nvPr/>
        </p:nvSpPr>
        <p:spPr>
          <a:xfrm>
            <a:off x="5090008" y="2011680"/>
            <a:ext cx="2011680" cy="2148840"/>
          </a:xfrm>
          <a:prstGeom prst="roundRect">
            <a:avLst>
              <a:gd name="adj" fmla="val 3636"/>
            </a:avLst>
          </a:prstGeom>
          <a:solidFill>
            <a:srgbClr val="FBE9E7"/>
          </a:solidFill>
          <a:ln w="12700">
            <a:solidFill>
              <a:srgbClr val="F2C4BE"/>
            </a:solidFill>
          </a:ln>
        </p:spPr>
        <p:txBody>
          <a:bodyPr wrap="square" lIns="76200" tIns="76200" rIns="76200" bIns="76200" rtlCol="0" anchor="ctr"/>
          <a:lstStyle/>
          <a:p>
            <a:pPr algn="ctr" indent="0" marL="0">
              <a:buNone/>
            </a:pPr>
            <a:endParaRPr lang="en-US" sz="1400" dirty="0"/>
          </a:p>
        </p:txBody>
      </p:sp>
      <p:sp>
        <p:nvSpPr>
          <p:cNvPr id="16" name="icon-bg"/>
          <p:cNvSpPr/>
          <p:nvPr/>
        </p:nvSpPr>
        <p:spPr>
          <a:xfrm>
            <a:off x="5775808" y="2212848"/>
            <a:ext cx="640080" cy="640080"/>
          </a:xfrm>
          <a:prstGeom prst="ellipse">
            <a:avLst/>
          </a:prstGeom>
          <a:solidFill>
            <a:schemeClr val="accent4"/>
          </a:solidFill>
          <a:ln w="12700">
            <a:solidFill>
              <a:schemeClr val="accent4"/>
            </a:solidFill>
            <a:prstDash val="solid"/>
          </a:ln>
        </p:spPr>
      </p:sp>
      <p:pic>
        <p:nvPicPr>
          <p:cNvPr id="17" name="icon-FaUpload" descr="preencoded.png">    </p:cNvPr>
          <p:cNvPicPr>
            <a:picLocks noChangeAspect="1"/>
          </p:cNvPicPr>
          <p:nvPr/>
        </p:nvPicPr>
        <p:blipFill>
          <a:blip r:embed="rId3"/>
          <a:stretch>
            <a:fillRect/>
          </a:stretch>
        </p:blipFill>
        <p:spPr>
          <a:xfrm>
            <a:off x="5929427" y="2366467"/>
            <a:ext cx="332842" cy="332842"/>
          </a:xfrm>
          <a:prstGeom prst="rect">
            <a:avLst/>
          </a:prstGeom>
        </p:spPr>
      </p:pic>
      <p:sp>
        <p:nvSpPr>
          <p:cNvPr id="18" name="Text 13"/>
          <p:cNvSpPr txBox="1"/>
          <p:nvPr/>
        </p:nvSpPr>
        <p:spPr>
          <a:xfrm>
            <a:off x="5199736" y="2971800"/>
            <a:ext cx="1792224" cy="1097280"/>
          </a:xfrm>
          <a:prstGeom prst="rect">
            <a:avLst/>
          </a:prstGeom>
          <a:noFill/>
          <a:ln/>
        </p:spPr>
        <p:txBody>
          <a:bodyPr wrap="square" lIns="0" tIns="0" rIns="0" bIns="0" rtlCol="0" anchor="t"/>
          <a:lstStyle/>
          <a:p>
            <a:pPr algn="ctr" indent="0" marL="0">
              <a:buNone/>
            </a:pPr>
            <a:r>
              <a:rPr lang="en-US" sz="1500" b="1" dirty="0">
                <a:solidFill>
                  <a:schemeClr val="tx1"/>
                </a:solidFill>
              </a:rPr>
              <a:t>Upload</a:t>
            </a:r>
            <a:endParaRPr lang="en-US" sz="1400" dirty="0"/>
          </a:p>
          <a:p>
            <a:pPr algn="ctr" indent="0" marL="0">
              <a:buNone/>
            </a:pPr>
            <a:r>
              <a:rPr lang="en-US" sz="1200" dirty="0">
                <a:solidFill>
                  <a:schemeClr val="tx1"/>
                </a:solidFill>
              </a:rPr>
              <a:t>in denselben Cache, den main liest</a:t>
            </a:r>
            <a:endParaRPr lang="en-US" sz="1400" dirty="0"/>
          </a:p>
        </p:txBody>
      </p:sp>
      <p:sp>
        <p:nvSpPr>
          <p:cNvPr id="19" name="arrow"/>
          <p:cNvSpPr/>
          <p:nvPr/>
        </p:nvSpPr>
        <p:spPr>
          <a:xfrm>
            <a:off x="7101688" y="3081528"/>
            <a:ext cx="259004" cy="0"/>
          </a:xfrm>
          <a:prstGeom prst="line">
            <a:avLst/>
          </a:prstGeom>
          <a:noFill/>
          <a:ln w="25400">
            <a:solidFill>
              <a:schemeClr val="accent4"/>
            </a:solidFill>
            <a:prstDash val="solid"/>
            <a:tailEnd type="triangle"/>
          </a:ln>
        </p:spPr>
      </p:sp>
      <p:sp>
        <p:nvSpPr>
          <p:cNvPr id="20" name="Text 15"/>
          <p:cNvSpPr/>
          <p:nvPr/>
        </p:nvSpPr>
        <p:spPr>
          <a:xfrm>
            <a:off x="7360691" y="2011680"/>
            <a:ext cx="2011680" cy="2148840"/>
          </a:xfrm>
          <a:prstGeom prst="roundRect">
            <a:avLst>
              <a:gd name="adj" fmla="val 3636"/>
            </a:avLst>
          </a:prstGeom>
          <a:solidFill>
            <a:srgbClr val="FBE9E7"/>
          </a:solidFill>
          <a:ln w="12700">
            <a:solidFill>
              <a:srgbClr val="F2C4BE"/>
            </a:solidFill>
          </a:ln>
        </p:spPr>
        <p:txBody>
          <a:bodyPr wrap="square" lIns="76200" tIns="76200" rIns="76200" bIns="76200" rtlCol="0" anchor="ctr"/>
          <a:lstStyle/>
          <a:p>
            <a:pPr algn="ctr" indent="0" marL="0">
              <a:buNone/>
            </a:pPr>
            <a:endParaRPr lang="en-US" sz="1400" dirty="0"/>
          </a:p>
        </p:txBody>
      </p:sp>
      <p:sp>
        <p:nvSpPr>
          <p:cNvPr id="21" name="icon-bg"/>
          <p:cNvSpPr/>
          <p:nvPr/>
        </p:nvSpPr>
        <p:spPr>
          <a:xfrm>
            <a:off x="8046491" y="2212848"/>
            <a:ext cx="640080" cy="640080"/>
          </a:xfrm>
          <a:prstGeom prst="ellipse">
            <a:avLst/>
          </a:prstGeom>
          <a:solidFill>
            <a:schemeClr val="accent4"/>
          </a:solidFill>
          <a:ln w="12700">
            <a:solidFill>
              <a:schemeClr val="accent4"/>
            </a:solidFill>
            <a:prstDash val="solid"/>
          </a:ln>
        </p:spPr>
      </p:sp>
      <p:pic>
        <p:nvPicPr>
          <p:cNvPr id="22" name="icon-FaServer" descr="preencoded.png">    </p:cNvPr>
          <p:cNvPicPr>
            <a:picLocks noChangeAspect="1"/>
          </p:cNvPicPr>
          <p:nvPr/>
        </p:nvPicPr>
        <p:blipFill>
          <a:blip r:embed="rId4"/>
          <a:stretch>
            <a:fillRect/>
          </a:stretch>
        </p:blipFill>
        <p:spPr>
          <a:xfrm>
            <a:off x="8200111" y="2366467"/>
            <a:ext cx="332842" cy="332842"/>
          </a:xfrm>
          <a:prstGeom prst="rect">
            <a:avLst/>
          </a:prstGeom>
        </p:spPr>
      </p:pic>
      <p:sp>
        <p:nvSpPr>
          <p:cNvPr id="23" name="Text 17"/>
          <p:cNvSpPr txBox="1"/>
          <p:nvPr/>
        </p:nvSpPr>
        <p:spPr>
          <a:xfrm>
            <a:off x="7470419" y="2971800"/>
            <a:ext cx="1792224" cy="1097280"/>
          </a:xfrm>
          <a:prstGeom prst="rect">
            <a:avLst/>
          </a:prstGeom>
          <a:noFill/>
          <a:ln/>
        </p:spPr>
        <p:txBody>
          <a:bodyPr wrap="square" lIns="0" tIns="0" rIns="0" bIns="0" rtlCol="0" anchor="t"/>
          <a:lstStyle/>
          <a:p>
            <a:pPr algn="ctr" indent="0" marL="0">
              <a:buNone/>
            </a:pPr>
            <a:r>
              <a:rPr lang="en-US" sz="1500" b="1" dirty="0">
                <a:solidFill>
                  <a:schemeClr val="tx1"/>
                </a:solidFill>
              </a:rPr>
              <a:t>main-Pipeline</a:t>
            </a:r>
            <a:endParaRPr lang="en-US" sz="1400" dirty="0"/>
          </a:p>
          <a:p>
            <a:pPr algn="ctr" indent="0" marL="0">
              <a:buNone/>
            </a:pPr>
            <a:r>
              <a:rPr lang="en-US" sz="1200" dirty="0">
                <a:solidFill>
                  <a:schemeClr val="tx1"/>
                </a:solidFill>
              </a:rPr>
              <a:t>gleicher Hash → Treffer, baut nicht</a:t>
            </a:r>
            <a:endParaRPr lang="en-US" sz="1400" dirty="0"/>
          </a:p>
        </p:txBody>
      </p:sp>
      <p:sp>
        <p:nvSpPr>
          <p:cNvPr id="24" name="arrow"/>
          <p:cNvSpPr/>
          <p:nvPr/>
        </p:nvSpPr>
        <p:spPr>
          <a:xfrm>
            <a:off x="9372371" y="3081528"/>
            <a:ext cx="259004" cy="0"/>
          </a:xfrm>
          <a:prstGeom prst="line">
            <a:avLst/>
          </a:prstGeom>
          <a:noFill/>
          <a:ln w="25400">
            <a:solidFill>
              <a:schemeClr val="accent4"/>
            </a:solidFill>
            <a:prstDash val="solid"/>
            <a:tailEnd type="triangle"/>
          </a:ln>
        </p:spPr>
      </p:sp>
      <p:sp>
        <p:nvSpPr>
          <p:cNvPr id="25" name="Text 19"/>
          <p:cNvSpPr/>
          <p:nvPr/>
        </p:nvSpPr>
        <p:spPr>
          <a:xfrm>
            <a:off x="9631375" y="2011680"/>
            <a:ext cx="2011680" cy="2148840"/>
          </a:xfrm>
          <a:prstGeom prst="roundRect">
            <a:avLst>
              <a:gd name="adj" fmla="val 3636"/>
            </a:avLst>
          </a:prstGeom>
          <a:solidFill>
            <a:schemeClr val="accent4"/>
          </a:solidFill>
          <a:ln w="12700">
            <a:solidFill>
              <a:schemeClr val="accent4"/>
            </a:solidFill>
          </a:ln>
        </p:spPr>
        <p:txBody>
          <a:bodyPr wrap="square" lIns="76200" tIns="76200" rIns="76200" bIns="76200" rtlCol="0" anchor="ctr"/>
          <a:lstStyle/>
          <a:p>
            <a:pPr algn="ctr" indent="0" marL="0">
              <a:buNone/>
            </a:pPr>
            <a:endParaRPr lang="en-US" sz="1400" dirty="0"/>
          </a:p>
        </p:txBody>
      </p:sp>
      <p:sp>
        <p:nvSpPr>
          <p:cNvPr id="26" name="icon-bg"/>
          <p:cNvSpPr/>
          <p:nvPr/>
        </p:nvSpPr>
        <p:spPr>
          <a:xfrm>
            <a:off x="10317175" y="2212848"/>
            <a:ext cx="640080" cy="640080"/>
          </a:xfrm>
          <a:prstGeom prst="ellipse">
            <a:avLst/>
          </a:prstGeom>
          <a:solidFill>
            <a:schemeClr val="bg1"/>
          </a:solidFill>
          <a:ln w="12700">
            <a:solidFill>
              <a:schemeClr val="bg1"/>
            </a:solidFill>
            <a:prstDash val="solid"/>
          </a:ln>
        </p:spPr>
      </p:sp>
      <p:pic>
        <p:nvPicPr>
          <p:cNvPr id="27" name="icon-FaSkullCrossbones" descr="preencoded.png">    </p:cNvPr>
          <p:cNvPicPr>
            <a:picLocks noChangeAspect="1"/>
          </p:cNvPicPr>
          <p:nvPr/>
        </p:nvPicPr>
        <p:blipFill>
          <a:blip r:embed="rId5"/>
          <a:stretch>
            <a:fillRect/>
          </a:stretch>
        </p:blipFill>
        <p:spPr>
          <a:xfrm>
            <a:off x="10470794" y="2366467"/>
            <a:ext cx="332842" cy="332842"/>
          </a:xfrm>
          <a:prstGeom prst="rect">
            <a:avLst/>
          </a:prstGeom>
        </p:spPr>
      </p:pic>
      <p:sp>
        <p:nvSpPr>
          <p:cNvPr id="28" name="Text 21"/>
          <p:cNvSpPr txBox="1"/>
          <p:nvPr/>
        </p:nvSpPr>
        <p:spPr>
          <a:xfrm>
            <a:off x="9741103" y="2971800"/>
            <a:ext cx="1792224" cy="1097280"/>
          </a:xfrm>
          <a:prstGeom prst="rect">
            <a:avLst/>
          </a:prstGeom>
          <a:noFill/>
          <a:ln/>
        </p:spPr>
        <p:txBody>
          <a:bodyPr wrap="square" lIns="0" tIns="0" rIns="0" bIns="0" rtlCol="0" anchor="t"/>
          <a:lstStyle/>
          <a:p>
            <a:pPr algn="ctr" indent="0" marL="0">
              <a:buNone/>
            </a:pPr>
            <a:r>
              <a:rPr lang="en-US" sz="1500" b="1" dirty="0">
                <a:solidFill>
                  <a:schemeClr val="bg1"/>
                </a:solidFill>
              </a:rPr>
              <a:t>Release vergiftet</a:t>
            </a:r>
            <a:endParaRPr lang="en-US" sz="1400" dirty="0"/>
          </a:p>
          <a:p>
            <a:pPr algn="ctr" indent="0" marL="0">
              <a:buNone/>
            </a:pPr>
            <a:r>
              <a:rPr lang="en-US" sz="1200" dirty="0">
                <a:solidFill>
                  <a:schemeClr val="bg1"/>
                </a:solidFill>
              </a:rPr>
              <a:t>Artefakt geht ungeprüft raus</a:t>
            </a:r>
            <a:endParaRPr lang="en-US" sz="1400" dirty="0"/>
          </a:p>
        </p:txBody>
      </p:sp>
      <p:sp>
        <p:nvSpPr>
          <p:cNvPr id="29" name="Text 22"/>
          <p:cNvSpPr/>
          <p:nvPr/>
        </p:nvSpPr>
        <p:spPr>
          <a:xfrm>
            <a:off x="548640" y="4480560"/>
            <a:ext cx="4206240" cy="1508760"/>
          </a:xfrm>
          <a:prstGeom prst="roundRect">
            <a:avLst>
              <a:gd name="adj" fmla="val 4848"/>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30" name="Text 23"/>
          <p:cNvSpPr txBox="1"/>
          <p:nvPr/>
        </p:nvSpPr>
        <p:spPr>
          <a:xfrm>
            <a:off x="777240" y="4617720"/>
            <a:ext cx="3749040" cy="1280160"/>
          </a:xfrm>
          <a:prstGeom prst="rect">
            <a:avLst/>
          </a:prstGeom>
          <a:noFill/>
          <a:ln/>
        </p:spPr>
        <p:txBody>
          <a:bodyPr wrap="square" lIns="0" tIns="0" rIns="0" bIns="0" rtlCol="0" anchor="t"/>
          <a:lstStyle/>
          <a:p>
            <a:pPr indent="0" marL="0">
              <a:buNone/>
            </a:pPr>
            <a:r>
              <a:rPr lang="en-US" sz="1500" b="1" dirty="0">
                <a:solidFill>
                  <a:schemeClr val="tx1"/>
                </a:solidFill>
              </a:rPr>
              <a:t>Betroffen</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@nx/s3-cache, @nx/azure-cache</a:t>
            </a:r>
            <a:endParaRPr lang="en-US" sz="1400" dirty="0"/>
          </a:p>
          <a:p>
            <a:pPr indent="0" marL="0">
              <a:buNone/>
            </a:pPr>
            <a:r>
              <a:rPr lang="en-US" sz="1300" dirty="0">
                <a:solidFill>
                  <a:schemeClr val="tx2"/>
                </a:solidFill>
              </a:rPr>
              <a:t>seit 21.05.2026 deprecated</a:t>
            </a:r>
            <a:endParaRPr lang="en-US" sz="1400" dirty="0"/>
          </a:p>
        </p:txBody>
      </p:sp>
      <p:sp>
        <p:nvSpPr>
          <p:cNvPr id="31" name="Text 24"/>
          <p:cNvSpPr/>
          <p:nvPr/>
        </p:nvSpPr>
        <p:spPr>
          <a:xfrm>
            <a:off x="5029200" y="4480560"/>
            <a:ext cx="6613855" cy="1508760"/>
          </a:xfrm>
          <a:prstGeom prst="roundRect">
            <a:avLst>
              <a:gd name="adj" fmla="val 4848"/>
            </a:avLst>
          </a:prstGeom>
          <a:solidFill>
            <a:schemeClr val="accent5"/>
          </a:solidFill>
          <a:ln w="12700">
            <a:solidFill>
              <a:schemeClr val="accent5"/>
            </a:solidFill>
          </a:ln>
        </p:spPr>
        <p:txBody>
          <a:bodyPr wrap="square" lIns="76200" tIns="76200" rIns="76200" bIns="76200" rtlCol="0" anchor="ctr"/>
          <a:lstStyle/>
          <a:p>
            <a:pPr algn="ctr" indent="0" marL="0">
              <a:buNone/>
            </a:pPr>
            <a:endParaRPr lang="en-US" sz="1400" dirty="0"/>
          </a:p>
        </p:txBody>
      </p:sp>
      <p:pic>
        <p:nvPicPr>
          <p:cNvPr id="32" name="icon-FaShieldAlt" descr="preencoded.png">    </p:cNvPr>
          <p:cNvPicPr>
            <a:picLocks noChangeAspect="1"/>
          </p:cNvPicPr>
          <p:nvPr/>
        </p:nvPicPr>
        <p:blipFill>
          <a:blip r:embed="rId6"/>
          <a:stretch>
            <a:fillRect/>
          </a:stretch>
        </p:blipFill>
        <p:spPr>
          <a:xfrm>
            <a:off x="5257800" y="4663440"/>
            <a:ext cx="457200" cy="457200"/>
          </a:xfrm>
          <a:prstGeom prst="rect">
            <a:avLst/>
          </a:prstGeom>
        </p:spPr>
      </p:pic>
      <p:sp>
        <p:nvSpPr>
          <p:cNvPr id="33" name="Text 25"/>
          <p:cNvSpPr txBox="1"/>
          <p:nvPr/>
        </p:nvSpPr>
        <p:spPr>
          <a:xfrm>
            <a:off x="5897880" y="4645152"/>
            <a:ext cx="5516575" cy="1234440"/>
          </a:xfrm>
          <a:prstGeom prst="rect">
            <a:avLst/>
          </a:prstGeom>
          <a:noFill/>
          <a:ln/>
        </p:spPr>
        <p:txBody>
          <a:bodyPr wrap="square" lIns="0" tIns="0" rIns="0" bIns="0" rtlCol="0" anchor="t"/>
          <a:lstStyle/>
          <a:p>
            <a:pPr indent="0" marL="0">
              <a:buNone/>
            </a:pPr>
            <a:r>
              <a:rPr lang="en-US" sz="1500" b="1" dirty="0">
                <a:solidFill>
                  <a:schemeClr val="tx1"/>
                </a:solidFill>
              </a:rPr>
              <a:t>Unsere Antwort: eigener Server mit</a:t>
            </a:r>
            <a:endParaRPr lang="en-US" sz="1400" dirty="0"/>
          </a:p>
          <a:p>
            <a:pPr indent="0" marL="0">
              <a:buNone/>
            </a:pPr>
            <a:r>
              <a:rPr lang="en-US" sz="1400" dirty="0">
                <a:solidFill>
                  <a:schemeClr val="tx1"/>
                </a:solidFill>
              </a:rPr>
              <a:t>Rollen + getrennten Namespaces · write-once · Hash-Validierung · Größenlimit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365760"/>
          </a:xfrm>
          <a:prstGeom prst="rect">
            <a:avLst/>
          </a:prstGeom>
          <a:noFill/>
          <a:ln/>
        </p:spPr>
        <p:txBody>
          <a:bodyPr wrap="square" lIns="0" tIns="0" rIns="0" bIns="0" rtlCol="0"/>
          <a:lstStyle/>
          <a:p>
            <a:pPr indent="0" marL="0">
              <a:buNone/>
            </a:pPr>
            <a:r>
              <a:rPr lang="en-US" sz="1200" spc="200" kern="0" dirty="0">
                <a:solidFill>
                  <a:srgbClr val="7FD1C4"/>
                </a:solidFill>
                <a:latin typeface="Courier New" pitchFamily="34" charset="0"/>
                <a:ea typeface="Courier New" pitchFamily="34" charset="-122"/>
                <a:cs typeface="Courier New" pitchFamily="34" charset="-120"/>
              </a:rPr>
              <a:t>TEIL 2</a:t>
            </a:r>
            <a:endParaRPr lang="en-US" sz="1200" dirty="0"/>
          </a:p>
        </p:txBody>
      </p:sp>
      <p:sp>
        <p:nvSpPr>
          <p:cNvPr id="3" name="Text 0"/>
          <p:cNvSpPr/>
          <p:nvPr>
            <p:ph idx="101" type="title" hasCustomPrompt="1"/>
          </p:nvPr>
        </p:nvSpPr>
        <p:spPr>
          <a:xfrm>
            <a:off x="548640" y="27889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Unser Remote Cache</a:t>
            </a:r>
            <a:endParaRPr lang="en-US" sz="4000" dirty="0"/>
          </a:p>
        </p:txBody>
      </p:sp>
      <p:sp>
        <p:nvSpPr>
          <p:cNvPr id="4" name="Text 0"/>
          <p:cNvSpPr/>
          <p:nvPr>
            <p:ph idx="102" type="body" hasCustomPrompt="1"/>
          </p:nvPr>
        </p:nvSpPr>
        <p:spPr>
          <a:xfrm>
            <a:off x="548640" y="3794760"/>
            <a:ext cx="8229600" cy="822960"/>
          </a:xfrm>
          <a:prstGeom prst="rect">
            <a:avLst/>
          </a:prstGeom>
          <a:noFill/>
          <a:ln/>
        </p:spPr>
        <p:txBody>
          <a:bodyPr wrap="square" lIns="0" tIns="0" rIns="0" bIns="0" rtlCol="0" anchor="t"/>
          <a:lstStyle/>
          <a:p>
            <a:pPr indent="0" marL="0">
              <a:buNone/>
            </a:pPr>
            <a:r>
              <a:rPr lang="en-US" sz="1600" dirty="0">
                <a:solidFill>
                  <a:srgbClr val="C9D3DA"/>
                </a:solidFill>
              </a:rPr>
              <a:t>packages/nx-remote-cache-custom: Nx custom remote cache spec, MinIO/S3 oder Azure Blob</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6A1"/>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ARCHITEKTUR</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Kleiner Server zwischen Nx und Object Storage</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Nx spricht HTTP nach Spec, der Server prüft und legt Objekte im Speicher ab</a:t>
            </a:r>
            <a:endParaRPr lang="en-US" sz="1500" dirty="0"/>
          </a:p>
        </p:txBody>
      </p:sp>
      <p:sp>
        <p:nvSpPr>
          <p:cNvPr id="5" name="Text 3"/>
          <p:cNvSpPr/>
          <p:nvPr/>
        </p:nvSpPr>
        <p:spPr>
          <a:xfrm>
            <a:off x="548640" y="2011680"/>
            <a:ext cx="2240280" cy="1097280"/>
          </a:xfrm>
          <a:prstGeom prst="roundRect">
            <a:avLst>
              <a:gd name="adj" fmla="val 6667"/>
            </a:avLst>
          </a:prstGeom>
          <a:solidFill>
            <a:schemeClr val="accent5"/>
          </a:solidFill>
          <a:ln w="12700">
            <a:solidFill>
              <a:schemeClr val="accent5"/>
            </a:solidFill>
          </a:ln>
        </p:spPr>
        <p:txBody>
          <a:bodyPr wrap="square" lIns="76200" tIns="76200" rIns="76200" bIns="76200" rtlCol="0" anchor="ctr"/>
          <a:lstStyle/>
          <a:p>
            <a:pPr algn="ctr" indent="0" marL="0">
              <a:buNone/>
            </a:pPr>
            <a:endParaRPr lang="en-US" sz="1400" dirty="0"/>
          </a:p>
        </p:txBody>
      </p:sp>
      <p:pic>
        <p:nvPicPr>
          <p:cNvPr id="6" name="icon-FaServer" descr="preencoded.png">    </p:cNvPr>
          <p:cNvPicPr>
            <a:picLocks noChangeAspect="1"/>
          </p:cNvPicPr>
          <p:nvPr/>
        </p:nvPicPr>
        <p:blipFill>
          <a:blip r:embed="rId1"/>
          <a:stretch>
            <a:fillRect/>
          </a:stretch>
        </p:blipFill>
        <p:spPr>
          <a:xfrm>
            <a:off x="731520" y="2313432"/>
            <a:ext cx="475488" cy="475488"/>
          </a:xfrm>
          <a:prstGeom prst="rect">
            <a:avLst/>
          </a:prstGeom>
        </p:spPr>
      </p:pic>
      <p:sp>
        <p:nvSpPr>
          <p:cNvPr id="7" name="Text 4"/>
          <p:cNvSpPr txBox="1"/>
          <p:nvPr/>
        </p:nvSpPr>
        <p:spPr>
          <a:xfrm>
            <a:off x="1371600" y="2240280"/>
            <a:ext cx="1371600" cy="685800"/>
          </a:xfrm>
          <a:prstGeom prst="rect">
            <a:avLst/>
          </a:prstGeom>
          <a:noFill/>
          <a:ln/>
        </p:spPr>
        <p:txBody>
          <a:bodyPr wrap="square" lIns="0" tIns="0" rIns="0" bIns="0" rtlCol="0" anchor="ctr"/>
          <a:lstStyle/>
          <a:p>
            <a:pPr indent="0" marL="0">
              <a:buNone/>
            </a:pPr>
            <a:r>
              <a:rPr lang="en-US" sz="1400" b="1" dirty="0">
                <a:solidFill>
                  <a:schemeClr val="tx1"/>
                </a:solidFill>
              </a:rPr>
              <a:t>CI auf main</a:t>
            </a:r>
            <a:endParaRPr lang="en-US" sz="14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ci-token</a:t>
            </a:r>
            <a:endParaRPr lang="en-US" sz="1400" dirty="0"/>
          </a:p>
        </p:txBody>
      </p:sp>
      <p:sp>
        <p:nvSpPr>
          <p:cNvPr id="8" name="arrow"/>
          <p:cNvSpPr/>
          <p:nvPr/>
        </p:nvSpPr>
        <p:spPr>
          <a:xfrm>
            <a:off x="2788920" y="2560320"/>
            <a:ext cx="502920" cy="1097280"/>
          </a:xfrm>
          <a:prstGeom prst="line">
            <a:avLst/>
          </a:prstGeom>
          <a:noFill/>
          <a:ln w="15875">
            <a:solidFill>
              <a:schemeClr val="tx2"/>
            </a:solidFill>
            <a:prstDash val="solid"/>
            <a:tailEnd type="triangle"/>
          </a:ln>
        </p:spPr>
      </p:sp>
      <p:sp>
        <p:nvSpPr>
          <p:cNvPr id="9" name="Text 6"/>
          <p:cNvSpPr/>
          <p:nvPr/>
        </p:nvSpPr>
        <p:spPr>
          <a:xfrm>
            <a:off x="548640" y="3383280"/>
            <a:ext cx="2240280" cy="1097280"/>
          </a:xfrm>
          <a:prstGeom prst="roundRect">
            <a:avLst>
              <a:gd name="adj" fmla="val 6667"/>
            </a:avLst>
          </a:prstGeom>
          <a:solidFill>
            <a:schemeClr val="accent6"/>
          </a:solidFill>
          <a:ln w="12700">
            <a:solidFill>
              <a:schemeClr val="accent6"/>
            </a:solidFill>
          </a:ln>
        </p:spPr>
        <p:txBody>
          <a:bodyPr wrap="square" lIns="76200" tIns="76200" rIns="76200" bIns="76200" rtlCol="0" anchor="ctr"/>
          <a:lstStyle/>
          <a:p>
            <a:pPr algn="ctr" indent="0" marL="0">
              <a:buNone/>
            </a:pPr>
            <a:endParaRPr lang="en-US" sz="1400" dirty="0"/>
          </a:p>
        </p:txBody>
      </p:sp>
      <p:pic>
        <p:nvPicPr>
          <p:cNvPr id="10" name="icon-FaLaptopCode" descr="preencoded.png">    </p:cNvPr>
          <p:cNvPicPr>
            <a:picLocks noChangeAspect="1"/>
          </p:cNvPicPr>
          <p:nvPr/>
        </p:nvPicPr>
        <p:blipFill>
          <a:blip r:embed="rId2"/>
          <a:stretch>
            <a:fillRect/>
          </a:stretch>
        </p:blipFill>
        <p:spPr>
          <a:xfrm>
            <a:off x="731520" y="3685032"/>
            <a:ext cx="475488" cy="475488"/>
          </a:xfrm>
          <a:prstGeom prst="rect">
            <a:avLst/>
          </a:prstGeom>
        </p:spPr>
      </p:pic>
      <p:sp>
        <p:nvSpPr>
          <p:cNvPr id="11" name="Text 7"/>
          <p:cNvSpPr txBox="1"/>
          <p:nvPr/>
        </p:nvSpPr>
        <p:spPr>
          <a:xfrm>
            <a:off x="1371600" y="3611880"/>
            <a:ext cx="1371600" cy="685800"/>
          </a:xfrm>
          <a:prstGeom prst="rect">
            <a:avLst/>
          </a:prstGeom>
          <a:noFill/>
          <a:ln/>
        </p:spPr>
        <p:txBody>
          <a:bodyPr wrap="square" lIns="0" tIns="0" rIns="0" bIns="0" rtlCol="0" anchor="ctr"/>
          <a:lstStyle/>
          <a:p>
            <a:pPr indent="0" marL="0">
              <a:buNone/>
            </a:pPr>
            <a:r>
              <a:rPr lang="en-US" sz="1400" b="1" dirty="0">
                <a:solidFill>
                  <a:schemeClr val="tx1"/>
                </a:solidFill>
              </a:rPr>
              <a:t>Entwickler</a:t>
            </a:r>
            <a:endParaRPr lang="en-US" sz="1400" dirty="0"/>
          </a:p>
          <a:p>
            <a:pPr indent="0" marL="0">
              <a:buNone/>
            </a:pPr>
            <a:r>
              <a:rPr lang="en-US" sz="1200" b="1" dirty="0">
                <a:solidFill>
                  <a:schemeClr val="accent2"/>
                </a:solidFill>
                <a:latin typeface="Courier New" pitchFamily="34" charset="0"/>
                <a:ea typeface="Courier New" pitchFamily="34" charset="-122"/>
                <a:cs typeface="Courier New" pitchFamily="34" charset="-120"/>
              </a:rPr>
              <a:t>dev-token</a:t>
            </a:r>
            <a:endParaRPr lang="en-US" sz="1400" dirty="0"/>
          </a:p>
        </p:txBody>
      </p:sp>
      <p:sp>
        <p:nvSpPr>
          <p:cNvPr id="12" name="arrow"/>
          <p:cNvSpPr/>
          <p:nvPr/>
        </p:nvSpPr>
        <p:spPr>
          <a:xfrm flipV="1">
            <a:off x="2788920" y="3657600"/>
            <a:ext cx="502920" cy="274320"/>
          </a:xfrm>
          <a:prstGeom prst="line">
            <a:avLst/>
          </a:prstGeom>
          <a:noFill/>
          <a:ln w="15875">
            <a:solidFill>
              <a:schemeClr val="tx2"/>
            </a:solidFill>
            <a:prstDash val="solid"/>
            <a:tailEnd type="triangle"/>
          </a:ln>
        </p:spPr>
      </p:sp>
      <p:sp>
        <p:nvSpPr>
          <p:cNvPr id="13" name="Text 9"/>
          <p:cNvSpPr/>
          <p:nvPr/>
        </p:nvSpPr>
        <p:spPr>
          <a:xfrm>
            <a:off x="548640" y="4754880"/>
            <a:ext cx="2240280" cy="1097280"/>
          </a:xfrm>
          <a:prstGeom prst="roundRect">
            <a:avLst>
              <a:gd name="adj" fmla="val 6667"/>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pic>
        <p:nvPicPr>
          <p:cNvPr id="14" name="icon-FaCodeBranch" descr="preencoded.png">    </p:cNvPr>
          <p:cNvPicPr>
            <a:picLocks noChangeAspect="1"/>
          </p:cNvPicPr>
          <p:nvPr/>
        </p:nvPicPr>
        <p:blipFill>
          <a:blip r:embed="rId3"/>
          <a:stretch>
            <a:fillRect/>
          </a:stretch>
        </p:blipFill>
        <p:spPr>
          <a:xfrm>
            <a:off x="731520" y="5056632"/>
            <a:ext cx="475488" cy="475488"/>
          </a:xfrm>
          <a:prstGeom prst="rect">
            <a:avLst/>
          </a:prstGeom>
        </p:spPr>
      </p:pic>
      <p:sp>
        <p:nvSpPr>
          <p:cNvPr id="15" name="Text 10"/>
          <p:cNvSpPr txBox="1"/>
          <p:nvPr/>
        </p:nvSpPr>
        <p:spPr>
          <a:xfrm>
            <a:off x="1371600" y="4983480"/>
            <a:ext cx="1371600" cy="685800"/>
          </a:xfrm>
          <a:prstGeom prst="rect">
            <a:avLst/>
          </a:prstGeom>
          <a:noFill/>
          <a:ln/>
        </p:spPr>
        <p:txBody>
          <a:bodyPr wrap="square" lIns="0" tIns="0" rIns="0" bIns="0" rtlCol="0" anchor="ctr"/>
          <a:lstStyle/>
          <a:p>
            <a:pPr indent="0" marL="0">
              <a:buNone/>
            </a:pPr>
            <a:r>
              <a:rPr lang="en-US" sz="1400" b="1" dirty="0">
                <a:solidFill>
                  <a:schemeClr val="tx1"/>
                </a:solidFill>
              </a:rPr>
              <a:t>PR-Pipelines</a:t>
            </a:r>
            <a:endParaRPr lang="en-US" sz="1400" dirty="0"/>
          </a:p>
          <a:p>
            <a:pPr indent="0" marL="0">
              <a:buNone/>
            </a:pPr>
            <a:r>
              <a:rPr lang="en-US" sz="1200" b="1" dirty="0">
                <a:solidFill>
                  <a:schemeClr val="tx2"/>
                </a:solidFill>
                <a:latin typeface="Courier New" pitchFamily="34" charset="0"/>
                <a:ea typeface="Courier New" pitchFamily="34" charset="-122"/>
                <a:cs typeface="Courier New" pitchFamily="34" charset="-120"/>
              </a:rPr>
              <a:t>ro-token</a:t>
            </a:r>
            <a:endParaRPr lang="en-US" sz="1400" dirty="0"/>
          </a:p>
        </p:txBody>
      </p:sp>
      <p:sp>
        <p:nvSpPr>
          <p:cNvPr id="16" name="arrow"/>
          <p:cNvSpPr/>
          <p:nvPr/>
        </p:nvSpPr>
        <p:spPr>
          <a:xfrm flipV="1">
            <a:off x="2788920" y="3657600"/>
            <a:ext cx="502920" cy="1645920"/>
          </a:xfrm>
          <a:prstGeom prst="line">
            <a:avLst/>
          </a:prstGeom>
          <a:noFill/>
          <a:ln w="15875">
            <a:solidFill>
              <a:schemeClr val="tx2"/>
            </a:solidFill>
            <a:prstDash val="solid"/>
            <a:tailEnd type="triangle"/>
          </a:ln>
        </p:spPr>
      </p:sp>
      <p:sp>
        <p:nvSpPr>
          <p:cNvPr id="17" name="Text 12"/>
          <p:cNvSpPr/>
          <p:nvPr/>
        </p:nvSpPr>
        <p:spPr>
          <a:xfrm>
            <a:off x="3291840" y="2697480"/>
            <a:ext cx="1737360" cy="1920240"/>
          </a:xfrm>
          <a:prstGeom prst="roundRect">
            <a:avLst>
              <a:gd name="adj" fmla="val 4211"/>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pic>
        <p:nvPicPr>
          <p:cNvPr id="18" name="icon-FaLock" descr="preencoded.png">    </p:cNvPr>
          <p:cNvPicPr>
            <a:picLocks noChangeAspect="1"/>
          </p:cNvPicPr>
          <p:nvPr/>
        </p:nvPicPr>
        <p:blipFill>
          <a:blip r:embed="rId4"/>
          <a:stretch>
            <a:fillRect/>
          </a:stretch>
        </p:blipFill>
        <p:spPr>
          <a:xfrm>
            <a:off x="3931920" y="2834640"/>
            <a:ext cx="457200" cy="457200"/>
          </a:xfrm>
          <a:prstGeom prst="rect">
            <a:avLst/>
          </a:prstGeom>
        </p:spPr>
      </p:pic>
      <p:sp>
        <p:nvSpPr>
          <p:cNvPr id="19" name="Text 13"/>
          <p:cNvSpPr txBox="1"/>
          <p:nvPr/>
        </p:nvSpPr>
        <p:spPr>
          <a:xfrm>
            <a:off x="3383280" y="3383280"/>
            <a:ext cx="1554480" cy="1097280"/>
          </a:xfrm>
          <a:prstGeom prst="rect">
            <a:avLst/>
          </a:prstGeom>
          <a:noFill/>
          <a:ln/>
        </p:spPr>
        <p:txBody>
          <a:bodyPr wrap="square" lIns="0" tIns="0" rIns="0" bIns="0" rtlCol="0" anchor="t"/>
          <a:lstStyle/>
          <a:p>
            <a:pPr algn="ctr" indent="0" marL="0">
              <a:buNone/>
            </a:pPr>
            <a:r>
              <a:rPr lang="en-US" sz="1400" b="1" dirty="0">
                <a:solidFill>
                  <a:schemeClr val="tx1"/>
                </a:solidFill>
              </a:rPr>
              <a:t>TLS-Proxy</a:t>
            </a:r>
            <a:endParaRPr lang="en-US" sz="1400" dirty="0"/>
          </a:p>
          <a:p>
            <a:pPr algn="ctr" indent="0" marL="0">
              <a:buNone/>
            </a:pPr>
            <a:r>
              <a:rPr lang="en-US" sz="1200" dirty="0">
                <a:solidFill>
                  <a:schemeClr val="tx2"/>
                </a:solidFill>
              </a:rPr>
              <a:t>HTTPS, Body ≥ 2 GiB, kein Buffering</a:t>
            </a:r>
            <a:endParaRPr lang="en-US" sz="1400" dirty="0"/>
          </a:p>
        </p:txBody>
      </p:sp>
      <p:sp>
        <p:nvSpPr>
          <p:cNvPr id="20" name="arrow"/>
          <p:cNvSpPr/>
          <p:nvPr/>
        </p:nvSpPr>
        <p:spPr>
          <a:xfrm>
            <a:off x="5029200" y="3657600"/>
            <a:ext cx="457200" cy="0"/>
          </a:xfrm>
          <a:prstGeom prst="line">
            <a:avLst/>
          </a:prstGeom>
          <a:noFill/>
          <a:ln w="25400">
            <a:solidFill>
              <a:schemeClr val="tx1"/>
            </a:solidFill>
            <a:prstDash val="solid"/>
            <a:tailEnd type="triangle"/>
          </a:ln>
        </p:spPr>
      </p:sp>
      <p:sp>
        <p:nvSpPr>
          <p:cNvPr id="21" name="Text 15"/>
          <p:cNvSpPr txBox="1"/>
          <p:nvPr/>
        </p:nvSpPr>
        <p:spPr>
          <a:xfrm>
            <a:off x="2697480" y="2331720"/>
            <a:ext cx="1097280" cy="2286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Bearer</a:t>
            </a:r>
            <a:endParaRPr lang="en-US" sz="1100" dirty="0"/>
          </a:p>
        </p:txBody>
      </p:sp>
      <p:sp>
        <p:nvSpPr>
          <p:cNvPr id="22" name="server"/>
          <p:cNvSpPr/>
          <p:nvPr/>
        </p:nvSpPr>
        <p:spPr>
          <a:xfrm>
            <a:off x="5486400" y="1874520"/>
            <a:ext cx="3429000" cy="3931920"/>
          </a:xfrm>
          <a:prstGeom prst="roundRect">
            <a:avLst>
              <a:gd name="adj" fmla="val 2133"/>
            </a:avLst>
          </a:prstGeom>
          <a:solidFill>
            <a:schemeClr val="tx1"/>
          </a:solidFill>
          <a:ln w="12700">
            <a:solidFill>
              <a:schemeClr val="tx1"/>
            </a:solidFill>
          </a:ln>
        </p:spPr>
        <p:txBody>
          <a:bodyPr wrap="square" lIns="76200" tIns="76200" rIns="76200" bIns="76200" rtlCol="0" anchor="ctr"/>
          <a:lstStyle/>
          <a:p>
            <a:pPr algn="ctr" indent="0" marL="0">
              <a:buNone/>
            </a:pPr>
            <a:endParaRPr lang="en-US" sz="1400" dirty="0"/>
          </a:p>
        </p:txBody>
      </p:sp>
      <p:sp>
        <p:nvSpPr>
          <p:cNvPr id="23" name="Text 17"/>
          <p:cNvSpPr txBox="1"/>
          <p:nvPr/>
        </p:nvSpPr>
        <p:spPr>
          <a:xfrm>
            <a:off x="5669280" y="2011680"/>
            <a:ext cx="3108960" cy="64008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nx-remote-cache-custom</a:t>
            </a:r>
            <a:endParaRPr lang="en-US" sz="1400" dirty="0"/>
          </a:p>
          <a:p>
            <a:pPr indent="0" marL="0">
              <a:buNone/>
            </a:pPr>
            <a:r>
              <a:rPr lang="en-US" sz="1200" dirty="0">
                <a:solidFill>
                  <a:srgbClr val="B8C4CC"/>
                </a:solidFill>
              </a:rPr>
              <a:t>Node · Effect 4 · zustandslos, n Replicas</a:t>
            </a:r>
            <a:endParaRPr lang="en-US" sz="1400" dirty="0"/>
          </a:p>
        </p:txBody>
      </p:sp>
      <p:sp>
        <p:nvSpPr>
          <p:cNvPr id="24" name="Text 18"/>
          <p:cNvSpPr/>
          <p:nvPr/>
        </p:nvSpPr>
        <p:spPr>
          <a:xfrm>
            <a:off x="5669280" y="2788920"/>
            <a:ext cx="3063240" cy="603504"/>
          </a:xfrm>
          <a:prstGeom prst="roundRect">
            <a:avLst>
              <a:gd name="adj" fmla="val 12121"/>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25" name="Text 19"/>
          <p:cNvSpPr txBox="1"/>
          <p:nvPr/>
        </p:nvSpPr>
        <p:spPr>
          <a:xfrm>
            <a:off x="5806440" y="2788920"/>
            <a:ext cx="2834640" cy="603504"/>
          </a:xfrm>
          <a:prstGeom prst="rect">
            <a:avLst/>
          </a:prstGeom>
          <a:noFill/>
          <a:ln/>
        </p:spPr>
        <p:txBody>
          <a:bodyPr wrap="square" lIns="0" tIns="0" rIns="0" bIns="0" rtlCol="0" anchor="ctr"/>
          <a:lstStyle/>
          <a:p>
            <a:pPr indent="0" marL="0">
              <a:buNone/>
            </a:pPr>
            <a:r>
              <a:rPr lang="en-US" sz="1300" b="1" dirty="0">
                <a:solidFill>
                  <a:srgbClr val="7FD1C4"/>
                </a:solidFill>
              </a:rPr>
              <a:t>Auth  </a:t>
            </a:r>
            <a:pPr indent="0" marL="0">
              <a:buNone/>
            </a:pPr>
            <a:r>
              <a:rPr lang="en-US" sz="1200" dirty="0">
                <a:solidFill>
                  <a:srgbClr val="D5DDE2"/>
                </a:solidFill>
              </a:rPr>
              <a:t>Token → Rolle, konstante Laufzeit</a:t>
            </a:r>
            <a:endParaRPr lang="en-US" sz="1300" dirty="0"/>
          </a:p>
        </p:txBody>
      </p:sp>
      <p:sp>
        <p:nvSpPr>
          <p:cNvPr id="26" name="Text 20"/>
          <p:cNvSpPr/>
          <p:nvPr/>
        </p:nvSpPr>
        <p:spPr>
          <a:xfrm>
            <a:off x="5669280" y="3520440"/>
            <a:ext cx="3063240" cy="603504"/>
          </a:xfrm>
          <a:prstGeom prst="roundRect">
            <a:avLst>
              <a:gd name="adj" fmla="val 12121"/>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27" name="Text 21"/>
          <p:cNvSpPr txBox="1"/>
          <p:nvPr/>
        </p:nvSpPr>
        <p:spPr>
          <a:xfrm>
            <a:off x="5806440" y="3520440"/>
            <a:ext cx="2834640" cy="603504"/>
          </a:xfrm>
          <a:prstGeom prst="rect">
            <a:avLst/>
          </a:prstGeom>
          <a:noFill/>
          <a:ln/>
        </p:spPr>
        <p:txBody>
          <a:bodyPr wrap="square" lIns="0" tIns="0" rIns="0" bIns="0" rtlCol="0" anchor="ctr"/>
          <a:lstStyle/>
          <a:p>
            <a:pPr indent="0" marL="0">
              <a:buNone/>
            </a:pPr>
            <a:r>
              <a:rPr lang="en-US" sz="1300" b="1" dirty="0">
                <a:solidFill>
                  <a:srgbClr val="7FD1C4"/>
                </a:solidFill>
              </a:rPr>
              <a:t>Routen  </a:t>
            </a:r>
            <a:pPr indent="0" marL="0">
              <a:buNone/>
            </a:pPr>
            <a:r>
              <a:rPr lang="en-US" sz="1200" dirty="0">
                <a:solidFill>
                  <a:srgbClr val="D5DDE2"/>
                </a:solidFill>
              </a:rPr>
              <a:t>GET/PUT /v1/cache/{hash}, /health</a:t>
            </a:r>
            <a:endParaRPr lang="en-US" sz="1300" dirty="0"/>
          </a:p>
        </p:txBody>
      </p:sp>
      <p:sp>
        <p:nvSpPr>
          <p:cNvPr id="28" name="Text 22"/>
          <p:cNvSpPr/>
          <p:nvPr/>
        </p:nvSpPr>
        <p:spPr>
          <a:xfrm>
            <a:off x="5669280" y="4251960"/>
            <a:ext cx="3063240" cy="603504"/>
          </a:xfrm>
          <a:prstGeom prst="roundRect">
            <a:avLst>
              <a:gd name="adj" fmla="val 12121"/>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29" name="Text 23"/>
          <p:cNvSpPr txBox="1"/>
          <p:nvPr/>
        </p:nvSpPr>
        <p:spPr>
          <a:xfrm>
            <a:off x="5806440" y="4251960"/>
            <a:ext cx="2834640" cy="603504"/>
          </a:xfrm>
          <a:prstGeom prst="rect">
            <a:avLst/>
          </a:prstGeom>
          <a:noFill/>
          <a:ln/>
        </p:spPr>
        <p:txBody>
          <a:bodyPr wrap="square" lIns="0" tIns="0" rIns="0" bIns="0" rtlCol="0" anchor="ctr"/>
          <a:lstStyle/>
          <a:p>
            <a:pPr indent="0" marL="0">
              <a:buNone/>
            </a:pPr>
            <a:r>
              <a:rPr lang="en-US" sz="1300" b="1" dirty="0">
                <a:solidFill>
                  <a:srgbClr val="7FD1C4"/>
                </a:solidFill>
              </a:rPr>
              <a:t>Prüfungen  </a:t>
            </a:r>
            <a:pPr indent="0" marL="0">
              <a:buNone/>
            </a:pPr>
            <a:r>
              <a:rPr lang="en-US" sz="1200" dirty="0">
                <a:solidFill>
                  <a:srgbClr val="D5DDE2"/>
                </a:solidFill>
              </a:rPr>
              <a:t>Hash, Content-Length, Limit, 409</a:t>
            </a:r>
            <a:endParaRPr lang="en-US" sz="1300" dirty="0"/>
          </a:p>
        </p:txBody>
      </p:sp>
      <p:sp>
        <p:nvSpPr>
          <p:cNvPr id="30" name="Text 24"/>
          <p:cNvSpPr/>
          <p:nvPr/>
        </p:nvSpPr>
        <p:spPr>
          <a:xfrm>
            <a:off x="5669280" y="4983480"/>
            <a:ext cx="3063240" cy="603504"/>
          </a:xfrm>
          <a:prstGeom prst="roundRect">
            <a:avLst>
              <a:gd name="adj" fmla="val 12121"/>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31" name="Text 25"/>
          <p:cNvSpPr txBox="1"/>
          <p:nvPr/>
        </p:nvSpPr>
        <p:spPr>
          <a:xfrm>
            <a:off x="5806440" y="4983480"/>
            <a:ext cx="2834640" cy="603504"/>
          </a:xfrm>
          <a:prstGeom prst="rect">
            <a:avLst/>
          </a:prstGeom>
          <a:noFill/>
          <a:ln/>
        </p:spPr>
        <p:txBody>
          <a:bodyPr wrap="square" lIns="0" tIns="0" rIns="0" bIns="0" rtlCol="0" anchor="ctr"/>
          <a:lstStyle/>
          <a:p>
            <a:pPr indent="0" marL="0">
              <a:buNone/>
            </a:pPr>
            <a:r>
              <a:rPr lang="en-US" sz="1300" b="1" dirty="0">
                <a:solidFill>
                  <a:srgbClr val="7FD1C4"/>
                </a:solidFill>
              </a:rPr>
              <a:t>CacheStorage  </a:t>
            </a:r>
            <a:pPr indent="0" marL="0">
              <a:buNone/>
            </a:pPr>
            <a:r>
              <a:rPr lang="en-US" sz="1200" dirty="0">
                <a:solidFill>
                  <a:srgbClr val="D5DDE2"/>
                </a:solidFill>
              </a:rPr>
              <a:t>get · exists · put (write-once)</a:t>
            </a:r>
            <a:endParaRPr lang="en-US" sz="1300" dirty="0"/>
          </a:p>
        </p:txBody>
      </p:sp>
      <p:sp>
        <p:nvSpPr>
          <p:cNvPr id="32" name="arrow"/>
          <p:cNvSpPr/>
          <p:nvPr/>
        </p:nvSpPr>
        <p:spPr>
          <a:xfrm flipV="1">
            <a:off x="8915400" y="2834640"/>
            <a:ext cx="594360" cy="365760"/>
          </a:xfrm>
          <a:prstGeom prst="line">
            <a:avLst/>
          </a:prstGeom>
          <a:noFill/>
          <a:ln w="25400">
            <a:solidFill>
              <a:schemeClr val="tx1"/>
            </a:solidFill>
            <a:prstDash val="solid"/>
            <a:tailEnd type="triangle"/>
          </a:ln>
        </p:spPr>
      </p:sp>
      <p:sp>
        <p:nvSpPr>
          <p:cNvPr id="33" name="arrow"/>
          <p:cNvSpPr/>
          <p:nvPr/>
        </p:nvSpPr>
        <p:spPr>
          <a:xfrm>
            <a:off x="8915400" y="4206240"/>
            <a:ext cx="594360" cy="365760"/>
          </a:xfrm>
          <a:prstGeom prst="line">
            <a:avLst/>
          </a:prstGeom>
          <a:noFill/>
          <a:ln w="25400">
            <a:solidFill>
              <a:schemeClr val="tx1"/>
            </a:solidFill>
            <a:prstDash val="solid"/>
            <a:tailEnd type="triangle"/>
          </a:ln>
        </p:spPr>
      </p:sp>
      <p:sp>
        <p:nvSpPr>
          <p:cNvPr id="34" name="storage"/>
          <p:cNvSpPr/>
          <p:nvPr/>
        </p:nvSpPr>
        <p:spPr>
          <a:xfrm>
            <a:off x="9509760" y="2057400"/>
            <a:ext cx="2130552" cy="1417320"/>
          </a:xfrm>
          <a:prstGeom prst="can">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MinIO / S3</a:t>
            </a:r>
            <a:endParaRPr lang="en-US" sz="1300" dirty="0"/>
          </a:p>
        </p:txBody>
      </p:sp>
      <p:sp>
        <p:nvSpPr>
          <p:cNvPr id="35" name="storage"/>
          <p:cNvSpPr/>
          <p:nvPr/>
        </p:nvSpPr>
        <p:spPr>
          <a:xfrm>
            <a:off x="9509760" y="3977640"/>
            <a:ext cx="2130552" cy="1417320"/>
          </a:xfrm>
          <a:prstGeom prst="can">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Azure Blob</a:t>
            </a:r>
            <a:endParaRPr lang="en-US" sz="1300" dirty="0"/>
          </a:p>
        </p:txBody>
      </p:sp>
      <p:sp>
        <p:nvSpPr>
          <p:cNvPr id="36" name="Text 30"/>
          <p:cNvSpPr txBox="1"/>
          <p:nvPr/>
        </p:nvSpPr>
        <p:spPr>
          <a:xfrm>
            <a:off x="9509760" y="5532120"/>
            <a:ext cx="2130552" cy="457200"/>
          </a:xfrm>
          <a:prstGeom prst="rect">
            <a:avLst/>
          </a:prstGeom>
          <a:noFill/>
          <a:ln/>
        </p:spPr>
        <p:txBody>
          <a:bodyPr wrap="square" lIns="0" tIns="0" rIns="0" bIns="0" rtlCol="0" anchor="t"/>
          <a:lstStyle/>
          <a:p>
            <a:pPr algn="ctr" indent="0" marL="0">
              <a:buNone/>
            </a:pPr>
            <a:r>
              <a:rPr lang="en-US" sz="1100" dirty="0">
                <a:solidFill>
                  <a:schemeClr val="tx2"/>
                </a:solidFill>
              </a:rPr>
              <a:t>Ablauf per Lifecycle-Regel im Backend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ROLLEN UND NAMESPACES</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Jede Rolle sieht nur ihren Teil des Speichers</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Objekt-Key: &lt;namespace&gt;/&lt;hash&gt;, Namespaces trusted/ und dev/</a:t>
            </a:r>
            <a:endParaRPr lang="en-US" sz="1500" dirty="0"/>
          </a:p>
        </p:txBody>
      </p:sp>
      <p:sp>
        <p:nvSpPr>
          <p:cNvPr id="5" name="Text 3"/>
          <p:cNvSpPr txBox="1"/>
          <p:nvPr/>
        </p:nvSpPr>
        <p:spPr>
          <a:xfrm>
            <a:off x="3520440" y="1828800"/>
            <a:ext cx="320040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liest (Reihenfolge)</a:t>
            </a:r>
            <a:endParaRPr lang="en-US" sz="1200" dirty="0"/>
          </a:p>
        </p:txBody>
      </p:sp>
      <p:sp>
        <p:nvSpPr>
          <p:cNvPr id="6" name="Text 4"/>
          <p:cNvSpPr txBox="1"/>
          <p:nvPr/>
        </p:nvSpPr>
        <p:spPr>
          <a:xfrm>
            <a:off x="7360920" y="1828800"/>
            <a:ext cx="182880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schreibt</a:t>
            </a:r>
            <a:endParaRPr lang="en-US" sz="1200" dirty="0"/>
          </a:p>
        </p:txBody>
      </p:sp>
      <p:sp>
        <p:nvSpPr>
          <p:cNvPr id="7" name="Text 5"/>
          <p:cNvSpPr/>
          <p:nvPr/>
        </p:nvSpPr>
        <p:spPr>
          <a:xfrm>
            <a:off x="548640" y="2194560"/>
            <a:ext cx="8915400"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8" name="icon-bg"/>
          <p:cNvSpPr/>
          <p:nvPr/>
        </p:nvSpPr>
        <p:spPr>
          <a:xfrm>
            <a:off x="713232" y="2377440"/>
            <a:ext cx="640080" cy="640080"/>
          </a:xfrm>
          <a:prstGeom prst="ellipse">
            <a:avLst/>
          </a:prstGeom>
          <a:solidFill>
            <a:schemeClr val="tx1"/>
          </a:solidFill>
          <a:ln w="12700">
            <a:solidFill>
              <a:schemeClr val="tx1"/>
            </a:solidFill>
            <a:prstDash val="solid"/>
          </a:ln>
        </p:spPr>
      </p:sp>
      <p:pic>
        <p:nvPicPr>
          <p:cNvPr id="9" name="icon-FaServer" descr="preencoded.png">    </p:cNvPr>
          <p:cNvPicPr>
            <a:picLocks noChangeAspect="1"/>
          </p:cNvPicPr>
          <p:nvPr/>
        </p:nvPicPr>
        <p:blipFill>
          <a:blip r:embed="rId1"/>
          <a:stretch>
            <a:fillRect/>
          </a:stretch>
        </p:blipFill>
        <p:spPr>
          <a:xfrm>
            <a:off x="866851" y="2531059"/>
            <a:ext cx="332842" cy="332842"/>
          </a:xfrm>
          <a:prstGeom prst="rect">
            <a:avLst/>
          </a:prstGeom>
        </p:spPr>
      </p:pic>
      <p:sp>
        <p:nvSpPr>
          <p:cNvPr id="10" name="Text 7"/>
          <p:cNvSpPr txBox="1"/>
          <p:nvPr/>
        </p:nvSpPr>
        <p:spPr>
          <a:xfrm>
            <a:off x="1508760" y="2359152"/>
            <a:ext cx="1920240" cy="68580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ci</a:t>
            </a:r>
            <a:endParaRPr lang="en-US" sz="1400" dirty="0"/>
          </a:p>
          <a:p>
            <a:pPr indent="0" marL="0">
              <a:buNone/>
            </a:pPr>
            <a:r>
              <a:rPr lang="en-US" sz="1200" dirty="0">
                <a:solidFill>
                  <a:schemeClr val="tx2"/>
                </a:solidFill>
              </a:rPr>
              <a:t>CI auf main / Release</a:t>
            </a:r>
            <a:endParaRPr lang="en-US" sz="1400" dirty="0"/>
          </a:p>
        </p:txBody>
      </p:sp>
      <p:sp>
        <p:nvSpPr>
          <p:cNvPr id="11" name="Text 8"/>
          <p:cNvSpPr/>
          <p:nvPr/>
        </p:nvSpPr>
        <p:spPr>
          <a:xfrm>
            <a:off x="3520440" y="2468880"/>
            <a:ext cx="1417320" cy="457200"/>
          </a:xfrm>
          <a:prstGeom prst="roundRect">
            <a:avLst>
              <a:gd name="adj" fmla="val 24000"/>
            </a:avLst>
          </a:prstGeom>
          <a:solidFill>
            <a:schemeClr val="bg1"/>
          </a:solidFill>
          <a:ln w="25400">
            <a:solidFill>
              <a:schemeClr val="accent1"/>
            </a:solidFill>
          </a:ln>
        </p:spPr>
        <p:txBody>
          <a:bodyPr wrap="square" lIns="25400" tIns="25400" rIns="25400" bIns="2540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1  trusted/</a:t>
            </a:r>
            <a:endParaRPr lang="en-US" sz="1200" dirty="0"/>
          </a:p>
        </p:txBody>
      </p:sp>
      <p:sp>
        <p:nvSpPr>
          <p:cNvPr id="12" name="Text 9"/>
          <p:cNvSpPr/>
          <p:nvPr/>
        </p:nvSpPr>
        <p:spPr>
          <a:xfrm>
            <a:off x="7360920" y="2468880"/>
            <a:ext cx="1417320" cy="457200"/>
          </a:xfrm>
          <a:prstGeom prst="roundRect">
            <a:avLst>
              <a:gd name="adj" fmla="val 24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trusted/</a:t>
            </a:r>
            <a:endParaRPr lang="en-US" sz="1200" dirty="0"/>
          </a:p>
        </p:txBody>
      </p:sp>
      <p:sp>
        <p:nvSpPr>
          <p:cNvPr id="13" name="Text 10"/>
          <p:cNvSpPr/>
          <p:nvPr/>
        </p:nvSpPr>
        <p:spPr>
          <a:xfrm>
            <a:off x="548640" y="3383280"/>
            <a:ext cx="8915400" cy="1005840"/>
          </a:xfrm>
          <a:prstGeom prst="roundRect">
            <a:avLst>
              <a:gd name="adj" fmla="val 7273"/>
            </a:avLst>
          </a:prstGeom>
          <a:solidFill>
            <a:schemeClr val="bg1"/>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4" name="icon-bg"/>
          <p:cNvSpPr/>
          <p:nvPr/>
        </p:nvSpPr>
        <p:spPr>
          <a:xfrm>
            <a:off x="713232" y="3566160"/>
            <a:ext cx="640080" cy="640080"/>
          </a:xfrm>
          <a:prstGeom prst="ellipse">
            <a:avLst/>
          </a:prstGeom>
          <a:solidFill>
            <a:schemeClr val="tx1"/>
          </a:solidFill>
          <a:ln w="12700">
            <a:solidFill>
              <a:schemeClr val="tx1"/>
            </a:solidFill>
            <a:prstDash val="solid"/>
          </a:ln>
        </p:spPr>
      </p:sp>
      <p:pic>
        <p:nvPicPr>
          <p:cNvPr id="15" name="icon-FaLaptopCode" descr="preencoded.png">    </p:cNvPr>
          <p:cNvPicPr>
            <a:picLocks noChangeAspect="1"/>
          </p:cNvPicPr>
          <p:nvPr/>
        </p:nvPicPr>
        <p:blipFill>
          <a:blip r:embed="rId2"/>
          <a:stretch>
            <a:fillRect/>
          </a:stretch>
        </p:blipFill>
        <p:spPr>
          <a:xfrm>
            <a:off x="866851" y="3719779"/>
            <a:ext cx="332842" cy="332842"/>
          </a:xfrm>
          <a:prstGeom prst="rect">
            <a:avLst/>
          </a:prstGeom>
        </p:spPr>
      </p:pic>
      <p:sp>
        <p:nvSpPr>
          <p:cNvPr id="16" name="Text 12"/>
          <p:cNvSpPr txBox="1"/>
          <p:nvPr/>
        </p:nvSpPr>
        <p:spPr>
          <a:xfrm>
            <a:off x="1508760" y="3547872"/>
            <a:ext cx="1920240" cy="68580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dev</a:t>
            </a:r>
            <a:endParaRPr lang="en-US" sz="1400" dirty="0"/>
          </a:p>
          <a:p>
            <a:pPr indent="0" marL="0">
              <a:buNone/>
            </a:pPr>
            <a:r>
              <a:rPr lang="en-US" sz="1200" dirty="0">
                <a:solidFill>
                  <a:schemeClr val="tx2"/>
                </a:solidFill>
              </a:rPr>
              <a:t>Entwickler-Rechner</a:t>
            </a:r>
            <a:endParaRPr lang="en-US" sz="1400" dirty="0"/>
          </a:p>
        </p:txBody>
      </p:sp>
      <p:sp>
        <p:nvSpPr>
          <p:cNvPr id="17" name="Text 13"/>
          <p:cNvSpPr/>
          <p:nvPr/>
        </p:nvSpPr>
        <p:spPr>
          <a:xfrm>
            <a:off x="3520440" y="3657600"/>
            <a:ext cx="1417320" cy="457200"/>
          </a:xfrm>
          <a:prstGeom prst="roundRect">
            <a:avLst>
              <a:gd name="adj" fmla="val 24000"/>
            </a:avLst>
          </a:prstGeom>
          <a:solidFill>
            <a:schemeClr val="bg1"/>
          </a:solidFill>
          <a:ln w="25400">
            <a:solidFill>
              <a:schemeClr val="accent2"/>
            </a:solidFill>
          </a:ln>
        </p:spPr>
        <p:txBody>
          <a:bodyPr wrap="square" lIns="25400" tIns="25400" rIns="25400" bIns="2540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1  dev/</a:t>
            </a:r>
            <a:endParaRPr lang="en-US" sz="1200" dirty="0"/>
          </a:p>
        </p:txBody>
      </p:sp>
      <p:sp>
        <p:nvSpPr>
          <p:cNvPr id="18" name="arrow"/>
          <p:cNvSpPr/>
          <p:nvPr/>
        </p:nvSpPr>
        <p:spPr>
          <a:xfrm>
            <a:off x="4956048" y="3886200"/>
            <a:ext cx="274320" cy="0"/>
          </a:xfrm>
          <a:prstGeom prst="line">
            <a:avLst/>
          </a:prstGeom>
          <a:noFill/>
          <a:ln w="22225">
            <a:solidFill>
              <a:schemeClr val="tx2"/>
            </a:solidFill>
            <a:prstDash val="solid"/>
            <a:tailEnd type="triangle"/>
          </a:ln>
        </p:spPr>
      </p:sp>
      <p:sp>
        <p:nvSpPr>
          <p:cNvPr id="19" name="Text 15"/>
          <p:cNvSpPr/>
          <p:nvPr/>
        </p:nvSpPr>
        <p:spPr>
          <a:xfrm>
            <a:off x="5303520" y="3657600"/>
            <a:ext cx="1417320" cy="457200"/>
          </a:xfrm>
          <a:prstGeom prst="roundRect">
            <a:avLst>
              <a:gd name="adj" fmla="val 24000"/>
            </a:avLst>
          </a:prstGeom>
          <a:solidFill>
            <a:schemeClr val="bg1"/>
          </a:solidFill>
          <a:ln w="25400">
            <a:solidFill>
              <a:schemeClr val="accent1"/>
            </a:solidFill>
          </a:ln>
        </p:spPr>
        <p:txBody>
          <a:bodyPr wrap="square" lIns="25400" tIns="25400" rIns="25400" bIns="2540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2  trusted/</a:t>
            </a:r>
            <a:endParaRPr lang="en-US" sz="1200" dirty="0"/>
          </a:p>
        </p:txBody>
      </p:sp>
      <p:sp>
        <p:nvSpPr>
          <p:cNvPr id="20" name="Text 16"/>
          <p:cNvSpPr/>
          <p:nvPr/>
        </p:nvSpPr>
        <p:spPr>
          <a:xfrm>
            <a:off x="7360920" y="3657600"/>
            <a:ext cx="1417320" cy="457200"/>
          </a:xfrm>
          <a:prstGeom prst="roundRect">
            <a:avLst>
              <a:gd name="adj" fmla="val 24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dev/</a:t>
            </a:r>
            <a:endParaRPr lang="en-US" sz="1200" dirty="0"/>
          </a:p>
        </p:txBody>
      </p:sp>
      <p:sp>
        <p:nvSpPr>
          <p:cNvPr id="21" name="Text 17"/>
          <p:cNvSpPr/>
          <p:nvPr/>
        </p:nvSpPr>
        <p:spPr>
          <a:xfrm>
            <a:off x="548640" y="4572000"/>
            <a:ext cx="8915400"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2" name="icon-bg"/>
          <p:cNvSpPr/>
          <p:nvPr/>
        </p:nvSpPr>
        <p:spPr>
          <a:xfrm>
            <a:off x="713232" y="4754880"/>
            <a:ext cx="640080" cy="640080"/>
          </a:xfrm>
          <a:prstGeom prst="ellipse">
            <a:avLst/>
          </a:prstGeom>
          <a:solidFill>
            <a:schemeClr val="tx1"/>
          </a:solidFill>
          <a:ln w="12700">
            <a:solidFill>
              <a:schemeClr val="tx1"/>
            </a:solidFill>
            <a:prstDash val="solid"/>
          </a:ln>
        </p:spPr>
      </p:sp>
      <p:pic>
        <p:nvPicPr>
          <p:cNvPr id="23" name="icon-FaCodeBranch" descr="preencoded.png">    </p:cNvPr>
          <p:cNvPicPr>
            <a:picLocks noChangeAspect="1"/>
          </p:cNvPicPr>
          <p:nvPr/>
        </p:nvPicPr>
        <p:blipFill>
          <a:blip r:embed="rId3"/>
          <a:stretch>
            <a:fillRect/>
          </a:stretch>
        </p:blipFill>
        <p:spPr>
          <a:xfrm>
            <a:off x="866851" y="4908499"/>
            <a:ext cx="332842" cy="332842"/>
          </a:xfrm>
          <a:prstGeom prst="rect">
            <a:avLst/>
          </a:prstGeom>
        </p:spPr>
      </p:pic>
      <p:sp>
        <p:nvSpPr>
          <p:cNvPr id="24" name="Text 19"/>
          <p:cNvSpPr txBox="1"/>
          <p:nvPr/>
        </p:nvSpPr>
        <p:spPr>
          <a:xfrm>
            <a:off x="1508760" y="4736592"/>
            <a:ext cx="1920240" cy="68580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read-only</a:t>
            </a:r>
            <a:endParaRPr lang="en-US" sz="1400" dirty="0"/>
          </a:p>
          <a:p>
            <a:pPr indent="0" marL="0">
              <a:buNone/>
            </a:pPr>
            <a:r>
              <a:rPr lang="en-US" sz="1200" dirty="0">
                <a:solidFill>
                  <a:schemeClr val="tx2"/>
                </a:solidFill>
              </a:rPr>
              <a:t>PR-Pipelines</a:t>
            </a:r>
            <a:endParaRPr lang="en-US" sz="1400" dirty="0"/>
          </a:p>
        </p:txBody>
      </p:sp>
      <p:sp>
        <p:nvSpPr>
          <p:cNvPr id="25" name="Text 20"/>
          <p:cNvSpPr/>
          <p:nvPr/>
        </p:nvSpPr>
        <p:spPr>
          <a:xfrm>
            <a:off x="3520440" y="4846320"/>
            <a:ext cx="1417320" cy="457200"/>
          </a:xfrm>
          <a:prstGeom prst="roundRect">
            <a:avLst>
              <a:gd name="adj" fmla="val 24000"/>
            </a:avLst>
          </a:prstGeom>
          <a:solidFill>
            <a:schemeClr val="bg1"/>
          </a:solidFill>
          <a:ln w="25400">
            <a:solidFill>
              <a:schemeClr val="accent1"/>
            </a:solidFill>
          </a:ln>
        </p:spPr>
        <p:txBody>
          <a:bodyPr wrap="square" lIns="25400" tIns="25400" rIns="25400" bIns="2540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1  trusted/</a:t>
            </a:r>
            <a:endParaRPr lang="en-US" sz="1200" dirty="0"/>
          </a:p>
        </p:txBody>
      </p:sp>
      <p:sp>
        <p:nvSpPr>
          <p:cNvPr id="26" name="Text 21"/>
          <p:cNvSpPr/>
          <p:nvPr/>
        </p:nvSpPr>
        <p:spPr>
          <a:xfrm>
            <a:off x="7360920" y="4846320"/>
            <a:ext cx="1417320" cy="457200"/>
          </a:xfrm>
          <a:prstGeom prst="roundRect">
            <a:avLst>
              <a:gd name="adj" fmla="val 24000"/>
            </a:avLst>
          </a:prstGeom>
          <a:solidFill>
            <a:schemeClr val="bg1"/>
          </a:solidFill>
          <a:ln w="25400">
            <a:solidFill>
              <a:schemeClr val="accent4"/>
            </a:solidFill>
          </a:ln>
        </p:spPr>
        <p:txBody>
          <a:bodyPr wrap="square" lIns="25400" tIns="25400" rIns="25400" bIns="2540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 403</a:t>
            </a:r>
            <a:endParaRPr lang="en-US" sz="1200" dirty="0"/>
          </a:p>
        </p:txBody>
      </p:sp>
      <p:sp>
        <p:nvSpPr>
          <p:cNvPr id="27" name="Text 22"/>
          <p:cNvSpPr/>
          <p:nvPr/>
        </p:nvSpPr>
        <p:spPr>
          <a:xfrm>
            <a:off x="9738360" y="1828800"/>
            <a:ext cx="1904695" cy="4206240"/>
          </a:xfrm>
          <a:prstGeom prst="roundRect">
            <a:avLst>
              <a:gd name="adj" fmla="val 3841"/>
            </a:avLst>
          </a:prstGeom>
          <a:solidFill>
            <a:schemeClr val="accent5"/>
          </a:solidFill>
          <a:ln w="12700">
            <a:solidFill>
              <a:schemeClr val="accent5"/>
            </a:solidFill>
          </a:ln>
        </p:spPr>
        <p:txBody>
          <a:bodyPr wrap="square" lIns="76200" tIns="76200" rIns="76200" bIns="76200" rtlCol="0" anchor="ctr"/>
          <a:lstStyle/>
          <a:p>
            <a:pPr algn="ctr" indent="0" marL="0">
              <a:buNone/>
            </a:pPr>
            <a:endParaRPr lang="en-US" sz="1400" dirty="0"/>
          </a:p>
        </p:txBody>
      </p:sp>
      <p:pic>
        <p:nvPicPr>
          <p:cNvPr id="28" name="icon-FaShieldAlt" descr="preencoded.png">    </p:cNvPr>
          <p:cNvPicPr>
            <a:picLocks noChangeAspect="1"/>
          </p:cNvPicPr>
          <p:nvPr/>
        </p:nvPicPr>
        <p:blipFill>
          <a:blip r:embed="rId4"/>
          <a:stretch>
            <a:fillRect/>
          </a:stretch>
        </p:blipFill>
        <p:spPr>
          <a:xfrm>
            <a:off x="9921240" y="2011680"/>
            <a:ext cx="384048" cy="384048"/>
          </a:xfrm>
          <a:prstGeom prst="rect">
            <a:avLst/>
          </a:prstGeom>
        </p:spPr>
      </p:pic>
      <p:sp>
        <p:nvSpPr>
          <p:cNvPr id="29" name="Text 23"/>
          <p:cNvSpPr txBox="1"/>
          <p:nvPr/>
        </p:nvSpPr>
        <p:spPr>
          <a:xfrm>
            <a:off x="9921240" y="2514600"/>
            <a:ext cx="1584655" cy="33832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Warum so</a:t>
            </a:r>
            <a:endParaRPr lang="en-US" sz="1300" dirty="0"/>
          </a:p>
          <a:p>
            <a:pPr marL="342900" indent="-342900">
              <a:spcAft>
                <a:spcPts val="800"/>
              </a:spcAft>
              <a:buSzPct val="100000"/>
              <a:buChar char="•"/>
            </a:pPr>
            <a:r>
              <a:rPr lang="en-US" sz="1300" dirty="0">
                <a:solidFill>
                  <a:schemeClr val="tx1"/>
                </a:solidFill>
              </a:rPr>
              <a:t>CI liest dev/ nie: Laptop-Builds landen nie im Release.</a:t>
            </a:r>
            <a:endParaRPr lang="en-US" sz="1300" dirty="0"/>
          </a:p>
          <a:p>
            <a:pPr marL="342900" indent="-342900">
              <a:spcAft>
                <a:spcPts val="800"/>
              </a:spcAft>
              <a:buSzPct val="100000"/>
              <a:buChar char="•"/>
            </a:pPr>
            <a:r>
              <a:rPr lang="en-US" sz="1300" dirty="0">
                <a:solidFill>
                  <a:schemeClr val="tx1"/>
                </a:solidFill>
              </a:rPr>
              <a:t>Dev bekommt alle CI-Treffer und teilt eigene Builds.</a:t>
            </a:r>
            <a:endParaRPr lang="en-US" sz="1300" dirty="0"/>
          </a:p>
          <a:p>
            <a:pPr marL="342900" indent="-342900">
              <a:spcAft>
                <a:spcPts val="800"/>
              </a:spcAft>
              <a:buSzPct val="100000"/>
              <a:buChar char="•"/>
            </a:pPr>
            <a:r>
              <a:rPr lang="en-US" sz="1300" dirty="0">
                <a:solidFill>
                  <a:schemeClr val="tx1"/>
                </a:solidFill>
              </a:rPr>
              <a:t>PRs nur read-only: kein Grün durch fremde Einträge.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LESEN · GET /v1/cache/{hash}</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Treffer im ersten passenden Namespace</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Beispiel: Entwickler-Token, Eintrag nur in trusted/</a:t>
            </a:r>
            <a:endParaRPr lang="en-US" sz="1500" dirty="0"/>
          </a:p>
        </p:txBody>
      </p:sp>
      <p:sp>
        <p:nvSpPr>
          <p:cNvPr id="5" name="Text 3"/>
          <p:cNvSpPr/>
          <p:nvPr/>
        </p:nvSpPr>
        <p:spPr>
          <a:xfrm>
            <a:off x="457200" y="1783080"/>
            <a:ext cx="2011680" cy="502920"/>
          </a:xfrm>
          <a:prstGeom prst="roundRect">
            <a:avLst>
              <a:gd name="adj" fmla="val 14545"/>
            </a:avLst>
          </a:prstGeom>
          <a:solidFill>
            <a:schemeClr val="tx1"/>
          </a:solidFill>
          <a:ln w="12700">
            <a:solidFill>
              <a:schemeClr val="tx1"/>
            </a:solidFill>
          </a:ln>
        </p:spPr>
        <p:txBody>
          <a:bodyPr wrap="square" lIns="76200" tIns="76200" rIns="76200" bIns="76200" rtlCol="0" anchor="ctr"/>
          <a:lstStyle/>
          <a:p>
            <a:pPr algn="ctr" indent="0" marL="0">
              <a:buNone/>
            </a:pPr>
            <a:r>
              <a:rPr lang="en-US" sz="1400" b="1" dirty="0">
                <a:solidFill>
                  <a:schemeClr val="bg1"/>
                </a:solidFill>
              </a:rPr>
              <a:t>Nx-Client</a:t>
            </a:r>
            <a:endParaRPr lang="en-US" sz="1400" dirty="0"/>
          </a:p>
        </p:txBody>
      </p:sp>
      <p:sp>
        <p:nvSpPr>
          <p:cNvPr id="6" name="arrow"/>
          <p:cNvSpPr/>
          <p:nvPr/>
        </p:nvSpPr>
        <p:spPr>
          <a:xfrm>
            <a:off x="1463040" y="2286000"/>
            <a:ext cx="0" cy="3886200"/>
          </a:xfrm>
          <a:prstGeom prst="line">
            <a:avLst/>
          </a:prstGeom>
          <a:noFill/>
          <a:ln w="12700">
            <a:solidFill>
              <a:srgbClr val="A9B4BC"/>
            </a:solidFill>
            <a:prstDash val="dash"/>
          </a:ln>
        </p:spPr>
      </p:sp>
      <p:sp>
        <p:nvSpPr>
          <p:cNvPr id="7" name="Text 5"/>
          <p:cNvSpPr/>
          <p:nvPr/>
        </p:nvSpPr>
        <p:spPr>
          <a:xfrm>
            <a:off x="4480560" y="1783080"/>
            <a:ext cx="2011680" cy="502920"/>
          </a:xfrm>
          <a:prstGeom prst="roundRect">
            <a:avLst>
              <a:gd name="adj" fmla="val 14545"/>
            </a:avLst>
          </a:prstGeom>
          <a:solidFill>
            <a:schemeClr val="tx1"/>
          </a:solidFill>
          <a:ln w="12700">
            <a:solidFill>
              <a:schemeClr val="tx1"/>
            </a:solidFill>
          </a:ln>
        </p:spPr>
        <p:txBody>
          <a:bodyPr wrap="square" lIns="76200" tIns="76200" rIns="76200" bIns="76200" rtlCol="0" anchor="ctr"/>
          <a:lstStyle/>
          <a:p>
            <a:pPr algn="ctr" indent="0" marL="0">
              <a:buNone/>
            </a:pPr>
            <a:r>
              <a:rPr lang="en-US" sz="1400" b="1" dirty="0">
                <a:solidFill>
                  <a:schemeClr val="bg1"/>
                </a:solidFill>
              </a:rPr>
              <a:t>Cache-Server</a:t>
            </a:r>
            <a:endParaRPr lang="en-US" sz="1400" dirty="0"/>
          </a:p>
        </p:txBody>
      </p:sp>
      <p:sp>
        <p:nvSpPr>
          <p:cNvPr id="8" name="arrow"/>
          <p:cNvSpPr/>
          <p:nvPr/>
        </p:nvSpPr>
        <p:spPr>
          <a:xfrm>
            <a:off x="5486400" y="2286000"/>
            <a:ext cx="0" cy="3886200"/>
          </a:xfrm>
          <a:prstGeom prst="line">
            <a:avLst/>
          </a:prstGeom>
          <a:noFill/>
          <a:ln w="12700">
            <a:solidFill>
              <a:srgbClr val="A9B4BC"/>
            </a:solidFill>
            <a:prstDash val="dash"/>
          </a:ln>
        </p:spPr>
      </p:sp>
      <p:sp>
        <p:nvSpPr>
          <p:cNvPr id="9" name="Text 7"/>
          <p:cNvSpPr/>
          <p:nvPr/>
        </p:nvSpPr>
        <p:spPr>
          <a:xfrm>
            <a:off x="8686800" y="1783080"/>
            <a:ext cx="2011680" cy="502920"/>
          </a:xfrm>
          <a:prstGeom prst="roundRect">
            <a:avLst>
              <a:gd name="adj" fmla="val 14545"/>
            </a:avLst>
          </a:prstGeom>
          <a:solidFill>
            <a:schemeClr val="tx1"/>
          </a:solidFill>
          <a:ln w="12700">
            <a:solidFill>
              <a:schemeClr val="tx1"/>
            </a:solidFill>
          </a:ln>
        </p:spPr>
        <p:txBody>
          <a:bodyPr wrap="square" lIns="76200" tIns="76200" rIns="76200" bIns="76200" rtlCol="0" anchor="ctr"/>
          <a:lstStyle/>
          <a:p>
            <a:pPr algn="ctr" indent="0" marL="0">
              <a:buNone/>
            </a:pPr>
            <a:r>
              <a:rPr lang="en-US" sz="1400" b="1" dirty="0">
                <a:solidFill>
                  <a:schemeClr val="bg1"/>
                </a:solidFill>
              </a:rPr>
              <a:t>Storage</a:t>
            </a:r>
            <a:endParaRPr lang="en-US" sz="1400" dirty="0"/>
          </a:p>
        </p:txBody>
      </p:sp>
      <p:sp>
        <p:nvSpPr>
          <p:cNvPr id="10" name="arrow"/>
          <p:cNvSpPr/>
          <p:nvPr/>
        </p:nvSpPr>
        <p:spPr>
          <a:xfrm>
            <a:off x="9692640" y="2286000"/>
            <a:ext cx="0" cy="3886200"/>
          </a:xfrm>
          <a:prstGeom prst="line">
            <a:avLst/>
          </a:prstGeom>
          <a:noFill/>
          <a:ln w="12700">
            <a:solidFill>
              <a:srgbClr val="A9B4BC"/>
            </a:solidFill>
            <a:prstDash val="dash"/>
          </a:ln>
        </p:spPr>
      </p:sp>
      <p:sp>
        <p:nvSpPr>
          <p:cNvPr id="11" name="arrow"/>
          <p:cNvSpPr/>
          <p:nvPr/>
        </p:nvSpPr>
        <p:spPr>
          <a:xfrm>
            <a:off x="1463040" y="2697480"/>
            <a:ext cx="4023360" cy="0"/>
          </a:xfrm>
          <a:prstGeom prst="line">
            <a:avLst/>
          </a:prstGeom>
          <a:noFill/>
          <a:ln w="22225">
            <a:solidFill>
              <a:schemeClr val="tx1"/>
            </a:solidFill>
            <a:prstDash val="solid"/>
            <a:tailEnd type="triangle"/>
          </a:ln>
        </p:spPr>
      </p:sp>
      <p:sp>
        <p:nvSpPr>
          <p:cNvPr id="12" name="Text 10"/>
          <p:cNvSpPr txBox="1"/>
          <p:nvPr/>
        </p:nvSpPr>
        <p:spPr>
          <a:xfrm>
            <a:off x="1600200" y="2423160"/>
            <a:ext cx="3749040" cy="237744"/>
          </a:xfrm>
          <a:prstGeom prst="rect">
            <a:avLst/>
          </a:prstGeom>
          <a:noFill/>
          <a:ln/>
        </p:spPr>
        <p:txBody>
          <a:bodyPr wrap="square" lIns="0" tIns="0" rIns="0" bIns="0" rtlCol="0" anchor="t"/>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GET /v1/cache/1370… + Bearer</a:t>
            </a:r>
            <a:endParaRPr lang="en-US" sz="1200" dirty="0"/>
          </a:p>
        </p:txBody>
      </p:sp>
      <p:sp>
        <p:nvSpPr>
          <p:cNvPr id="13" name="Text 11"/>
          <p:cNvSpPr/>
          <p:nvPr/>
        </p:nvSpPr>
        <p:spPr>
          <a:xfrm>
            <a:off x="3749040" y="2999232"/>
            <a:ext cx="3474720" cy="402336"/>
          </a:xfrm>
          <a:prstGeom prst="roundRect">
            <a:avLst>
              <a:gd name="adj" fmla="val 18182"/>
            </a:avLst>
          </a:prstGeom>
          <a:solidFill>
            <a:schemeClr val="bg2"/>
          </a:solidFill>
          <a:ln w="12700">
            <a:solidFill>
              <a:schemeClr val="bg2"/>
            </a:solidFill>
          </a:ln>
        </p:spPr>
        <p:txBody>
          <a:bodyPr wrap="square" lIns="76200" tIns="76200" rIns="76200" bIns="76200" rtlCol="0" anchor="ctr"/>
          <a:lstStyle/>
          <a:p>
            <a:pPr algn="ctr" indent="0" marL="0">
              <a:buNone/>
            </a:pPr>
            <a:r>
              <a:rPr lang="en-US" sz="1200" dirty="0">
                <a:solidFill>
                  <a:schemeClr val="tx1"/>
                </a:solidFill>
              </a:rPr>
              <a:t>Token → Rolle dev, Lese-Reihenfolge dev/, trusted/</a:t>
            </a:r>
            <a:endParaRPr lang="en-US" sz="1200" dirty="0"/>
          </a:p>
        </p:txBody>
      </p:sp>
      <p:sp>
        <p:nvSpPr>
          <p:cNvPr id="14" name="arrow"/>
          <p:cNvSpPr/>
          <p:nvPr/>
        </p:nvSpPr>
        <p:spPr>
          <a:xfrm>
            <a:off x="5486400" y="3703320"/>
            <a:ext cx="4206240" cy="0"/>
          </a:xfrm>
          <a:prstGeom prst="line">
            <a:avLst/>
          </a:prstGeom>
          <a:noFill/>
          <a:ln w="22225">
            <a:solidFill>
              <a:schemeClr val="tx1"/>
            </a:solidFill>
            <a:prstDash val="solid"/>
            <a:tailEnd type="triangle"/>
          </a:ln>
        </p:spPr>
      </p:sp>
      <p:sp>
        <p:nvSpPr>
          <p:cNvPr id="15" name="Text 13"/>
          <p:cNvSpPr txBox="1"/>
          <p:nvPr/>
        </p:nvSpPr>
        <p:spPr>
          <a:xfrm>
            <a:off x="5623560" y="3429000"/>
            <a:ext cx="3931920" cy="237744"/>
          </a:xfrm>
          <a:prstGeom prst="rect">
            <a:avLst/>
          </a:prstGeom>
          <a:noFill/>
          <a:ln/>
        </p:spPr>
        <p:txBody>
          <a:bodyPr wrap="square" lIns="0" tIns="0" rIns="0" bIns="0" rtlCol="0" anchor="t"/>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get dev/1370…</a:t>
            </a:r>
            <a:endParaRPr lang="en-US" sz="1200" dirty="0"/>
          </a:p>
        </p:txBody>
      </p:sp>
      <p:sp>
        <p:nvSpPr>
          <p:cNvPr id="16" name="arrow"/>
          <p:cNvSpPr/>
          <p:nvPr/>
        </p:nvSpPr>
        <p:spPr>
          <a:xfrm flipH="1">
            <a:off x="5486400" y="4160520"/>
            <a:ext cx="4206240" cy="0"/>
          </a:xfrm>
          <a:prstGeom prst="line">
            <a:avLst/>
          </a:prstGeom>
          <a:noFill/>
          <a:ln w="22225">
            <a:solidFill>
              <a:schemeClr val="tx2"/>
            </a:solidFill>
            <a:prstDash val="dash"/>
            <a:tailEnd type="triangle"/>
          </a:ln>
        </p:spPr>
      </p:sp>
      <p:sp>
        <p:nvSpPr>
          <p:cNvPr id="17" name="Text 15"/>
          <p:cNvSpPr txBox="1"/>
          <p:nvPr/>
        </p:nvSpPr>
        <p:spPr>
          <a:xfrm>
            <a:off x="5623560" y="3886200"/>
            <a:ext cx="3931920" cy="237744"/>
          </a:xfrm>
          <a:prstGeom prst="rect">
            <a:avLst/>
          </a:prstGeom>
          <a:noFill/>
          <a:ln/>
        </p:spPr>
        <p:txBody>
          <a:bodyPr wrap="square" lIns="0" tIns="0" rIns="0" bIns="0" rtlCol="0" anchor="t"/>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leer</a:t>
            </a:r>
            <a:endParaRPr lang="en-US" sz="1200" dirty="0"/>
          </a:p>
        </p:txBody>
      </p:sp>
      <p:sp>
        <p:nvSpPr>
          <p:cNvPr id="18" name="arrow"/>
          <p:cNvSpPr/>
          <p:nvPr/>
        </p:nvSpPr>
        <p:spPr>
          <a:xfrm>
            <a:off x="5486400" y="4617720"/>
            <a:ext cx="4206240" cy="0"/>
          </a:xfrm>
          <a:prstGeom prst="line">
            <a:avLst/>
          </a:prstGeom>
          <a:noFill/>
          <a:ln w="22225">
            <a:solidFill>
              <a:schemeClr val="tx1"/>
            </a:solidFill>
            <a:prstDash val="solid"/>
            <a:tailEnd type="triangle"/>
          </a:ln>
        </p:spPr>
      </p:sp>
      <p:sp>
        <p:nvSpPr>
          <p:cNvPr id="19" name="Text 17"/>
          <p:cNvSpPr txBox="1"/>
          <p:nvPr/>
        </p:nvSpPr>
        <p:spPr>
          <a:xfrm>
            <a:off x="5623560" y="4343400"/>
            <a:ext cx="3931920" cy="237744"/>
          </a:xfrm>
          <a:prstGeom prst="rect">
            <a:avLst/>
          </a:prstGeom>
          <a:noFill/>
          <a:ln/>
        </p:spPr>
        <p:txBody>
          <a:bodyPr wrap="square" lIns="0" tIns="0" rIns="0" bIns="0" rtlCol="0" anchor="t"/>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get trusted/1370…</a:t>
            </a:r>
            <a:endParaRPr lang="en-US" sz="1200" dirty="0"/>
          </a:p>
        </p:txBody>
      </p:sp>
      <p:sp>
        <p:nvSpPr>
          <p:cNvPr id="20" name="arrow"/>
          <p:cNvSpPr/>
          <p:nvPr/>
        </p:nvSpPr>
        <p:spPr>
          <a:xfrm flipH="1">
            <a:off x="5486400" y="5074920"/>
            <a:ext cx="4206240" cy="0"/>
          </a:xfrm>
          <a:prstGeom prst="line">
            <a:avLst/>
          </a:prstGeom>
          <a:noFill/>
          <a:ln w="22225">
            <a:solidFill>
              <a:schemeClr val="accent3"/>
            </a:solidFill>
            <a:prstDash val="solid"/>
            <a:tailEnd type="triangle"/>
          </a:ln>
        </p:spPr>
      </p:sp>
      <p:sp>
        <p:nvSpPr>
          <p:cNvPr id="21" name="Text 19"/>
          <p:cNvSpPr txBox="1"/>
          <p:nvPr/>
        </p:nvSpPr>
        <p:spPr>
          <a:xfrm>
            <a:off x="5623560" y="4800600"/>
            <a:ext cx="3931920" cy="237744"/>
          </a:xfrm>
          <a:prstGeom prst="rect">
            <a:avLst/>
          </a:prstGeom>
          <a:noFill/>
          <a:ln/>
        </p:spPr>
        <p:txBody>
          <a:bodyPr wrap="square" lIns="0" tIns="0" rIns="0" bIns="0" rtlCol="0" anchor="t"/>
          <a:lstStyle/>
          <a:p>
            <a:pPr algn="ctr" indent="0" marL="0">
              <a:buNone/>
            </a:pPr>
            <a:r>
              <a:rPr lang="en-US" sz="1200" dirty="0">
                <a:solidFill>
                  <a:schemeClr val="accent3"/>
                </a:solidFill>
                <a:latin typeface="Courier New" pitchFamily="34" charset="0"/>
                <a:ea typeface="Courier New" pitchFamily="34" charset="-122"/>
                <a:cs typeface="Courier New" pitchFamily="34" charset="-120"/>
              </a:rPr>
              <a:t>Stream</a:t>
            </a:r>
            <a:endParaRPr lang="en-US" sz="1200" dirty="0"/>
          </a:p>
        </p:txBody>
      </p:sp>
      <p:sp>
        <p:nvSpPr>
          <p:cNvPr id="22" name="arrow"/>
          <p:cNvSpPr/>
          <p:nvPr/>
        </p:nvSpPr>
        <p:spPr>
          <a:xfrm flipH="1">
            <a:off x="1463040" y="5577840"/>
            <a:ext cx="4023360" cy="0"/>
          </a:xfrm>
          <a:prstGeom prst="line">
            <a:avLst/>
          </a:prstGeom>
          <a:noFill/>
          <a:ln w="22225">
            <a:solidFill>
              <a:schemeClr val="accent3"/>
            </a:solidFill>
            <a:prstDash val="solid"/>
            <a:tailEnd type="triangle"/>
          </a:ln>
        </p:spPr>
      </p:sp>
      <p:sp>
        <p:nvSpPr>
          <p:cNvPr id="23" name="Text 21"/>
          <p:cNvSpPr txBox="1"/>
          <p:nvPr/>
        </p:nvSpPr>
        <p:spPr>
          <a:xfrm>
            <a:off x="1600200" y="5303520"/>
            <a:ext cx="3749040" cy="237744"/>
          </a:xfrm>
          <a:prstGeom prst="rect">
            <a:avLst/>
          </a:prstGeom>
          <a:noFill/>
          <a:ln/>
        </p:spPr>
        <p:txBody>
          <a:bodyPr wrap="square" lIns="0" tIns="0" rIns="0" bIns="0" rtlCol="0" anchor="t"/>
          <a:lstStyle/>
          <a:p>
            <a:pPr algn="ctr" indent="0" marL="0">
              <a:buNone/>
            </a:pPr>
            <a:r>
              <a:rPr lang="en-US" sz="1200" dirty="0">
                <a:solidFill>
                  <a:schemeClr val="accent3"/>
                </a:solidFill>
                <a:latin typeface="Courier New" pitchFamily="34" charset="0"/>
                <a:ea typeface="Courier New" pitchFamily="34" charset="-122"/>
                <a:cs typeface="Courier New" pitchFamily="34" charset="-120"/>
              </a:rPr>
              <a:t>200 · x-nx-cache-namespace: trusted</a:t>
            </a:r>
            <a:endParaRPr lang="en-US" sz="1200" dirty="0"/>
          </a:p>
        </p:txBody>
      </p:sp>
      <p:sp>
        <p:nvSpPr>
          <p:cNvPr id="24" name="Text 22"/>
          <p:cNvSpPr/>
          <p:nvPr/>
        </p:nvSpPr>
        <p:spPr>
          <a:xfrm>
            <a:off x="6766560" y="5760720"/>
            <a:ext cx="4876495" cy="502920"/>
          </a:xfrm>
          <a:prstGeom prst="roundRect">
            <a:avLst>
              <a:gd name="adj" fmla="val 14545"/>
            </a:avLst>
          </a:prstGeom>
          <a:solidFill>
            <a:srgbClr val="FBE9E7"/>
          </a:solidFill>
          <a:ln w="12700">
            <a:solidFill>
              <a:srgbClr val="FBE9E7"/>
            </a:solidFill>
          </a:ln>
        </p:spPr>
        <p:txBody>
          <a:bodyPr wrap="square" lIns="76200" tIns="76200" rIns="76200" bIns="76200" rtlCol="0" anchor="ctr"/>
          <a:lstStyle/>
          <a:p>
            <a:pPr algn="ctr" indent="0" marL="0">
              <a:buNone/>
            </a:pPr>
            <a:endParaRPr lang="en-US" sz="1400" dirty="0"/>
          </a:p>
        </p:txBody>
      </p:sp>
      <p:sp>
        <p:nvSpPr>
          <p:cNvPr id="25" name="Text 23"/>
          <p:cNvSpPr txBox="1"/>
          <p:nvPr/>
        </p:nvSpPr>
        <p:spPr>
          <a:xfrm>
            <a:off x="6903720" y="5760720"/>
            <a:ext cx="4602175" cy="502920"/>
          </a:xfrm>
          <a:prstGeom prst="rect">
            <a:avLst/>
          </a:prstGeom>
          <a:noFill/>
          <a:ln/>
        </p:spPr>
        <p:txBody>
          <a:bodyPr wrap="square" lIns="0" tIns="0" rIns="0" bIns="0" rtlCol="0" anchor="ctr"/>
          <a:lstStyle/>
          <a:p>
            <a:pPr indent="0" marL="0">
              <a:buNone/>
            </a:pPr>
            <a:r>
              <a:rPr lang="en-US" sz="1300" dirty="0">
                <a:solidFill>
                  <a:schemeClr val="tx2"/>
                </a:solidFill>
              </a:rPr>
              <a:t>nirgends gefunden → </a:t>
            </a:r>
            <a:pPr indent="0" marL="0">
              <a:buNone/>
            </a:pPr>
            <a:r>
              <a:rPr lang="en-US" sz="1300" b="1" dirty="0">
                <a:solidFill>
                  <a:schemeClr val="accent4"/>
                </a:solidFill>
                <a:latin typeface="Courier New" pitchFamily="34" charset="0"/>
                <a:ea typeface="Courier New" pitchFamily="34" charset="-122"/>
                <a:cs typeface="Courier New" pitchFamily="34" charset="-120"/>
              </a:rPr>
              <a:t>404</a:t>
            </a:r>
            <a:pPr indent="0" marL="0">
              <a:buNone/>
            </a:pPr>
            <a:r>
              <a:rPr lang="en-US" sz="1300" dirty="0">
                <a:solidFill>
                  <a:schemeClr val="tx2"/>
                </a:solidFill>
              </a:rPr>
              <a:t>  · kein/falscher Token → </a:t>
            </a:r>
            <a:pPr indent="0" marL="0">
              <a:buNone/>
            </a:pPr>
            <a:r>
              <a:rPr lang="en-US" sz="1300" b="1" dirty="0">
                <a:solidFill>
                  <a:schemeClr val="accent4"/>
                </a:solidFill>
                <a:latin typeface="Courier New" pitchFamily="34" charset="0"/>
                <a:ea typeface="Courier New" pitchFamily="34" charset="-122"/>
                <a:cs typeface="Courier New" pitchFamily="34" charset="-120"/>
              </a:rPr>
              <a:t>401</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SCHREIBEN · PUT /v1/cache/{hash}</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Sieben Prüfungen vor dem Speichern</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Jede Stufe kann mit einem eigenen Statuscode abbrechen</a:t>
            </a:r>
            <a:endParaRPr lang="en-US" sz="1500" dirty="0"/>
          </a:p>
        </p:txBody>
      </p:sp>
      <p:sp>
        <p:nvSpPr>
          <p:cNvPr id="5" name="Text 3"/>
          <p:cNvSpPr/>
          <p:nvPr/>
        </p:nvSpPr>
        <p:spPr>
          <a:xfrm>
            <a:off x="548640" y="2148840"/>
            <a:ext cx="1371600"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b="1" dirty="0">
                <a:solidFill>
                  <a:schemeClr val="tx1"/>
                </a:solidFill>
              </a:rPr>
              <a:t>Token gültig?</a:t>
            </a:r>
            <a:endParaRPr lang="en-US" sz="1300" dirty="0"/>
          </a:p>
        </p:txBody>
      </p:sp>
      <p:sp>
        <p:nvSpPr>
          <p:cNvPr id="6" name="arrow"/>
          <p:cNvSpPr/>
          <p:nvPr/>
        </p:nvSpPr>
        <p:spPr>
          <a:xfrm>
            <a:off x="1920240" y="2811780"/>
            <a:ext cx="248869" cy="0"/>
          </a:xfrm>
          <a:prstGeom prst="line">
            <a:avLst/>
          </a:prstGeom>
          <a:noFill/>
          <a:ln w="25400">
            <a:solidFill>
              <a:schemeClr val="accent3"/>
            </a:solidFill>
            <a:prstDash val="solid"/>
            <a:tailEnd type="triangle"/>
          </a:ln>
        </p:spPr>
      </p:sp>
      <p:sp>
        <p:nvSpPr>
          <p:cNvPr id="7" name="arrow"/>
          <p:cNvSpPr/>
          <p:nvPr/>
        </p:nvSpPr>
        <p:spPr>
          <a:xfrm>
            <a:off x="1234440" y="3474720"/>
            <a:ext cx="0" cy="502920"/>
          </a:xfrm>
          <a:prstGeom prst="line">
            <a:avLst/>
          </a:prstGeom>
          <a:noFill/>
          <a:ln w="19050">
            <a:solidFill>
              <a:schemeClr val="accent4"/>
            </a:solidFill>
            <a:prstDash val="dash"/>
            <a:tailEnd type="triangle"/>
          </a:ln>
        </p:spPr>
      </p:sp>
      <p:sp>
        <p:nvSpPr>
          <p:cNvPr id="8" name="Text 6"/>
          <p:cNvSpPr/>
          <p:nvPr/>
        </p:nvSpPr>
        <p:spPr>
          <a:xfrm>
            <a:off x="905256"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401</a:t>
            </a:r>
            <a:endParaRPr lang="en-US" sz="1100" dirty="0"/>
          </a:p>
        </p:txBody>
      </p:sp>
      <p:sp>
        <p:nvSpPr>
          <p:cNvPr id="9" name="Text 7"/>
          <p:cNvSpPr/>
          <p:nvPr/>
        </p:nvSpPr>
        <p:spPr>
          <a:xfrm>
            <a:off x="2169109" y="2148840"/>
            <a:ext cx="1371600"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b="1" dirty="0">
                <a:solidFill>
                  <a:schemeClr val="tx1"/>
                </a:solidFill>
              </a:rPr>
              <a:t>Rolle darf schreiben?</a:t>
            </a:r>
            <a:endParaRPr lang="en-US" sz="1300" dirty="0"/>
          </a:p>
        </p:txBody>
      </p:sp>
      <p:sp>
        <p:nvSpPr>
          <p:cNvPr id="10" name="arrow"/>
          <p:cNvSpPr/>
          <p:nvPr/>
        </p:nvSpPr>
        <p:spPr>
          <a:xfrm>
            <a:off x="3540709" y="2811780"/>
            <a:ext cx="248869" cy="0"/>
          </a:xfrm>
          <a:prstGeom prst="line">
            <a:avLst/>
          </a:prstGeom>
          <a:noFill/>
          <a:ln w="25400">
            <a:solidFill>
              <a:schemeClr val="accent3"/>
            </a:solidFill>
            <a:prstDash val="solid"/>
            <a:tailEnd type="triangle"/>
          </a:ln>
        </p:spPr>
      </p:sp>
      <p:sp>
        <p:nvSpPr>
          <p:cNvPr id="11" name="arrow"/>
          <p:cNvSpPr/>
          <p:nvPr/>
        </p:nvSpPr>
        <p:spPr>
          <a:xfrm>
            <a:off x="2854909" y="3474720"/>
            <a:ext cx="0" cy="502920"/>
          </a:xfrm>
          <a:prstGeom prst="line">
            <a:avLst/>
          </a:prstGeom>
          <a:noFill/>
          <a:ln w="19050">
            <a:solidFill>
              <a:schemeClr val="accent4"/>
            </a:solidFill>
            <a:prstDash val="dash"/>
            <a:tailEnd type="triangle"/>
          </a:ln>
        </p:spPr>
      </p:sp>
      <p:sp>
        <p:nvSpPr>
          <p:cNvPr id="12" name="Text 10"/>
          <p:cNvSpPr/>
          <p:nvPr/>
        </p:nvSpPr>
        <p:spPr>
          <a:xfrm>
            <a:off x="2525725"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403</a:t>
            </a:r>
            <a:endParaRPr lang="en-US" sz="1100" dirty="0"/>
          </a:p>
        </p:txBody>
      </p:sp>
      <p:sp>
        <p:nvSpPr>
          <p:cNvPr id="13" name="Text 11"/>
          <p:cNvSpPr/>
          <p:nvPr/>
        </p:nvSpPr>
        <p:spPr>
          <a:xfrm>
            <a:off x="3789578" y="2148840"/>
            <a:ext cx="1371600"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b="1" dirty="0">
                <a:solidFill>
                  <a:schemeClr val="tx1"/>
                </a:solidFill>
              </a:rPr>
              <a:t>Hash-Format gültig?</a:t>
            </a:r>
            <a:endParaRPr lang="en-US" sz="1300" dirty="0"/>
          </a:p>
        </p:txBody>
      </p:sp>
      <p:sp>
        <p:nvSpPr>
          <p:cNvPr id="14" name="arrow"/>
          <p:cNvSpPr/>
          <p:nvPr/>
        </p:nvSpPr>
        <p:spPr>
          <a:xfrm>
            <a:off x="5161178" y="2811780"/>
            <a:ext cx="248869" cy="0"/>
          </a:xfrm>
          <a:prstGeom prst="line">
            <a:avLst/>
          </a:prstGeom>
          <a:noFill/>
          <a:ln w="25400">
            <a:solidFill>
              <a:schemeClr val="accent3"/>
            </a:solidFill>
            <a:prstDash val="solid"/>
            <a:tailEnd type="triangle"/>
          </a:ln>
        </p:spPr>
      </p:sp>
      <p:sp>
        <p:nvSpPr>
          <p:cNvPr id="15" name="arrow"/>
          <p:cNvSpPr/>
          <p:nvPr/>
        </p:nvSpPr>
        <p:spPr>
          <a:xfrm>
            <a:off x="4475378" y="3474720"/>
            <a:ext cx="0" cy="502920"/>
          </a:xfrm>
          <a:prstGeom prst="line">
            <a:avLst/>
          </a:prstGeom>
          <a:noFill/>
          <a:ln w="19050">
            <a:solidFill>
              <a:schemeClr val="accent4"/>
            </a:solidFill>
            <a:prstDash val="dash"/>
            <a:tailEnd type="triangle"/>
          </a:ln>
        </p:spPr>
      </p:sp>
      <p:sp>
        <p:nvSpPr>
          <p:cNvPr id="16" name="Text 14"/>
          <p:cNvSpPr/>
          <p:nvPr/>
        </p:nvSpPr>
        <p:spPr>
          <a:xfrm>
            <a:off x="4146194"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400</a:t>
            </a:r>
            <a:endParaRPr lang="en-US" sz="1100" dirty="0"/>
          </a:p>
        </p:txBody>
      </p:sp>
      <p:sp>
        <p:nvSpPr>
          <p:cNvPr id="17" name="Text 15"/>
          <p:cNvSpPr/>
          <p:nvPr/>
        </p:nvSpPr>
        <p:spPr>
          <a:xfrm>
            <a:off x="5410048" y="2148840"/>
            <a:ext cx="1371600"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b="1" dirty="0">
                <a:solidFill>
                  <a:schemeClr val="tx1"/>
                </a:solidFill>
              </a:rPr>
              <a:t>Content-Length gesetzt?</a:t>
            </a:r>
            <a:endParaRPr lang="en-US" sz="1300" dirty="0"/>
          </a:p>
        </p:txBody>
      </p:sp>
      <p:sp>
        <p:nvSpPr>
          <p:cNvPr id="18" name="arrow"/>
          <p:cNvSpPr/>
          <p:nvPr/>
        </p:nvSpPr>
        <p:spPr>
          <a:xfrm>
            <a:off x="6781648" y="2811780"/>
            <a:ext cx="248869" cy="0"/>
          </a:xfrm>
          <a:prstGeom prst="line">
            <a:avLst/>
          </a:prstGeom>
          <a:noFill/>
          <a:ln w="25400">
            <a:solidFill>
              <a:schemeClr val="accent3"/>
            </a:solidFill>
            <a:prstDash val="solid"/>
            <a:tailEnd type="triangle"/>
          </a:ln>
        </p:spPr>
      </p:sp>
      <p:sp>
        <p:nvSpPr>
          <p:cNvPr id="19" name="arrow"/>
          <p:cNvSpPr/>
          <p:nvPr/>
        </p:nvSpPr>
        <p:spPr>
          <a:xfrm>
            <a:off x="6095848" y="3474720"/>
            <a:ext cx="0" cy="502920"/>
          </a:xfrm>
          <a:prstGeom prst="line">
            <a:avLst/>
          </a:prstGeom>
          <a:noFill/>
          <a:ln w="19050">
            <a:solidFill>
              <a:schemeClr val="accent4"/>
            </a:solidFill>
            <a:prstDash val="dash"/>
            <a:tailEnd type="triangle"/>
          </a:ln>
        </p:spPr>
      </p:sp>
      <p:sp>
        <p:nvSpPr>
          <p:cNvPr id="20" name="Text 18"/>
          <p:cNvSpPr/>
          <p:nvPr/>
        </p:nvSpPr>
        <p:spPr>
          <a:xfrm>
            <a:off x="5766664"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411</a:t>
            </a:r>
            <a:endParaRPr lang="en-US" sz="1100" dirty="0"/>
          </a:p>
        </p:txBody>
      </p:sp>
      <p:sp>
        <p:nvSpPr>
          <p:cNvPr id="21" name="Text 19"/>
          <p:cNvSpPr/>
          <p:nvPr/>
        </p:nvSpPr>
        <p:spPr>
          <a:xfrm>
            <a:off x="7030517" y="2148840"/>
            <a:ext cx="1371600"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b="1" dirty="0">
                <a:solidFill>
                  <a:schemeClr val="tx1"/>
                </a:solidFill>
              </a:rPr>
              <a:t>≤ Größenlimit?</a:t>
            </a:r>
            <a:endParaRPr lang="en-US" sz="1300" dirty="0"/>
          </a:p>
        </p:txBody>
      </p:sp>
      <p:sp>
        <p:nvSpPr>
          <p:cNvPr id="22" name="arrow"/>
          <p:cNvSpPr/>
          <p:nvPr/>
        </p:nvSpPr>
        <p:spPr>
          <a:xfrm>
            <a:off x="8402117" y="2811780"/>
            <a:ext cx="248869" cy="0"/>
          </a:xfrm>
          <a:prstGeom prst="line">
            <a:avLst/>
          </a:prstGeom>
          <a:noFill/>
          <a:ln w="25400">
            <a:solidFill>
              <a:schemeClr val="accent3"/>
            </a:solidFill>
            <a:prstDash val="solid"/>
            <a:tailEnd type="triangle"/>
          </a:ln>
        </p:spPr>
      </p:sp>
      <p:sp>
        <p:nvSpPr>
          <p:cNvPr id="23" name="arrow"/>
          <p:cNvSpPr/>
          <p:nvPr/>
        </p:nvSpPr>
        <p:spPr>
          <a:xfrm>
            <a:off x="7716317" y="3474720"/>
            <a:ext cx="0" cy="502920"/>
          </a:xfrm>
          <a:prstGeom prst="line">
            <a:avLst/>
          </a:prstGeom>
          <a:noFill/>
          <a:ln w="19050">
            <a:solidFill>
              <a:schemeClr val="accent4"/>
            </a:solidFill>
            <a:prstDash val="dash"/>
            <a:tailEnd type="triangle"/>
          </a:ln>
        </p:spPr>
      </p:sp>
      <p:sp>
        <p:nvSpPr>
          <p:cNvPr id="24" name="Text 22"/>
          <p:cNvSpPr/>
          <p:nvPr/>
        </p:nvSpPr>
        <p:spPr>
          <a:xfrm>
            <a:off x="7387133"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413</a:t>
            </a:r>
            <a:endParaRPr lang="en-US" sz="1100" dirty="0"/>
          </a:p>
        </p:txBody>
      </p:sp>
      <p:sp>
        <p:nvSpPr>
          <p:cNvPr id="25" name="Text 23"/>
          <p:cNvSpPr/>
          <p:nvPr/>
        </p:nvSpPr>
        <p:spPr>
          <a:xfrm>
            <a:off x="8650986" y="2148840"/>
            <a:ext cx="1371600" cy="1325880"/>
          </a:xfrm>
          <a:prstGeom prst="roundRect">
            <a:avLst>
              <a:gd name="adj" fmla="val 5517"/>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b="1" dirty="0">
                <a:solidFill>
                  <a:schemeClr val="tx1"/>
                </a:solidFill>
              </a:rPr>
              <a:t>Hash schon lesbar vorhanden?</a:t>
            </a:r>
            <a:endParaRPr lang="en-US" sz="1300" dirty="0"/>
          </a:p>
        </p:txBody>
      </p:sp>
      <p:sp>
        <p:nvSpPr>
          <p:cNvPr id="26" name="arrow"/>
          <p:cNvSpPr/>
          <p:nvPr/>
        </p:nvSpPr>
        <p:spPr>
          <a:xfrm>
            <a:off x="10022586" y="2811780"/>
            <a:ext cx="248869" cy="0"/>
          </a:xfrm>
          <a:prstGeom prst="line">
            <a:avLst/>
          </a:prstGeom>
          <a:noFill/>
          <a:ln w="25400">
            <a:solidFill>
              <a:schemeClr val="accent3"/>
            </a:solidFill>
            <a:prstDash val="solid"/>
            <a:tailEnd type="triangle"/>
          </a:ln>
        </p:spPr>
      </p:sp>
      <p:sp>
        <p:nvSpPr>
          <p:cNvPr id="27" name="arrow"/>
          <p:cNvSpPr/>
          <p:nvPr/>
        </p:nvSpPr>
        <p:spPr>
          <a:xfrm>
            <a:off x="9336786" y="3474720"/>
            <a:ext cx="0" cy="502920"/>
          </a:xfrm>
          <a:prstGeom prst="line">
            <a:avLst/>
          </a:prstGeom>
          <a:noFill/>
          <a:ln w="19050">
            <a:solidFill>
              <a:schemeClr val="accent4"/>
            </a:solidFill>
            <a:prstDash val="dash"/>
            <a:tailEnd type="triangle"/>
          </a:ln>
        </p:spPr>
      </p:sp>
      <p:sp>
        <p:nvSpPr>
          <p:cNvPr id="28" name="Text 26"/>
          <p:cNvSpPr/>
          <p:nvPr/>
        </p:nvSpPr>
        <p:spPr>
          <a:xfrm>
            <a:off x="9007602"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409</a:t>
            </a:r>
            <a:endParaRPr lang="en-US" sz="1100" dirty="0"/>
          </a:p>
        </p:txBody>
      </p:sp>
      <p:sp>
        <p:nvSpPr>
          <p:cNvPr id="29" name="Text 27"/>
          <p:cNvSpPr/>
          <p:nvPr/>
        </p:nvSpPr>
        <p:spPr>
          <a:xfrm>
            <a:off x="10271455" y="2148840"/>
            <a:ext cx="1371600" cy="1325880"/>
          </a:xfrm>
          <a:prstGeom prst="roundRect">
            <a:avLst>
              <a:gd name="adj" fmla="val 5517"/>
            </a:avLst>
          </a:prstGeom>
          <a:solidFill>
            <a:schemeClr val="accent5"/>
          </a:solidFill>
          <a:ln w="12700">
            <a:solidFill>
              <a:schemeClr val="accent1"/>
            </a:solidFill>
          </a:ln>
        </p:spPr>
        <p:txBody>
          <a:bodyPr wrap="square" lIns="76200" tIns="76200" rIns="76200" bIns="76200" rtlCol="0" anchor="ctr"/>
          <a:lstStyle/>
          <a:p>
            <a:pPr algn="ctr" indent="0" marL="0">
              <a:buNone/>
            </a:pPr>
            <a:r>
              <a:rPr lang="en-US" sz="1300" b="1" dirty="0">
                <a:solidFill>
                  <a:schemeClr val="tx1"/>
                </a:solidFill>
              </a:rPr>
              <a:t>Put mit If-None-Match: *</a:t>
            </a:r>
            <a:endParaRPr lang="en-US" sz="1300" dirty="0"/>
          </a:p>
        </p:txBody>
      </p:sp>
      <p:sp>
        <p:nvSpPr>
          <p:cNvPr id="30" name="arrow"/>
          <p:cNvSpPr/>
          <p:nvPr/>
        </p:nvSpPr>
        <p:spPr>
          <a:xfrm>
            <a:off x="10957255" y="3474720"/>
            <a:ext cx="0" cy="502920"/>
          </a:xfrm>
          <a:prstGeom prst="line">
            <a:avLst/>
          </a:prstGeom>
          <a:noFill/>
          <a:ln w="19050">
            <a:solidFill>
              <a:schemeClr val="accent4"/>
            </a:solidFill>
            <a:prstDash val="dash"/>
            <a:tailEnd type="triangle"/>
          </a:ln>
        </p:spPr>
      </p:sp>
      <p:sp>
        <p:nvSpPr>
          <p:cNvPr id="31" name="Text 29"/>
          <p:cNvSpPr/>
          <p:nvPr/>
        </p:nvSpPr>
        <p:spPr>
          <a:xfrm>
            <a:off x="10628071" y="4023360"/>
            <a:ext cx="658368"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409</a:t>
            </a:r>
            <a:endParaRPr lang="en-US" sz="1100" dirty="0"/>
          </a:p>
        </p:txBody>
      </p:sp>
      <p:sp>
        <p:nvSpPr>
          <p:cNvPr id="32" name="Text 30"/>
          <p:cNvSpPr/>
          <p:nvPr/>
        </p:nvSpPr>
        <p:spPr>
          <a:xfrm>
            <a:off x="10628071" y="1600200"/>
            <a:ext cx="658368" cy="292608"/>
          </a:xfrm>
          <a:prstGeom prst="roundRect">
            <a:avLst>
              <a:gd name="adj" fmla="val 156250"/>
            </a:avLst>
          </a:prstGeom>
          <a:solidFill>
            <a:schemeClr val="accent3"/>
          </a:solidFill>
          <a:ln w="12700">
            <a:solidFill>
              <a:schemeClr val="accent3"/>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200</a:t>
            </a:r>
            <a:endParaRPr lang="en-US" sz="1100" dirty="0"/>
          </a:p>
        </p:txBody>
      </p:sp>
      <p:sp>
        <p:nvSpPr>
          <p:cNvPr id="33" name="arrow"/>
          <p:cNvSpPr/>
          <p:nvPr/>
        </p:nvSpPr>
        <p:spPr>
          <a:xfrm flipV="1">
            <a:off x="10957255" y="1892808"/>
            <a:ext cx="0" cy="256032"/>
          </a:xfrm>
          <a:prstGeom prst="line">
            <a:avLst/>
          </a:prstGeom>
          <a:noFill/>
          <a:ln w="25400">
            <a:solidFill>
              <a:schemeClr val="accent3"/>
            </a:solidFill>
            <a:prstDash val="solid"/>
            <a:tailEnd type="triangle"/>
          </a:ln>
        </p:spPr>
      </p:sp>
      <p:sp>
        <p:nvSpPr>
          <p:cNvPr id="34" name="Text 32"/>
          <p:cNvSpPr txBox="1"/>
          <p:nvPr/>
        </p:nvSpPr>
        <p:spPr>
          <a:xfrm>
            <a:off x="8899855" y="1627632"/>
            <a:ext cx="1234440" cy="256032"/>
          </a:xfrm>
          <a:prstGeom prst="rect">
            <a:avLst/>
          </a:prstGeom>
          <a:noFill/>
          <a:ln/>
        </p:spPr>
        <p:txBody>
          <a:bodyPr wrap="square" lIns="0" tIns="0" rIns="0" bIns="0" rtlCol="0" anchor="t"/>
          <a:lstStyle/>
          <a:p>
            <a:pPr algn="r" indent="0" marL="0">
              <a:buNone/>
            </a:pPr>
            <a:r>
              <a:rPr lang="en-US" sz="1200" b="1" dirty="0">
                <a:solidFill>
                  <a:schemeClr val="accent3"/>
                </a:solidFill>
              </a:rPr>
              <a:t>gespeichert</a:t>
            </a:r>
            <a:endParaRPr lang="en-US" sz="1200" dirty="0"/>
          </a:p>
        </p:txBody>
      </p:sp>
      <p:sp>
        <p:nvSpPr>
          <p:cNvPr id="35" name="Text 33"/>
          <p:cNvSpPr/>
          <p:nvPr/>
        </p:nvSpPr>
        <p:spPr>
          <a:xfrm>
            <a:off x="548640" y="4709160"/>
            <a:ext cx="3515258" cy="1143000"/>
          </a:xfrm>
          <a:prstGeom prst="roundRect">
            <a:avLst>
              <a:gd name="adj" fmla="val 6400"/>
            </a:avLst>
          </a:prstGeom>
          <a:solidFill>
            <a:schemeClr val="bg1"/>
          </a:solidFill>
          <a:ln w="12700">
            <a:solidFill>
              <a:srgbClr val="D5DDE2"/>
            </a:solidFill>
          </a:ln>
        </p:spPr>
        <p:txBody>
          <a:bodyPr wrap="square" lIns="76200" tIns="76200" rIns="76200" bIns="76200" rtlCol="0" anchor="ctr"/>
          <a:lstStyle/>
          <a:p>
            <a:pPr algn="ctr" indent="0" marL="0">
              <a:buNone/>
            </a:pPr>
            <a:endParaRPr lang="en-US" sz="1400" dirty="0"/>
          </a:p>
        </p:txBody>
      </p:sp>
      <p:sp>
        <p:nvSpPr>
          <p:cNvPr id="36" name="icon-bg"/>
          <p:cNvSpPr/>
          <p:nvPr/>
        </p:nvSpPr>
        <p:spPr>
          <a:xfrm>
            <a:off x="731520" y="4873752"/>
            <a:ext cx="502920" cy="502920"/>
          </a:xfrm>
          <a:prstGeom prst="ellipse">
            <a:avLst/>
          </a:prstGeom>
          <a:solidFill>
            <a:schemeClr val="accent5"/>
          </a:solidFill>
          <a:ln w="12700">
            <a:solidFill>
              <a:schemeClr val="accent5"/>
            </a:solidFill>
            <a:prstDash val="solid"/>
          </a:ln>
        </p:spPr>
      </p:sp>
      <p:pic>
        <p:nvPicPr>
          <p:cNvPr id="37" name="icon-FaUserLock" descr="preencoded.png">    </p:cNvPr>
          <p:cNvPicPr>
            <a:picLocks noChangeAspect="1"/>
          </p:cNvPicPr>
          <p:nvPr/>
        </p:nvPicPr>
        <p:blipFill>
          <a:blip r:embed="rId1"/>
          <a:stretch>
            <a:fillRect/>
          </a:stretch>
        </p:blipFill>
        <p:spPr>
          <a:xfrm>
            <a:off x="852221" y="4994453"/>
            <a:ext cx="261518" cy="261518"/>
          </a:xfrm>
          <a:prstGeom prst="rect">
            <a:avLst/>
          </a:prstGeom>
        </p:spPr>
      </p:pic>
      <p:sp>
        <p:nvSpPr>
          <p:cNvPr id="38" name="Text 35"/>
          <p:cNvSpPr txBox="1"/>
          <p:nvPr/>
        </p:nvSpPr>
        <p:spPr>
          <a:xfrm>
            <a:off x="1417320" y="4846320"/>
            <a:ext cx="2509418" cy="1097280"/>
          </a:xfrm>
          <a:prstGeom prst="rect">
            <a:avLst/>
          </a:prstGeom>
          <a:noFill/>
          <a:ln/>
        </p:spPr>
        <p:txBody>
          <a:bodyPr wrap="square" lIns="0" tIns="0" rIns="0" bIns="0" rtlCol="0" anchor="t"/>
          <a:lstStyle/>
          <a:p>
            <a:pPr indent="0" marL="0">
              <a:buNone/>
            </a:pPr>
            <a:r>
              <a:rPr lang="en-US" sz="1400" b="1" dirty="0">
                <a:solidFill>
                  <a:schemeClr val="tx1"/>
                </a:solidFill>
              </a:rPr>
              <a:t>Read-only → 403</a:t>
            </a:r>
            <a:endParaRPr lang="en-US" sz="1400" dirty="0"/>
          </a:p>
          <a:p>
            <a:pPr indent="0" marL="0">
              <a:buNone/>
            </a:pPr>
            <a:r>
              <a:rPr lang="en-US" sz="1300" dirty="0">
                <a:solidFill>
                  <a:schemeClr val="tx2"/>
                </a:solidFill>
              </a:rPr>
              <a:t>PR-Pipelines laufen normal, ihr Upload wird still abgelehnt.</a:t>
            </a:r>
            <a:endParaRPr lang="en-US" sz="1400" dirty="0"/>
          </a:p>
        </p:txBody>
      </p:sp>
      <p:sp>
        <p:nvSpPr>
          <p:cNvPr id="39" name="Text 36"/>
          <p:cNvSpPr/>
          <p:nvPr/>
        </p:nvSpPr>
        <p:spPr>
          <a:xfrm>
            <a:off x="4338218" y="4709160"/>
            <a:ext cx="3515258" cy="1143000"/>
          </a:xfrm>
          <a:prstGeom prst="roundRect">
            <a:avLst>
              <a:gd name="adj" fmla="val 6400"/>
            </a:avLst>
          </a:prstGeom>
          <a:solidFill>
            <a:schemeClr val="bg1"/>
          </a:solidFill>
          <a:ln w="12700">
            <a:solidFill>
              <a:srgbClr val="D5DDE2"/>
            </a:solidFill>
          </a:ln>
        </p:spPr>
        <p:txBody>
          <a:bodyPr wrap="square" lIns="76200" tIns="76200" rIns="76200" bIns="76200" rtlCol="0" anchor="ctr"/>
          <a:lstStyle/>
          <a:p>
            <a:pPr algn="ctr" indent="0" marL="0">
              <a:buNone/>
            </a:pPr>
            <a:endParaRPr lang="en-US" sz="1400" dirty="0"/>
          </a:p>
        </p:txBody>
      </p:sp>
      <p:sp>
        <p:nvSpPr>
          <p:cNvPr id="40" name="icon-bg"/>
          <p:cNvSpPr/>
          <p:nvPr/>
        </p:nvSpPr>
        <p:spPr>
          <a:xfrm>
            <a:off x="4521098" y="4873752"/>
            <a:ext cx="502920" cy="502920"/>
          </a:xfrm>
          <a:prstGeom prst="ellipse">
            <a:avLst/>
          </a:prstGeom>
          <a:solidFill>
            <a:schemeClr val="accent5"/>
          </a:solidFill>
          <a:ln w="12700">
            <a:solidFill>
              <a:schemeClr val="accent5"/>
            </a:solidFill>
            <a:prstDash val="solid"/>
          </a:ln>
        </p:spPr>
      </p:sp>
      <p:pic>
        <p:nvPicPr>
          <p:cNvPr id="41" name="icon-FaRoute" descr="preencoded.png">    </p:cNvPr>
          <p:cNvPicPr>
            <a:picLocks noChangeAspect="1"/>
          </p:cNvPicPr>
          <p:nvPr/>
        </p:nvPicPr>
        <p:blipFill>
          <a:blip r:embed="rId2"/>
          <a:stretch>
            <a:fillRect/>
          </a:stretch>
        </p:blipFill>
        <p:spPr>
          <a:xfrm>
            <a:off x="4641799" y="4994453"/>
            <a:ext cx="261518" cy="261518"/>
          </a:xfrm>
          <a:prstGeom prst="rect">
            <a:avLst/>
          </a:prstGeom>
        </p:spPr>
      </p:pic>
      <p:sp>
        <p:nvSpPr>
          <p:cNvPr id="42" name="Text 38"/>
          <p:cNvSpPr txBox="1"/>
          <p:nvPr/>
        </p:nvSpPr>
        <p:spPr>
          <a:xfrm>
            <a:off x="5206898" y="4846320"/>
            <a:ext cx="2509418" cy="1097280"/>
          </a:xfrm>
          <a:prstGeom prst="rect">
            <a:avLst/>
          </a:prstGeom>
          <a:noFill/>
          <a:ln/>
        </p:spPr>
        <p:txBody>
          <a:bodyPr wrap="square" lIns="0" tIns="0" rIns="0" bIns="0" rtlCol="0" anchor="t"/>
          <a:lstStyle/>
          <a:p>
            <a:pPr indent="0" marL="0">
              <a:buNone/>
            </a:pPr>
            <a:r>
              <a:rPr lang="en-US" sz="1400" b="1" dirty="0">
                <a:solidFill>
                  <a:schemeClr val="tx1"/>
                </a:solidFill>
              </a:rPr>
              <a:t>Pfad-Sicherheit</a:t>
            </a:r>
            <a:endParaRPr lang="en-US" sz="1400" dirty="0"/>
          </a:p>
          <a:p>
            <a:pPr indent="0" marL="0">
              <a:buNone/>
            </a:pPr>
            <a:r>
              <a:rPr lang="en-US" sz="1300" dirty="0">
                <a:solidFill>
                  <a:schemeClr val="tx2"/>
                </a:solidFill>
              </a:rPr>
              <a:t>Kein Punkt, kein Slash: Hash kann den Namespace nicht verlassen.</a:t>
            </a:r>
            <a:endParaRPr lang="en-US" sz="1400" dirty="0"/>
          </a:p>
        </p:txBody>
      </p:sp>
      <p:sp>
        <p:nvSpPr>
          <p:cNvPr id="43" name="Text 39"/>
          <p:cNvSpPr/>
          <p:nvPr/>
        </p:nvSpPr>
        <p:spPr>
          <a:xfrm>
            <a:off x="8127797" y="4709160"/>
            <a:ext cx="3515258" cy="1143000"/>
          </a:xfrm>
          <a:prstGeom prst="roundRect">
            <a:avLst>
              <a:gd name="adj" fmla="val 6400"/>
            </a:avLst>
          </a:prstGeom>
          <a:solidFill>
            <a:schemeClr val="bg1"/>
          </a:solidFill>
          <a:ln w="12700">
            <a:solidFill>
              <a:srgbClr val="D5DDE2"/>
            </a:solidFill>
          </a:ln>
        </p:spPr>
        <p:txBody>
          <a:bodyPr wrap="square" lIns="76200" tIns="76200" rIns="76200" bIns="76200" rtlCol="0" anchor="ctr"/>
          <a:lstStyle/>
          <a:p>
            <a:pPr algn="ctr" indent="0" marL="0">
              <a:buNone/>
            </a:pPr>
            <a:endParaRPr lang="en-US" sz="1400" dirty="0"/>
          </a:p>
        </p:txBody>
      </p:sp>
      <p:sp>
        <p:nvSpPr>
          <p:cNvPr id="44" name="icon-bg"/>
          <p:cNvSpPr/>
          <p:nvPr/>
        </p:nvSpPr>
        <p:spPr>
          <a:xfrm>
            <a:off x="8310677" y="4873752"/>
            <a:ext cx="502920" cy="502920"/>
          </a:xfrm>
          <a:prstGeom prst="ellipse">
            <a:avLst/>
          </a:prstGeom>
          <a:solidFill>
            <a:schemeClr val="accent5"/>
          </a:solidFill>
          <a:ln w="12700">
            <a:solidFill>
              <a:schemeClr val="accent5"/>
            </a:solidFill>
            <a:prstDash val="solid"/>
          </a:ln>
        </p:spPr>
      </p:sp>
      <p:pic>
        <p:nvPicPr>
          <p:cNvPr id="45" name="icon-FaStream" descr="preencoded.png">    </p:cNvPr>
          <p:cNvPicPr>
            <a:picLocks noChangeAspect="1"/>
          </p:cNvPicPr>
          <p:nvPr/>
        </p:nvPicPr>
        <p:blipFill>
          <a:blip r:embed="rId3"/>
          <a:stretch>
            <a:fillRect/>
          </a:stretch>
        </p:blipFill>
        <p:spPr>
          <a:xfrm>
            <a:off x="8431378" y="4994453"/>
            <a:ext cx="261518" cy="261518"/>
          </a:xfrm>
          <a:prstGeom prst="rect">
            <a:avLst/>
          </a:prstGeom>
        </p:spPr>
      </p:pic>
      <p:sp>
        <p:nvSpPr>
          <p:cNvPr id="46" name="Text 41"/>
          <p:cNvSpPr txBox="1"/>
          <p:nvPr/>
        </p:nvSpPr>
        <p:spPr>
          <a:xfrm>
            <a:off x="8996477" y="4846320"/>
            <a:ext cx="2509418" cy="1097280"/>
          </a:xfrm>
          <a:prstGeom prst="rect">
            <a:avLst/>
          </a:prstGeom>
          <a:noFill/>
          <a:ln/>
        </p:spPr>
        <p:txBody>
          <a:bodyPr wrap="square" lIns="0" tIns="0" rIns="0" bIns="0" rtlCol="0" anchor="t"/>
          <a:lstStyle/>
          <a:p>
            <a:pPr indent="0" marL="0">
              <a:buNone/>
            </a:pPr>
            <a:r>
              <a:rPr lang="en-US" sz="1400" b="1" dirty="0">
                <a:solidFill>
                  <a:schemeClr val="tx1"/>
                </a:solidFill>
              </a:rPr>
              <a:t>Gestreamt</a:t>
            </a:r>
            <a:endParaRPr lang="en-US" sz="1400" dirty="0"/>
          </a:p>
          <a:p>
            <a:pPr indent="0" marL="0">
              <a:buNone/>
            </a:pPr>
            <a:r>
              <a:rPr lang="en-US" sz="1300" dirty="0">
                <a:solidFill>
                  <a:schemeClr val="tx2"/>
                </a:solidFill>
              </a:rPr>
              <a:t>Body geht direkt zum Storage, Vorprüfung 409 spart den Upload.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WRITE-ONCE</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Ein Eintrag wird nie überschrieben</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Atomar im Backend, auch wenn zwei Writer gleichzeitig hochladen</a:t>
            </a:r>
            <a:endParaRPr lang="en-US" sz="1500" dirty="0"/>
          </a:p>
        </p:txBody>
      </p:sp>
      <p:sp>
        <p:nvSpPr>
          <p:cNvPr id="5" name="Text 3"/>
          <p:cNvSpPr/>
          <p:nvPr/>
        </p:nvSpPr>
        <p:spPr>
          <a:xfrm>
            <a:off x="548640" y="2194560"/>
            <a:ext cx="2377440" cy="1188720"/>
          </a:xfrm>
          <a:prstGeom prst="roundRect">
            <a:avLst>
              <a:gd name="adj" fmla="val 6154"/>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pic>
        <p:nvPicPr>
          <p:cNvPr id="6" name="icon-FaServer" descr="preencoded.png">    </p:cNvPr>
          <p:cNvPicPr>
            <a:picLocks noChangeAspect="1"/>
          </p:cNvPicPr>
          <p:nvPr/>
        </p:nvPicPr>
        <p:blipFill>
          <a:blip r:embed="rId1"/>
          <a:stretch>
            <a:fillRect/>
          </a:stretch>
        </p:blipFill>
        <p:spPr>
          <a:xfrm>
            <a:off x="777240" y="2542032"/>
            <a:ext cx="502920" cy="502920"/>
          </a:xfrm>
          <a:prstGeom prst="rect">
            <a:avLst/>
          </a:prstGeom>
        </p:spPr>
      </p:pic>
      <p:sp>
        <p:nvSpPr>
          <p:cNvPr id="7" name="Text 4"/>
          <p:cNvSpPr txBox="1"/>
          <p:nvPr/>
        </p:nvSpPr>
        <p:spPr>
          <a:xfrm>
            <a:off x="1463040" y="2468880"/>
            <a:ext cx="1417320" cy="685800"/>
          </a:xfrm>
          <a:prstGeom prst="rect">
            <a:avLst/>
          </a:prstGeom>
          <a:noFill/>
          <a:ln/>
        </p:spPr>
        <p:txBody>
          <a:bodyPr wrap="square" lIns="0" tIns="0" rIns="0" bIns="0" rtlCol="0" anchor="t"/>
          <a:lstStyle/>
          <a:p>
            <a:pPr indent="0" marL="0">
              <a:buNone/>
            </a:pPr>
            <a:r>
              <a:rPr lang="en-US" sz="1400" b="1" dirty="0">
                <a:solidFill>
                  <a:schemeClr val="tx1"/>
                </a:solidFill>
              </a:rPr>
              <a:t>Writer A</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PUT trusted/1370…</a:t>
            </a:r>
            <a:endParaRPr lang="en-US" sz="1400" dirty="0"/>
          </a:p>
        </p:txBody>
      </p:sp>
      <p:sp>
        <p:nvSpPr>
          <p:cNvPr id="8" name="arrow"/>
          <p:cNvSpPr/>
          <p:nvPr/>
        </p:nvSpPr>
        <p:spPr>
          <a:xfrm>
            <a:off x="2926080" y="2788920"/>
            <a:ext cx="1828800" cy="822960"/>
          </a:xfrm>
          <a:prstGeom prst="line">
            <a:avLst/>
          </a:prstGeom>
          <a:noFill/>
          <a:ln w="22225">
            <a:solidFill>
              <a:schemeClr val="tx1"/>
            </a:solidFill>
            <a:prstDash val="solid"/>
            <a:tailEnd type="triangle"/>
          </a:ln>
        </p:spPr>
      </p:sp>
      <p:sp>
        <p:nvSpPr>
          <p:cNvPr id="9" name="Text 6"/>
          <p:cNvSpPr/>
          <p:nvPr/>
        </p:nvSpPr>
        <p:spPr>
          <a:xfrm>
            <a:off x="548640" y="4114800"/>
            <a:ext cx="2377440" cy="1188720"/>
          </a:xfrm>
          <a:prstGeom prst="roundRect">
            <a:avLst>
              <a:gd name="adj" fmla="val 6154"/>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pic>
        <p:nvPicPr>
          <p:cNvPr id="10" name="icon-FaServer" descr="preencoded.png">    </p:cNvPr>
          <p:cNvPicPr>
            <a:picLocks noChangeAspect="1"/>
          </p:cNvPicPr>
          <p:nvPr/>
        </p:nvPicPr>
        <p:blipFill>
          <a:blip r:embed="rId2"/>
          <a:stretch>
            <a:fillRect/>
          </a:stretch>
        </p:blipFill>
        <p:spPr>
          <a:xfrm>
            <a:off x="777240" y="4462272"/>
            <a:ext cx="502920" cy="502920"/>
          </a:xfrm>
          <a:prstGeom prst="rect">
            <a:avLst/>
          </a:prstGeom>
        </p:spPr>
      </p:pic>
      <p:sp>
        <p:nvSpPr>
          <p:cNvPr id="11" name="Text 7"/>
          <p:cNvSpPr txBox="1"/>
          <p:nvPr/>
        </p:nvSpPr>
        <p:spPr>
          <a:xfrm>
            <a:off x="1463040" y="4389120"/>
            <a:ext cx="1417320" cy="685800"/>
          </a:xfrm>
          <a:prstGeom prst="rect">
            <a:avLst/>
          </a:prstGeom>
          <a:noFill/>
          <a:ln/>
        </p:spPr>
        <p:txBody>
          <a:bodyPr wrap="square" lIns="0" tIns="0" rIns="0" bIns="0" rtlCol="0" anchor="t"/>
          <a:lstStyle/>
          <a:p>
            <a:pPr indent="0" marL="0">
              <a:buNone/>
            </a:pPr>
            <a:r>
              <a:rPr lang="en-US" sz="1400" b="1" dirty="0">
                <a:solidFill>
                  <a:schemeClr val="tx1"/>
                </a:solidFill>
              </a:rPr>
              <a:t>Writer B</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PUT trusted/1370…</a:t>
            </a:r>
            <a:endParaRPr lang="en-US" sz="1400" dirty="0"/>
          </a:p>
        </p:txBody>
      </p:sp>
      <p:sp>
        <p:nvSpPr>
          <p:cNvPr id="12" name="arrow"/>
          <p:cNvSpPr/>
          <p:nvPr/>
        </p:nvSpPr>
        <p:spPr>
          <a:xfrm flipV="1">
            <a:off x="2926080" y="3611880"/>
            <a:ext cx="1828800" cy="1097280"/>
          </a:xfrm>
          <a:prstGeom prst="line">
            <a:avLst/>
          </a:prstGeom>
          <a:noFill/>
          <a:ln w="22225">
            <a:solidFill>
              <a:schemeClr val="tx1"/>
            </a:solidFill>
            <a:prstDash val="solid"/>
            <a:tailEnd type="triangle"/>
          </a:ln>
        </p:spPr>
      </p:sp>
      <p:sp>
        <p:nvSpPr>
          <p:cNvPr id="13" name="Text 9"/>
          <p:cNvSpPr/>
          <p:nvPr/>
        </p:nvSpPr>
        <p:spPr>
          <a:xfrm>
            <a:off x="4754880" y="2971800"/>
            <a:ext cx="2651760" cy="1280160"/>
          </a:xfrm>
          <a:prstGeom prst="roundRect">
            <a:avLst>
              <a:gd name="adj" fmla="val 5714"/>
            </a:avLst>
          </a:prstGeom>
          <a:solidFill>
            <a:schemeClr val="tx1"/>
          </a:solidFill>
          <a:ln w="12700">
            <a:solidFill>
              <a:schemeClr val="tx1"/>
            </a:solidFill>
          </a:ln>
        </p:spPr>
        <p:txBody>
          <a:bodyPr wrap="square" lIns="76200" tIns="76200" rIns="76200" bIns="76200" rtlCol="0" anchor="ctr"/>
          <a:lstStyle/>
          <a:p>
            <a:pPr algn="ctr" indent="0" marL="0">
              <a:buNone/>
            </a:pPr>
            <a:endParaRPr lang="en-US" sz="1400" dirty="0"/>
          </a:p>
        </p:txBody>
      </p:sp>
      <p:sp>
        <p:nvSpPr>
          <p:cNvPr id="14" name="Text 10"/>
          <p:cNvSpPr txBox="1"/>
          <p:nvPr/>
        </p:nvSpPr>
        <p:spPr>
          <a:xfrm>
            <a:off x="4892040" y="3063240"/>
            <a:ext cx="2377440" cy="1097280"/>
          </a:xfrm>
          <a:prstGeom prst="rect">
            <a:avLst/>
          </a:prstGeom>
          <a:noFill/>
          <a:ln/>
        </p:spPr>
        <p:txBody>
          <a:bodyPr wrap="square" lIns="0" tIns="0" rIns="0" bIns="0" rtlCol="0" anchor="ctr"/>
          <a:lstStyle/>
          <a:p>
            <a:pPr algn="ctr" indent="0" marL="0">
              <a:buNone/>
            </a:pPr>
            <a:r>
              <a:rPr lang="en-US" sz="1500" b="1" dirty="0">
                <a:solidFill>
                  <a:srgbClr val="7FD1C4"/>
                </a:solidFill>
                <a:latin typeface="Courier New" pitchFamily="34" charset="0"/>
                <a:ea typeface="Courier New" pitchFamily="34" charset="-122"/>
                <a:cs typeface="Courier New" pitchFamily="34" charset="-120"/>
              </a:rPr>
              <a:t>If-None-Match: *</a:t>
            </a:r>
            <a:endParaRPr lang="en-US" sz="1400" dirty="0"/>
          </a:p>
          <a:p>
            <a:pPr algn="ctr" indent="0" marL="0">
              <a:buNone/>
            </a:pPr>
            <a:r>
              <a:rPr lang="en-US" sz="1200" dirty="0">
                <a:solidFill>
                  <a:srgbClr val="D5DDE2"/>
                </a:solidFill>
              </a:rPr>
              <a:t>nur schreiben, wenn der Key noch nicht existiert</a:t>
            </a:r>
            <a:endParaRPr lang="en-US" sz="1400" dirty="0"/>
          </a:p>
        </p:txBody>
      </p:sp>
      <p:sp>
        <p:nvSpPr>
          <p:cNvPr id="15" name="arrow"/>
          <p:cNvSpPr/>
          <p:nvPr/>
        </p:nvSpPr>
        <p:spPr>
          <a:xfrm flipV="1">
            <a:off x="7406640" y="2697480"/>
            <a:ext cx="822960" cy="640080"/>
          </a:xfrm>
          <a:prstGeom prst="line">
            <a:avLst/>
          </a:prstGeom>
          <a:noFill/>
          <a:ln w="25400">
            <a:solidFill>
              <a:schemeClr val="accent3"/>
            </a:solidFill>
            <a:prstDash val="solid"/>
            <a:tailEnd type="triangle"/>
          </a:ln>
        </p:spPr>
      </p:sp>
      <p:sp>
        <p:nvSpPr>
          <p:cNvPr id="16" name="arrow"/>
          <p:cNvSpPr/>
          <p:nvPr/>
        </p:nvSpPr>
        <p:spPr>
          <a:xfrm>
            <a:off x="7406640" y="3886200"/>
            <a:ext cx="822960" cy="640080"/>
          </a:xfrm>
          <a:prstGeom prst="line">
            <a:avLst/>
          </a:prstGeom>
          <a:noFill/>
          <a:ln w="25400">
            <a:solidFill>
              <a:schemeClr val="accent4"/>
            </a:solidFill>
            <a:prstDash val="solid"/>
            <a:tailEnd type="triangle"/>
          </a:ln>
        </p:spPr>
      </p:sp>
      <p:sp>
        <p:nvSpPr>
          <p:cNvPr id="17" name="Text 13"/>
          <p:cNvSpPr/>
          <p:nvPr/>
        </p:nvSpPr>
        <p:spPr>
          <a:xfrm>
            <a:off x="8229600" y="2148840"/>
            <a:ext cx="3410712" cy="1097280"/>
          </a:xfrm>
          <a:prstGeom prst="roundRect">
            <a:avLst>
              <a:gd name="adj" fmla="val 6667"/>
            </a:avLst>
          </a:prstGeom>
          <a:solidFill>
            <a:srgbClr val="E3F2E8"/>
          </a:solidFill>
          <a:ln w="12700">
            <a:solidFill>
              <a:schemeClr val="accent3"/>
            </a:solidFill>
          </a:ln>
        </p:spPr>
        <p:txBody>
          <a:bodyPr wrap="square" lIns="76200" tIns="76200" rIns="76200" bIns="76200" rtlCol="0" anchor="ctr"/>
          <a:lstStyle/>
          <a:p>
            <a:pPr algn="ctr" indent="0" marL="0">
              <a:buNone/>
            </a:pPr>
            <a:endParaRPr lang="en-US" sz="1400" dirty="0"/>
          </a:p>
        </p:txBody>
      </p:sp>
      <p:sp>
        <p:nvSpPr>
          <p:cNvPr id="18" name="Text 14"/>
          <p:cNvSpPr txBox="1"/>
          <p:nvPr/>
        </p:nvSpPr>
        <p:spPr>
          <a:xfrm>
            <a:off x="8412480" y="2148840"/>
            <a:ext cx="3108960" cy="1097280"/>
          </a:xfrm>
          <a:prstGeom prst="rect">
            <a:avLst/>
          </a:prstGeom>
          <a:noFill/>
          <a:ln/>
        </p:spPr>
        <p:txBody>
          <a:bodyPr wrap="square" lIns="0" tIns="0" rIns="0" bIns="0" rtlCol="0" anchor="ct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200  </a:t>
            </a:r>
            <a:pPr indent="0" marL="0">
              <a:buNone/>
            </a:pPr>
            <a:r>
              <a:rPr lang="en-US" sz="1400" dirty="0">
                <a:solidFill>
                  <a:schemeClr val="tx1"/>
                </a:solidFill>
              </a:rPr>
              <a:t>A gewinnt, Eintrag liegt fest</a:t>
            </a:r>
            <a:endParaRPr lang="en-US" sz="1400" dirty="0"/>
          </a:p>
        </p:txBody>
      </p:sp>
      <p:sp>
        <p:nvSpPr>
          <p:cNvPr id="19" name="Text 15"/>
          <p:cNvSpPr/>
          <p:nvPr/>
        </p:nvSpPr>
        <p:spPr>
          <a:xfrm>
            <a:off x="8229600" y="3977640"/>
            <a:ext cx="3410712" cy="1097280"/>
          </a:xfrm>
          <a:prstGeom prst="roundRect">
            <a:avLst>
              <a:gd name="adj" fmla="val 6667"/>
            </a:avLst>
          </a:prstGeom>
          <a:solidFill>
            <a:srgbClr val="FBE9E7"/>
          </a:solidFill>
          <a:ln w="12700">
            <a:solidFill>
              <a:schemeClr val="accent4"/>
            </a:solidFill>
          </a:ln>
        </p:spPr>
        <p:txBody>
          <a:bodyPr wrap="square" lIns="76200" tIns="76200" rIns="76200" bIns="76200" rtlCol="0" anchor="ctr"/>
          <a:lstStyle/>
          <a:p>
            <a:pPr algn="ctr" indent="0" marL="0">
              <a:buNone/>
            </a:pPr>
            <a:endParaRPr lang="en-US" sz="1400" dirty="0"/>
          </a:p>
        </p:txBody>
      </p:sp>
      <p:sp>
        <p:nvSpPr>
          <p:cNvPr id="20" name="Text 16"/>
          <p:cNvSpPr txBox="1"/>
          <p:nvPr/>
        </p:nvSpPr>
        <p:spPr>
          <a:xfrm>
            <a:off x="8412480" y="3977640"/>
            <a:ext cx="3108960" cy="1097280"/>
          </a:xfrm>
          <a:prstGeom prst="rect">
            <a:avLst/>
          </a:prstGeom>
          <a:noFill/>
          <a:ln/>
        </p:spPr>
        <p:txBody>
          <a:bodyPr wrap="square" lIns="0" tIns="0" rIns="0" bIns="0" rtlCol="0" anchor="ctr"/>
          <a:lstStyle/>
          <a:p>
            <a:pPr indent="0" marL="0">
              <a:buNone/>
            </a:pPr>
            <a:r>
              <a:rPr lang="en-US" sz="1400" b="1" dirty="0">
                <a:solidFill>
                  <a:schemeClr val="accent4"/>
                </a:solidFill>
                <a:latin typeface="Courier New" pitchFamily="34" charset="0"/>
                <a:ea typeface="Courier New" pitchFamily="34" charset="-122"/>
                <a:cs typeface="Courier New" pitchFamily="34" charset="-120"/>
              </a:rPr>
              <a:t>409  </a:t>
            </a:r>
            <a:pPr indent="0" marL="0">
              <a:buNone/>
            </a:pPr>
            <a:r>
              <a:rPr lang="en-US" sz="1400" dirty="0">
                <a:solidFill>
                  <a:schemeClr val="tx1"/>
                </a:solidFill>
              </a:rPr>
              <a:t>B verworfen, nichts überschrieben</a:t>
            </a:r>
            <a:endParaRPr lang="en-US" sz="1400" dirty="0"/>
          </a:p>
        </p:txBody>
      </p:sp>
      <p:sp>
        <p:nvSpPr>
          <p:cNvPr id="21" name="Text 17"/>
          <p:cNvSpPr/>
          <p:nvPr/>
        </p:nvSpPr>
        <p:spPr>
          <a:xfrm>
            <a:off x="548640" y="5577840"/>
            <a:ext cx="11094415" cy="566928"/>
          </a:xfrm>
          <a:prstGeom prst="roundRect">
            <a:avLst>
              <a:gd name="adj" fmla="val 129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2" name="Text 18"/>
          <p:cNvSpPr txBox="1"/>
          <p:nvPr/>
        </p:nvSpPr>
        <p:spPr>
          <a:xfrm>
            <a:off x="777240" y="5577840"/>
            <a:ext cx="10637215" cy="566928"/>
          </a:xfrm>
          <a:prstGeom prst="rect">
            <a:avLst/>
          </a:prstGeom>
          <a:noFill/>
          <a:ln/>
        </p:spPr>
        <p:txBody>
          <a:bodyPr wrap="square" lIns="0" tIns="0" rIns="0" bIns="0" rtlCol="0" anchor="ctr"/>
          <a:lstStyle/>
          <a:p>
            <a:pPr indent="0" marL="0">
              <a:buNone/>
            </a:pPr>
            <a:r>
              <a:rPr lang="en-US" sz="1300" b="1" dirty="0">
                <a:solidFill>
                  <a:schemeClr val="tx1"/>
                </a:solidFill>
              </a:rPr>
              <a:t>S3/MinIO: </a:t>
            </a:r>
            <a:pPr indent="0" marL="0">
              <a:buNone/>
            </a:pPr>
            <a:r>
              <a:rPr lang="en-US" sz="1200" dirty="0">
                <a:solidFill>
                  <a:schemeClr val="tx1"/>
                </a:solidFill>
                <a:latin typeface="Courier New" pitchFamily="34" charset="0"/>
                <a:ea typeface="Courier New" pitchFamily="34" charset="-122"/>
                <a:cs typeface="Courier New" pitchFamily="34" charset="-120"/>
              </a:rPr>
              <a:t>PutObject mit If-None-Match: *</a:t>
            </a:r>
            <a:pPr indent="0" marL="0">
              <a:buNone/>
            </a:pPr>
            <a:r>
              <a:rPr lang="en-US" sz="1300" b="1" dirty="0">
                <a:solidFill>
                  <a:schemeClr val="tx1"/>
                </a:solidFill>
              </a:rPr>
              <a:t>     Azure: </a:t>
            </a:r>
            <a:pPr indent="0" marL="0">
              <a:buNone/>
            </a:pPr>
            <a:r>
              <a:rPr lang="en-US" sz="1200" dirty="0">
                <a:solidFill>
                  <a:schemeClr val="tx1"/>
                </a:solidFill>
                <a:latin typeface="Courier New" pitchFamily="34" charset="0"/>
                <a:ea typeface="Courier New" pitchFamily="34" charset="-122"/>
                <a:cs typeface="Courier New" pitchFamily="34" charset="-120"/>
              </a:rPr>
              <a:t>Commit der Block-Liste mit ifNoneMatch: *</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SZENARIEN (E2E-TEST)</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Ein Hash, verschiedene Wege</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So spielt der E2E-Test den Ablauf mit echtem Nx-Client durch</a:t>
            </a:r>
            <a:endParaRPr lang="en-US" sz="1500" dirty="0"/>
          </a:p>
        </p:txBody>
      </p:sp>
      <p:sp>
        <p:nvSpPr>
          <p:cNvPr id="5" name="Text 3"/>
          <p:cNvSpPr/>
          <p:nvPr/>
        </p:nvSpPr>
        <p:spPr>
          <a:xfrm>
            <a:off x="548640" y="1828800"/>
            <a:ext cx="3515258" cy="1783080"/>
          </a:xfrm>
          <a:prstGeom prst="roundRect">
            <a:avLst>
              <a:gd name="adj" fmla="val 41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6" name="Text 4"/>
          <p:cNvSpPr/>
          <p:nvPr/>
        </p:nvSpPr>
        <p:spPr>
          <a:xfrm>
            <a:off x="731520" y="2011680"/>
            <a:ext cx="411480" cy="411480"/>
          </a:xfrm>
          <a:prstGeom prst="roundRect">
            <a:avLst>
              <a:gd name="adj" fmla="val 111111"/>
            </a:avLst>
          </a:prstGeom>
          <a:solidFill>
            <a:schemeClr val="tx1"/>
          </a:solidFill>
          <a:ln w="12700">
            <a:solidFill>
              <a:schemeClr val="tx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pic>
        <p:nvPicPr>
          <p:cNvPr id="7" name="icon-FaLaptopCode" descr="preencoded.png">    </p:cNvPr>
          <p:cNvPicPr>
            <a:picLocks noChangeAspect="1"/>
          </p:cNvPicPr>
          <p:nvPr/>
        </p:nvPicPr>
        <p:blipFill>
          <a:blip r:embed="rId1"/>
          <a:stretch>
            <a:fillRect/>
          </a:stretch>
        </p:blipFill>
        <p:spPr>
          <a:xfrm>
            <a:off x="1280160" y="2048256"/>
            <a:ext cx="347472" cy="347472"/>
          </a:xfrm>
          <a:prstGeom prst="rect">
            <a:avLst/>
          </a:prstGeom>
        </p:spPr>
      </p:pic>
      <p:sp>
        <p:nvSpPr>
          <p:cNvPr id="8" name="Text 5"/>
          <p:cNvSpPr/>
          <p:nvPr/>
        </p:nvSpPr>
        <p:spPr>
          <a:xfrm>
            <a:off x="1737360" y="2048256"/>
            <a:ext cx="1051560" cy="329184"/>
          </a:xfrm>
          <a:prstGeom prst="roundRect">
            <a:avLst>
              <a:gd name="adj" fmla="val 33333"/>
            </a:avLst>
          </a:prstGeom>
          <a:solidFill>
            <a:schemeClr val="bg1"/>
          </a:solidFill>
          <a:ln w="12700">
            <a:solidFill>
              <a:schemeClr val="bg1"/>
            </a:solidFill>
          </a:ln>
        </p:spPr>
        <p:txBody>
          <a:bodyPr wrap="square" lIns="25400" tIns="25400" rIns="25400" bIns="25400" rtlCol="0" anchor="ctr"/>
          <a:lstStyle/>
          <a:p>
            <a:pPr algn="ctr" indent="0" marL="0">
              <a:buNone/>
            </a:pPr>
            <a:r>
              <a:rPr lang="en-US" sz="1100" b="1" dirty="0">
                <a:solidFill>
                  <a:schemeClr val="tx2"/>
                </a:solidFill>
                <a:latin typeface="Courier New" pitchFamily="34" charset="0"/>
                <a:ea typeface="Courier New" pitchFamily="34" charset="-122"/>
                <a:cs typeface="Courier New" pitchFamily="34" charset="-120"/>
              </a:rPr>
              <a:t>dev</a:t>
            </a:r>
            <a:endParaRPr lang="en-US" sz="1100" dirty="0"/>
          </a:p>
        </p:txBody>
      </p:sp>
      <p:sp>
        <p:nvSpPr>
          <p:cNvPr id="9" name="Text 6"/>
          <p:cNvSpPr/>
          <p:nvPr/>
        </p:nvSpPr>
        <p:spPr>
          <a:xfrm>
            <a:off x="2875178" y="2057400"/>
            <a:ext cx="1005840" cy="292608"/>
          </a:xfrm>
          <a:prstGeom prst="roundRect">
            <a:avLst>
              <a:gd name="adj" fmla="val 156250"/>
            </a:avLst>
          </a:prstGeom>
          <a:solidFill>
            <a:schemeClr val="accent2"/>
          </a:solidFill>
          <a:ln w="12700">
            <a:solidFill>
              <a:schemeClr val="accent2"/>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dev/</a:t>
            </a:r>
            <a:endParaRPr lang="en-US" sz="1100" dirty="0"/>
          </a:p>
        </p:txBody>
      </p:sp>
      <p:sp>
        <p:nvSpPr>
          <p:cNvPr id="10" name="Text 7"/>
          <p:cNvSpPr txBox="1"/>
          <p:nvPr/>
        </p:nvSpPr>
        <p:spPr>
          <a:xfrm>
            <a:off x="731520" y="2606040"/>
            <a:ext cx="3149498" cy="1051560"/>
          </a:xfrm>
          <a:prstGeom prst="rect">
            <a:avLst/>
          </a:prstGeom>
          <a:noFill/>
          <a:ln/>
        </p:spPr>
        <p:txBody>
          <a:bodyPr wrap="square" lIns="0" tIns="0" rIns="0" bIns="0" rtlCol="0" anchor="t"/>
          <a:lstStyle/>
          <a:p>
            <a:pPr indent="0" marL="0">
              <a:buNone/>
            </a:pPr>
            <a:r>
              <a:rPr lang="en-US" sz="1500" b="1" dirty="0">
                <a:solidFill>
                  <a:schemeClr val="tx1"/>
                </a:solidFill>
              </a:rPr>
              <a:t>Anna baut</a:t>
            </a:r>
            <a:endParaRPr lang="en-US" sz="1400" dirty="0"/>
          </a:p>
          <a:p>
            <a:pPr indent="0" marL="0">
              <a:buNone/>
            </a:pPr>
            <a:r>
              <a:rPr lang="en-US" sz="1300" dirty="0">
                <a:solidFill>
                  <a:schemeClr val="tx2"/>
                </a:solidFill>
              </a:rPr>
              <a:t>Miss → baut → Upload dev/</a:t>
            </a:r>
            <a:endParaRPr lang="en-US" sz="1400" dirty="0"/>
          </a:p>
        </p:txBody>
      </p:sp>
      <p:sp>
        <p:nvSpPr>
          <p:cNvPr id="11" name="Text 8"/>
          <p:cNvSpPr/>
          <p:nvPr/>
        </p:nvSpPr>
        <p:spPr>
          <a:xfrm>
            <a:off x="4338218" y="1828800"/>
            <a:ext cx="3515258" cy="1783080"/>
          </a:xfrm>
          <a:prstGeom prst="roundRect">
            <a:avLst>
              <a:gd name="adj" fmla="val 41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2" name="Text 9"/>
          <p:cNvSpPr/>
          <p:nvPr/>
        </p:nvSpPr>
        <p:spPr>
          <a:xfrm>
            <a:off x="4521098" y="2011680"/>
            <a:ext cx="411480" cy="411480"/>
          </a:xfrm>
          <a:prstGeom prst="roundRect">
            <a:avLst>
              <a:gd name="adj" fmla="val 111111"/>
            </a:avLst>
          </a:prstGeom>
          <a:solidFill>
            <a:schemeClr val="tx1"/>
          </a:solidFill>
          <a:ln w="12700">
            <a:solidFill>
              <a:schemeClr val="tx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pic>
        <p:nvPicPr>
          <p:cNvPr id="13" name="icon-FaLaptopCode" descr="preencoded.png">    </p:cNvPr>
          <p:cNvPicPr>
            <a:picLocks noChangeAspect="1"/>
          </p:cNvPicPr>
          <p:nvPr/>
        </p:nvPicPr>
        <p:blipFill>
          <a:blip r:embed="rId2"/>
          <a:stretch>
            <a:fillRect/>
          </a:stretch>
        </p:blipFill>
        <p:spPr>
          <a:xfrm>
            <a:off x="5069738" y="2048256"/>
            <a:ext cx="347472" cy="347472"/>
          </a:xfrm>
          <a:prstGeom prst="rect">
            <a:avLst/>
          </a:prstGeom>
        </p:spPr>
      </p:pic>
      <p:sp>
        <p:nvSpPr>
          <p:cNvPr id="14" name="Text 10"/>
          <p:cNvSpPr/>
          <p:nvPr/>
        </p:nvSpPr>
        <p:spPr>
          <a:xfrm>
            <a:off x="5526938" y="2048256"/>
            <a:ext cx="1051560" cy="329184"/>
          </a:xfrm>
          <a:prstGeom prst="roundRect">
            <a:avLst>
              <a:gd name="adj" fmla="val 33333"/>
            </a:avLst>
          </a:prstGeom>
          <a:solidFill>
            <a:schemeClr val="bg1"/>
          </a:solidFill>
          <a:ln w="12700">
            <a:solidFill>
              <a:schemeClr val="bg1"/>
            </a:solidFill>
          </a:ln>
        </p:spPr>
        <p:txBody>
          <a:bodyPr wrap="square" lIns="25400" tIns="25400" rIns="25400" bIns="25400" rtlCol="0" anchor="ctr"/>
          <a:lstStyle/>
          <a:p>
            <a:pPr algn="ctr" indent="0" marL="0">
              <a:buNone/>
            </a:pPr>
            <a:r>
              <a:rPr lang="en-US" sz="1100" b="1" dirty="0">
                <a:solidFill>
                  <a:schemeClr val="tx2"/>
                </a:solidFill>
                <a:latin typeface="Courier New" pitchFamily="34" charset="0"/>
                <a:ea typeface="Courier New" pitchFamily="34" charset="-122"/>
                <a:cs typeface="Courier New" pitchFamily="34" charset="-120"/>
              </a:rPr>
              <a:t>dev</a:t>
            </a:r>
            <a:endParaRPr lang="en-US" sz="1100" dirty="0"/>
          </a:p>
        </p:txBody>
      </p:sp>
      <p:sp>
        <p:nvSpPr>
          <p:cNvPr id="15" name="Text 11"/>
          <p:cNvSpPr/>
          <p:nvPr/>
        </p:nvSpPr>
        <p:spPr>
          <a:xfrm>
            <a:off x="6664757" y="2057400"/>
            <a:ext cx="1005840" cy="292608"/>
          </a:xfrm>
          <a:prstGeom prst="roundRect">
            <a:avLst>
              <a:gd name="adj" fmla="val 156250"/>
            </a:avLst>
          </a:prstGeom>
          <a:solidFill>
            <a:schemeClr val="accent3"/>
          </a:solidFill>
          <a:ln w="12700">
            <a:solidFill>
              <a:schemeClr val="accent3"/>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Treffer</a:t>
            </a:r>
            <a:endParaRPr lang="en-US" sz="1100" dirty="0"/>
          </a:p>
        </p:txBody>
      </p:sp>
      <p:sp>
        <p:nvSpPr>
          <p:cNvPr id="16" name="Text 12"/>
          <p:cNvSpPr txBox="1"/>
          <p:nvPr/>
        </p:nvSpPr>
        <p:spPr>
          <a:xfrm>
            <a:off x="4521098" y="2606040"/>
            <a:ext cx="3149498" cy="1051560"/>
          </a:xfrm>
          <a:prstGeom prst="rect">
            <a:avLst/>
          </a:prstGeom>
          <a:noFill/>
          <a:ln/>
        </p:spPr>
        <p:txBody>
          <a:bodyPr wrap="square" lIns="0" tIns="0" rIns="0" bIns="0" rtlCol="0" anchor="t"/>
          <a:lstStyle/>
          <a:p>
            <a:pPr indent="0" marL="0">
              <a:buNone/>
            </a:pPr>
            <a:r>
              <a:rPr lang="en-US" sz="1500" b="1" dirty="0">
                <a:solidFill>
                  <a:schemeClr val="tx1"/>
                </a:solidFill>
              </a:rPr>
              <a:t>Ben baut</a:t>
            </a:r>
            <a:endParaRPr lang="en-US" sz="1400" dirty="0"/>
          </a:p>
          <a:p>
            <a:pPr indent="0" marL="0">
              <a:buNone/>
            </a:pPr>
            <a:r>
              <a:rPr lang="en-US" sz="1300" dirty="0">
                <a:solidFill>
                  <a:schemeClr val="tx2"/>
                </a:solidFill>
              </a:rPr>
              <a:t>Treffer aus dev/</a:t>
            </a:r>
            <a:endParaRPr lang="en-US" sz="1400" dirty="0"/>
          </a:p>
        </p:txBody>
      </p:sp>
      <p:sp>
        <p:nvSpPr>
          <p:cNvPr id="17" name="Text 13"/>
          <p:cNvSpPr/>
          <p:nvPr/>
        </p:nvSpPr>
        <p:spPr>
          <a:xfrm>
            <a:off x="8127797" y="1828800"/>
            <a:ext cx="3515258" cy="1783080"/>
          </a:xfrm>
          <a:prstGeom prst="roundRect">
            <a:avLst>
              <a:gd name="adj" fmla="val 41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8" name="Text 14"/>
          <p:cNvSpPr/>
          <p:nvPr/>
        </p:nvSpPr>
        <p:spPr>
          <a:xfrm>
            <a:off x="8310677" y="2011680"/>
            <a:ext cx="411480" cy="411480"/>
          </a:xfrm>
          <a:prstGeom prst="roundRect">
            <a:avLst>
              <a:gd name="adj" fmla="val 111111"/>
            </a:avLst>
          </a:prstGeom>
          <a:solidFill>
            <a:schemeClr val="tx1"/>
          </a:solidFill>
          <a:ln w="12700">
            <a:solidFill>
              <a:schemeClr val="tx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pic>
        <p:nvPicPr>
          <p:cNvPr id="19" name="icon-FaServer" descr="preencoded.png">    </p:cNvPr>
          <p:cNvPicPr>
            <a:picLocks noChangeAspect="1"/>
          </p:cNvPicPr>
          <p:nvPr/>
        </p:nvPicPr>
        <p:blipFill>
          <a:blip r:embed="rId3"/>
          <a:stretch>
            <a:fillRect/>
          </a:stretch>
        </p:blipFill>
        <p:spPr>
          <a:xfrm>
            <a:off x="8859317" y="2048256"/>
            <a:ext cx="347472" cy="347472"/>
          </a:xfrm>
          <a:prstGeom prst="rect">
            <a:avLst/>
          </a:prstGeom>
        </p:spPr>
      </p:pic>
      <p:sp>
        <p:nvSpPr>
          <p:cNvPr id="20" name="Text 15"/>
          <p:cNvSpPr/>
          <p:nvPr/>
        </p:nvSpPr>
        <p:spPr>
          <a:xfrm>
            <a:off x="9316517" y="2048256"/>
            <a:ext cx="1051560" cy="329184"/>
          </a:xfrm>
          <a:prstGeom prst="roundRect">
            <a:avLst>
              <a:gd name="adj" fmla="val 33333"/>
            </a:avLst>
          </a:prstGeom>
          <a:solidFill>
            <a:schemeClr val="bg1"/>
          </a:solidFill>
          <a:ln w="12700">
            <a:solidFill>
              <a:schemeClr val="bg1"/>
            </a:solidFill>
          </a:ln>
        </p:spPr>
        <p:txBody>
          <a:bodyPr wrap="square" lIns="25400" tIns="25400" rIns="25400" bIns="25400" rtlCol="0" anchor="ctr"/>
          <a:lstStyle/>
          <a:p>
            <a:pPr algn="ctr" indent="0" marL="0">
              <a:buNone/>
            </a:pPr>
            <a:r>
              <a:rPr lang="en-US" sz="1100" b="1" dirty="0">
                <a:solidFill>
                  <a:schemeClr val="tx2"/>
                </a:solidFill>
                <a:latin typeface="Courier New" pitchFamily="34" charset="0"/>
                <a:ea typeface="Courier New" pitchFamily="34" charset="-122"/>
                <a:cs typeface="Courier New" pitchFamily="34" charset="-120"/>
              </a:rPr>
              <a:t>ci</a:t>
            </a:r>
            <a:endParaRPr lang="en-US" sz="1100" dirty="0"/>
          </a:p>
        </p:txBody>
      </p:sp>
      <p:sp>
        <p:nvSpPr>
          <p:cNvPr id="21" name="Text 16"/>
          <p:cNvSpPr/>
          <p:nvPr/>
        </p:nvSpPr>
        <p:spPr>
          <a:xfrm>
            <a:off x="10454335" y="2057400"/>
            <a:ext cx="1005840" cy="292608"/>
          </a:xfrm>
          <a:prstGeom prst="roundRect">
            <a:avLst>
              <a:gd name="adj" fmla="val 156250"/>
            </a:avLst>
          </a:prstGeom>
          <a:solidFill>
            <a:schemeClr val="accent1"/>
          </a:solidFill>
          <a:ln w="12700">
            <a:solidFill>
              <a:schemeClr val="accent1"/>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trusted/</a:t>
            </a:r>
            <a:endParaRPr lang="en-US" sz="1100" dirty="0"/>
          </a:p>
        </p:txBody>
      </p:sp>
      <p:sp>
        <p:nvSpPr>
          <p:cNvPr id="22" name="Text 17"/>
          <p:cNvSpPr txBox="1"/>
          <p:nvPr/>
        </p:nvSpPr>
        <p:spPr>
          <a:xfrm>
            <a:off x="8310677" y="2606040"/>
            <a:ext cx="3149498" cy="1051560"/>
          </a:xfrm>
          <a:prstGeom prst="rect">
            <a:avLst/>
          </a:prstGeom>
          <a:noFill/>
          <a:ln/>
        </p:spPr>
        <p:txBody>
          <a:bodyPr wrap="square" lIns="0" tIns="0" rIns="0" bIns="0" rtlCol="0" anchor="t"/>
          <a:lstStyle/>
          <a:p>
            <a:pPr indent="0" marL="0">
              <a:buNone/>
            </a:pPr>
            <a:r>
              <a:rPr lang="en-US" sz="1500" b="1" dirty="0">
                <a:solidFill>
                  <a:schemeClr val="tx1"/>
                </a:solidFill>
              </a:rPr>
              <a:t>CI auf main</a:t>
            </a:r>
            <a:endParaRPr lang="en-US" sz="1400" dirty="0"/>
          </a:p>
          <a:p>
            <a:pPr indent="0" marL="0">
              <a:buNone/>
            </a:pPr>
            <a:r>
              <a:rPr lang="en-US" sz="1300" dirty="0">
                <a:solidFill>
                  <a:schemeClr val="tx2"/>
                </a:solidFill>
              </a:rPr>
              <a:t>Miss (liest dev/ nicht) → baut → Upload trusted/</a:t>
            </a:r>
            <a:endParaRPr lang="en-US" sz="1400" dirty="0"/>
          </a:p>
        </p:txBody>
      </p:sp>
      <p:sp>
        <p:nvSpPr>
          <p:cNvPr id="23" name="Text 18"/>
          <p:cNvSpPr/>
          <p:nvPr/>
        </p:nvSpPr>
        <p:spPr>
          <a:xfrm>
            <a:off x="548640" y="3886200"/>
            <a:ext cx="3515258" cy="1783080"/>
          </a:xfrm>
          <a:prstGeom prst="roundRect">
            <a:avLst>
              <a:gd name="adj" fmla="val 41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4" name="Text 19"/>
          <p:cNvSpPr/>
          <p:nvPr/>
        </p:nvSpPr>
        <p:spPr>
          <a:xfrm>
            <a:off x="731520" y="4069080"/>
            <a:ext cx="411480" cy="411480"/>
          </a:xfrm>
          <a:prstGeom prst="roundRect">
            <a:avLst>
              <a:gd name="adj" fmla="val 111111"/>
            </a:avLst>
          </a:prstGeom>
          <a:solidFill>
            <a:schemeClr val="tx1"/>
          </a:solidFill>
          <a:ln w="12700">
            <a:solidFill>
              <a:schemeClr val="tx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pic>
        <p:nvPicPr>
          <p:cNvPr id="25" name="icon-FaCodeBranch" descr="preencoded.png">    </p:cNvPr>
          <p:cNvPicPr>
            <a:picLocks noChangeAspect="1"/>
          </p:cNvPicPr>
          <p:nvPr/>
        </p:nvPicPr>
        <p:blipFill>
          <a:blip r:embed="rId4"/>
          <a:stretch>
            <a:fillRect/>
          </a:stretch>
        </p:blipFill>
        <p:spPr>
          <a:xfrm>
            <a:off x="1280160" y="4105656"/>
            <a:ext cx="347472" cy="347472"/>
          </a:xfrm>
          <a:prstGeom prst="rect">
            <a:avLst/>
          </a:prstGeom>
        </p:spPr>
      </p:pic>
      <p:sp>
        <p:nvSpPr>
          <p:cNvPr id="26" name="Text 20"/>
          <p:cNvSpPr/>
          <p:nvPr/>
        </p:nvSpPr>
        <p:spPr>
          <a:xfrm>
            <a:off x="1737360" y="4105656"/>
            <a:ext cx="1051560" cy="329184"/>
          </a:xfrm>
          <a:prstGeom prst="roundRect">
            <a:avLst>
              <a:gd name="adj" fmla="val 33333"/>
            </a:avLst>
          </a:prstGeom>
          <a:solidFill>
            <a:schemeClr val="bg1"/>
          </a:solidFill>
          <a:ln w="12700">
            <a:solidFill>
              <a:schemeClr val="bg1"/>
            </a:solidFill>
          </a:ln>
        </p:spPr>
        <p:txBody>
          <a:bodyPr wrap="square" lIns="25400" tIns="25400" rIns="25400" bIns="25400" rtlCol="0" anchor="ctr"/>
          <a:lstStyle/>
          <a:p>
            <a:pPr algn="ctr" indent="0" marL="0">
              <a:buNone/>
            </a:pPr>
            <a:r>
              <a:rPr lang="en-US" sz="1100" b="1" dirty="0">
                <a:solidFill>
                  <a:schemeClr val="tx2"/>
                </a:solidFill>
                <a:latin typeface="Courier New" pitchFamily="34" charset="0"/>
                <a:ea typeface="Courier New" pitchFamily="34" charset="-122"/>
                <a:cs typeface="Courier New" pitchFamily="34" charset="-120"/>
              </a:rPr>
              <a:t>read-only</a:t>
            </a:r>
            <a:endParaRPr lang="en-US" sz="1100" dirty="0"/>
          </a:p>
        </p:txBody>
      </p:sp>
      <p:sp>
        <p:nvSpPr>
          <p:cNvPr id="27" name="Text 21"/>
          <p:cNvSpPr/>
          <p:nvPr/>
        </p:nvSpPr>
        <p:spPr>
          <a:xfrm>
            <a:off x="2875178" y="4114800"/>
            <a:ext cx="1005840" cy="292608"/>
          </a:xfrm>
          <a:prstGeom prst="roundRect">
            <a:avLst>
              <a:gd name="adj" fmla="val 156250"/>
            </a:avLst>
          </a:prstGeom>
          <a:solidFill>
            <a:schemeClr val="accent3"/>
          </a:solidFill>
          <a:ln w="12700">
            <a:solidFill>
              <a:schemeClr val="accent3"/>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Treffer</a:t>
            </a:r>
            <a:endParaRPr lang="en-US" sz="1100" dirty="0"/>
          </a:p>
        </p:txBody>
      </p:sp>
      <p:sp>
        <p:nvSpPr>
          <p:cNvPr id="28" name="Text 22"/>
          <p:cNvSpPr txBox="1"/>
          <p:nvPr/>
        </p:nvSpPr>
        <p:spPr>
          <a:xfrm>
            <a:off x="731520" y="4663440"/>
            <a:ext cx="3149498" cy="1051560"/>
          </a:xfrm>
          <a:prstGeom prst="rect">
            <a:avLst/>
          </a:prstGeom>
          <a:noFill/>
          <a:ln/>
        </p:spPr>
        <p:txBody>
          <a:bodyPr wrap="square" lIns="0" tIns="0" rIns="0" bIns="0" rtlCol="0" anchor="t"/>
          <a:lstStyle/>
          <a:p>
            <a:pPr indent="0" marL="0">
              <a:buNone/>
            </a:pPr>
            <a:r>
              <a:rPr lang="en-US" sz="1500" b="1" dirty="0">
                <a:solidFill>
                  <a:schemeClr val="tx1"/>
                </a:solidFill>
              </a:rPr>
              <a:t>PR-Pipeline</a:t>
            </a:r>
            <a:endParaRPr lang="en-US" sz="1400" dirty="0"/>
          </a:p>
          <a:p>
            <a:pPr indent="0" marL="0">
              <a:buNone/>
            </a:pPr>
            <a:r>
              <a:rPr lang="en-US" sz="1300" dirty="0">
                <a:solidFill>
                  <a:schemeClr val="tx2"/>
                </a:solidFill>
              </a:rPr>
              <a:t>Treffer aus trusted/, Outputs wiederhergestellt</a:t>
            </a:r>
            <a:endParaRPr lang="en-US" sz="1400" dirty="0"/>
          </a:p>
        </p:txBody>
      </p:sp>
      <p:sp>
        <p:nvSpPr>
          <p:cNvPr id="29" name="Text 23"/>
          <p:cNvSpPr/>
          <p:nvPr/>
        </p:nvSpPr>
        <p:spPr>
          <a:xfrm>
            <a:off x="4338218" y="3886200"/>
            <a:ext cx="3515258" cy="1783080"/>
          </a:xfrm>
          <a:prstGeom prst="roundRect">
            <a:avLst>
              <a:gd name="adj" fmla="val 41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30" name="Text 24"/>
          <p:cNvSpPr/>
          <p:nvPr/>
        </p:nvSpPr>
        <p:spPr>
          <a:xfrm>
            <a:off x="4521098" y="4069080"/>
            <a:ext cx="411480" cy="411480"/>
          </a:xfrm>
          <a:prstGeom prst="roundRect">
            <a:avLst>
              <a:gd name="adj" fmla="val 111111"/>
            </a:avLst>
          </a:prstGeom>
          <a:solidFill>
            <a:schemeClr val="tx1"/>
          </a:solidFill>
          <a:ln w="12700">
            <a:solidFill>
              <a:schemeClr val="tx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pic>
        <p:nvPicPr>
          <p:cNvPr id="31" name="icon-FaCodeBranch" descr="preencoded.png">    </p:cNvPr>
          <p:cNvPicPr>
            <a:picLocks noChangeAspect="1"/>
          </p:cNvPicPr>
          <p:nvPr/>
        </p:nvPicPr>
        <p:blipFill>
          <a:blip r:embed="rId5"/>
          <a:stretch>
            <a:fillRect/>
          </a:stretch>
        </p:blipFill>
        <p:spPr>
          <a:xfrm>
            <a:off x="5069738" y="4105656"/>
            <a:ext cx="347472" cy="347472"/>
          </a:xfrm>
          <a:prstGeom prst="rect">
            <a:avLst/>
          </a:prstGeom>
        </p:spPr>
      </p:pic>
      <p:sp>
        <p:nvSpPr>
          <p:cNvPr id="32" name="Text 25"/>
          <p:cNvSpPr/>
          <p:nvPr/>
        </p:nvSpPr>
        <p:spPr>
          <a:xfrm>
            <a:off x="5526938" y="4105656"/>
            <a:ext cx="1051560" cy="329184"/>
          </a:xfrm>
          <a:prstGeom prst="roundRect">
            <a:avLst>
              <a:gd name="adj" fmla="val 33333"/>
            </a:avLst>
          </a:prstGeom>
          <a:solidFill>
            <a:schemeClr val="bg1"/>
          </a:solidFill>
          <a:ln w="12700">
            <a:solidFill>
              <a:schemeClr val="bg1"/>
            </a:solidFill>
          </a:ln>
        </p:spPr>
        <p:txBody>
          <a:bodyPr wrap="square" lIns="25400" tIns="25400" rIns="25400" bIns="25400" rtlCol="0" anchor="ctr"/>
          <a:lstStyle/>
          <a:p>
            <a:pPr algn="ctr" indent="0" marL="0">
              <a:buNone/>
            </a:pPr>
            <a:r>
              <a:rPr lang="en-US" sz="1100" b="1" dirty="0">
                <a:solidFill>
                  <a:schemeClr val="tx2"/>
                </a:solidFill>
                <a:latin typeface="Courier New" pitchFamily="34" charset="0"/>
                <a:ea typeface="Courier New" pitchFamily="34" charset="-122"/>
                <a:cs typeface="Courier New" pitchFamily="34" charset="-120"/>
              </a:rPr>
              <a:t>read-only</a:t>
            </a:r>
            <a:endParaRPr lang="en-US" sz="1100" dirty="0"/>
          </a:p>
        </p:txBody>
      </p:sp>
      <p:sp>
        <p:nvSpPr>
          <p:cNvPr id="33" name="Text 26"/>
          <p:cNvSpPr/>
          <p:nvPr/>
        </p:nvSpPr>
        <p:spPr>
          <a:xfrm>
            <a:off x="6664757" y="4114800"/>
            <a:ext cx="1005840"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403</a:t>
            </a:r>
            <a:endParaRPr lang="en-US" sz="1100" dirty="0"/>
          </a:p>
        </p:txBody>
      </p:sp>
      <p:sp>
        <p:nvSpPr>
          <p:cNvPr id="34" name="Text 27"/>
          <p:cNvSpPr txBox="1"/>
          <p:nvPr/>
        </p:nvSpPr>
        <p:spPr>
          <a:xfrm>
            <a:off x="4521098" y="4663440"/>
            <a:ext cx="3149498" cy="1051560"/>
          </a:xfrm>
          <a:prstGeom prst="rect">
            <a:avLst/>
          </a:prstGeom>
          <a:noFill/>
          <a:ln/>
        </p:spPr>
        <p:txBody>
          <a:bodyPr wrap="square" lIns="0" tIns="0" rIns="0" bIns="0" rtlCol="0" anchor="t"/>
          <a:lstStyle/>
          <a:p>
            <a:pPr indent="0" marL="0">
              <a:buNone/>
            </a:pPr>
            <a:r>
              <a:rPr lang="en-US" sz="1500" b="1" dirty="0">
                <a:solidFill>
                  <a:schemeClr val="tx1"/>
                </a:solidFill>
              </a:rPr>
              <a:t>PR mit Änderung</a:t>
            </a:r>
            <a:endParaRPr lang="en-US" sz="1400" dirty="0"/>
          </a:p>
          <a:p>
            <a:pPr indent="0" marL="0">
              <a:buNone/>
            </a:pPr>
            <a:r>
              <a:rPr lang="en-US" sz="1300" dirty="0">
                <a:solidFill>
                  <a:schemeClr val="tx2"/>
                </a:solidFill>
              </a:rPr>
              <a:t>Miss → baut, Upload abgelehnt</a:t>
            </a:r>
            <a:endParaRPr lang="en-US" sz="1400" dirty="0"/>
          </a:p>
        </p:txBody>
      </p:sp>
      <p:sp>
        <p:nvSpPr>
          <p:cNvPr id="35" name="Text 28"/>
          <p:cNvSpPr/>
          <p:nvPr/>
        </p:nvSpPr>
        <p:spPr>
          <a:xfrm>
            <a:off x="8127797" y="3886200"/>
            <a:ext cx="3515258" cy="1783080"/>
          </a:xfrm>
          <a:prstGeom prst="roundRect">
            <a:avLst>
              <a:gd name="adj" fmla="val 410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36" name="Text 29"/>
          <p:cNvSpPr/>
          <p:nvPr/>
        </p:nvSpPr>
        <p:spPr>
          <a:xfrm>
            <a:off x="8310677" y="4069080"/>
            <a:ext cx="411480" cy="411480"/>
          </a:xfrm>
          <a:prstGeom prst="roundRect">
            <a:avLst>
              <a:gd name="adj" fmla="val 111111"/>
            </a:avLst>
          </a:prstGeom>
          <a:solidFill>
            <a:schemeClr val="tx1"/>
          </a:solidFill>
          <a:ln w="12700">
            <a:solidFill>
              <a:schemeClr val="tx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pic>
        <p:nvPicPr>
          <p:cNvPr id="37" name="icon-FaUserSecret" descr="preencoded.png">    </p:cNvPr>
          <p:cNvPicPr>
            <a:picLocks noChangeAspect="1"/>
          </p:cNvPicPr>
          <p:nvPr/>
        </p:nvPicPr>
        <p:blipFill>
          <a:blip r:embed="rId6"/>
          <a:stretch>
            <a:fillRect/>
          </a:stretch>
        </p:blipFill>
        <p:spPr>
          <a:xfrm>
            <a:off x="8859317" y="4105656"/>
            <a:ext cx="347472" cy="347472"/>
          </a:xfrm>
          <a:prstGeom prst="rect">
            <a:avLst/>
          </a:prstGeom>
        </p:spPr>
      </p:pic>
      <p:sp>
        <p:nvSpPr>
          <p:cNvPr id="38" name="Text 30"/>
          <p:cNvSpPr/>
          <p:nvPr/>
        </p:nvSpPr>
        <p:spPr>
          <a:xfrm>
            <a:off x="9316517" y="4105656"/>
            <a:ext cx="1051560" cy="329184"/>
          </a:xfrm>
          <a:prstGeom prst="roundRect">
            <a:avLst>
              <a:gd name="adj" fmla="val 33333"/>
            </a:avLst>
          </a:prstGeom>
          <a:solidFill>
            <a:schemeClr val="bg1"/>
          </a:solidFill>
          <a:ln w="12700">
            <a:solidFill>
              <a:schemeClr val="bg1"/>
            </a:solidFill>
          </a:ln>
        </p:spPr>
        <p:txBody>
          <a:bodyPr wrap="square" lIns="25400" tIns="25400" rIns="25400" bIns="25400" rtlCol="0" anchor="ctr"/>
          <a:lstStyle/>
          <a:p>
            <a:pPr algn="ctr" indent="0" marL="0">
              <a:buNone/>
            </a:pPr>
            <a:r>
              <a:rPr lang="en-US" sz="1100" b="1" dirty="0">
                <a:solidFill>
                  <a:schemeClr val="tx2"/>
                </a:solidFill>
                <a:latin typeface="Courier New" pitchFamily="34" charset="0"/>
                <a:ea typeface="Courier New" pitchFamily="34" charset="-122"/>
                <a:cs typeface="Courier New" pitchFamily="34" charset="-120"/>
              </a:rPr>
              <a:t>falsch</a:t>
            </a:r>
            <a:endParaRPr lang="en-US" sz="1100" dirty="0"/>
          </a:p>
        </p:txBody>
      </p:sp>
      <p:sp>
        <p:nvSpPr>
          <p:cNvPr id="39" name="Text 31"/>
          <p:cNvSpPr/>
          <p:nvPr/>
        </p:nvSpPr>
        <p:spPr>
          <a:xfrm>
            <a:off x="10454335" y="4114800"/>
            <a:ext cx="1005840" cy="292608"/>
          </a:xfrm>
          <a:prstGeom prst="roundRect">
            <a:avLst>
              <a:gd name="adj" fmla="val 15625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401</a:t>
            </a:r>
            <a:endParaRPr lang="en-US" sz="1100" dirty="0"/>
          </a:p>
        </p:txBody>
      </p:sp>
      <p:sp>
        <p:nvSpPr>
          <p:cNvPr id="40" name="Text 32"/>
          <p:cNvSpPr txBox="1"/>
          <p:nvPr/>
        </p:nvSpPr>
        <p:spPr>
          <a:xfrm>
            <a:off x="8310677" y="4663440"/>
            <a:ext cx="3149498" cy="1051560"/>
          </a:xfrm>
          <a:prstGeom prst="rect">
            <a:avLst/>
          </a:prstGeom>
          <a:noFill/>
          <a:ln/>
        </p:spPr>
        <p:txBody>
          <a:bodyPr wrap="square" lIns="0" tIns="0" rIns="0" bIns="0" rtlCol="0" anchor="t"/>
          <a:lstStyle/>
          <a:p>
            <a:pPr indent="0" marL="0">
              <a:buNone/>
            </a:pPr>
            <a:r>
              <a:rPr lang="en-US" sz="1500" b="1" dirty="0">
                <a:solidFill>
                  <a:schemeClr val="tx1"/>
                </a:solidFill>
              </a:rPr>
              <a:t>Falscher Token</a:t>
            </a:r>
            <a:endParaRPr lang="en-US" sz="1400" dirty="0"/>
          </a:p>
          <a:p>
            <a:pPr indent="0" marL="0">
              <a:buNone/>
            </a:pPr>
            <a:r>
              <a:rPr lang="en-US" sz="1300" dirty="0">
                <a:solidFill>
                  <a:schemeClr val="tx2"/>
                </a:solidFill>
              </a:rPr>
              <a:t>Nx meldet Unauthorized, baut lokal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RETENTION</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Der Speicher räumt auf, nicht der Server</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Ablauf per Lifecycle-Regel pro Namespace-Präfix</a:t>
            </a:r>
            <a:endParaRPr lang="en-US" sz="1500" dirty="0"/>
          </a:p>
        </p:txBody>
      </p:sp>
      <p:sp>
        <p:nvSpPr>
          <p:cNvPr id="5" name="Text 3"/>
          <p:cNvSpPr/>
          <p:nvPr/>
        </p:nvSpPr>
        <p:spPr>
          <a:xfrm>
            <a:off x="548640" y="1874520"/>
            <a:ext cx="2423160" cy="1920240"/>
          </a:xfrm>
          <a:prstGeom prst="roundRect">
            <a:avLst>
              <a:gd name="adj" fmla="val 3810"/>
            </a:avLst>
          </a:prstGeom>
          <a:solidFill>
            <a:schemeClr val="accent5"/>
          </a:solidFill>
          <a:ln w="12700">
            <a:solidFill>
              <a:schemeClr val="accent5"/>
            </a:solidFill>
          </a:ln>
        </p:spPr>
        <p:txBody>
          <a:bodyPr wrap="square" lIns="76200" tIns="76200" rIns="76200" bIns="76200" rtlCol="0" anchor="ctr"/>
          <a:lstStyle/>
          <a:p>
            <a:pPr algn="ctr" indent="0" marL="0">
              <a:buNone/>
            </a:pPr>
            <a:endParaRPr lang="en-US" sz="1400" dirty="0"/>
          </a:p>
        </p:txBody>
      </p:sp>
      <p:sp>
        <p:nvSpPr>
          <p:cNvPr id="6" name="Text 4"/>
          <p:cNvSpPr txBox="1"/>
          <p:nvPr/>
        </p:nvSpPr>
        <p:spPr>
          <a:xfrm>
            <a:off x="777240" y="1965960"/>
            <a:ext cx="2011680" cy="1097280"/>
          </a:xfrm>
          <a:prstGeom prst="rect">
            <a:avLst/>
          </a:prstGeom>
          <a:noFill/>
          <a:ln/>
        </p:spPr>
        <p:txBody>
          <a:bodyPr wrap="square" lIns="0" tIns="0" rIns="0" bIns="0" rtlCol="0" anchor="ctr"/>
          <a:lstStyle/>
          <a:p>
            <a:pPr indent="0" marL="0">
              <a:buNone/>
            </a:pPr>
            <a:r>
              <a:rPr lang="en-US" sz="6000" b="1" dirty="0">
                <a:solidFill>
                  <a:schemeClr val="accent1"/>
                </a:solidFill>
              </a:rPr>
              <a:t>14</a:t>
            </a:r>
            <a:pPr indent="0" marL="0">
              <a:buNone/>
            </a:pPr>
            <a:r>
              <a:rPr lang="en-US" sz="1800" b="1" dirty="0">
                <a:solidFill>
                  <a:schemeClr val="accent1"/>
                </a:solidFill>
              </a:rPr>
              <a:t> Tage</a:t>
            </a:r>
            <a:endParaRPr lang="en-US" sz="1400" dirty="0"/>
          </a:p>
        </p:txBody>
      </p:sp>
      <p:sp>
        <p:nvSpPr>
          <p:cNvPr id="7" name="Text 5"/>
          <p:cNvSpPr txBox="1"/>
          <p:nvPr/>
        </p:nvSpPr>
        <p:spPr>
          <a:xfrm>
            <a:off x="777240" y="3154680"/>
            <a:ext cx="201168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trusted/</a:t>
            </a:r>
            <a:endParaRPr lang="en-US" sz="1500" dirty="0"/>
          </a:p>
        </p:txBody>
      </p:sp>
      <p:sp>
        <p:nvSpPr>
          <p:cNvPr id="8" name="Text 6"/>
          <p:cNvSpPr/>
          <p:nvPr/>
        </p:nvSpPr>
        <p:spPr>
          <a:xfrm>
            <a:off x="3246120" y="1874520"/>
            <a:ext cx="2423160" cy="1920240"/>
          </a:xfrm>
          <a:prstGeom prst="roundRect">
            <a:avLst>
              <a:gd name="adj" fmla="val 3810"/>
            </a:avLst>
          </a:prstGeom>
          <a:solidFill>
            <a:schemeClr val="accent6"/>
          </a:solidFill>
          <a:ln w="12700">
            <a:solidFill>
              <a:schemeClr val="accent6"/>
            </a:solidFill>
          </a:ln>
        </p:spPr>
        <p:txBody>
          <a:bodyPr wrap="square" lIns="76200" tIns="76200" rIns="76200" bIns="76200" rtlCol="0" anchor="ctr"/>
          <a:lstStyle/>
          <a:p>
            <a:pPr algn="ctr" indent="0" marL="0">
              <a:buNone/>
            </a:pPr>
            <a:endParaRPr lang="en-US" sz="1400" dirty="0"/>
          </a:p>
        </p:txBody>
      </p:sp>
      <p:sp>
        <p:nvSpPr>
          <p:cNvPr id="9" name="Text 7"/>
          <p:cNvSpPr txBox="1"/>
          <p:nvPr/>
        </p:nvSpPr>
        <p:spPr>
          <a:xfrm>
            <a:off x="3474720" y="1965960"/>
            <a:ext cx="2011680" cy="1097280"/>
          </a:xfrm>
          <a:prstGeom prst="rect">
            <a:avLst/>
          </a:prstGeom>
          <a:noFill/>
          <a:ln/>
        </p:spPr>
        <p:txBody>
          <a:bodyPr wrap="square" lIns="0" tIns="0" rIns="0" bIns="0" rtlCol="0" anchor="ctr"/>
          <a:lstStyle/>
          <a:p>
            <a:pPr indent="0" marL="0">
              <a:buNone/>
            </a:pPr>
            <a:r>
              <a:rPr lang="en-US" sz="6000" b="1" dirty="0">
                <a:solidFill>
                  <a:schemeClr val="accent2"/>
                </a:solidFill>
              </a:rPr>
              <a:t>3</a:t>
            </a:r>
            <a:pPr indent="0" marL="0">
              <a:buNone/>
            </a:pPr>
            <a:r>
              <a:rPr lang="en-US" sz="1800" b="1" dirty="0">
                <a:solidFill>
                  <a:schemeClr val="accent2"/>
                </a:solidFill>
              </a:rPr>
              <a:t> Tage</a:t>
            </a:r>
            <a:endParaRPr lang="en-US" sz="1400" dirty="0"/>
          </a:p>
        </p:txBody>
      </p:sp>
      <p:sp>
        <p:nvSpPr>
          <p:cNvPr id="10" name="Text 8"/>
          <p:cNvSpPr txBox="1"/>
          <p:nvPr/>
        </p:nvSpPr>
        <p:spPr>
          <a:xfrm>
            <a:off x="3474720" y="3154680"/>
            <a:ext cx="201168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dev/</a:t>
            </a:r>
            <a:endParaRPr lang="en-US" sz="1500" dirty="0"/>
          </a:p>
        </p:txBody>
      </p:sp>
      <p:sp>
        <p:nvSpPr>
          <p:cNvPr id="11" name="Text 9"/>
          <p:cNvSpPr txBox="1"/>
          <p:nvPr/>
        </p:nvSpPr>
        <p:spPr>
          <a:xfrm>
            <a:off x="6263640" y="1874520"/>
            <a:ext cx="5379415" cy="274320"/>
          </a:xfrm>
          <a:prstGeom prst="rect">
            <a:avLst/>
          </a:prstGeom>
          <a:noFill/>
          <a:ln/>
        </p:spPr>
        <p:txBody>
          <a:bodyPr wrap="square" lIns="0" tIns="0" rIns="0" bIns="0" rtlCol="0" anchor="t"/>
          <a:lstStyle/>
          <a:p>
            <a:pPr indent="0" marL="0">
              <a:buNone/>
            </a:pPr>
            <a:r>
              <a:rPr lang="en-US" sz="1300" dirty="0">
                <a:solidFill>
                  <a:schemeClr val="tx2"/>
                </a:solidFill>
              </a:rPr>
              <a:t>Ab Upload, unabhängig von Treffern</a:t>
            </a:r>
            <a:endParaRPr lang="en-US" sz="1300" dirty="0"/>
          </a:p>
        </p:txBody>
      </p:sp>
      <p:sp>
        <p:nvSpPr>
          <p:cNvPr id="12" name="Text 10"/>
          <p:cNvSpPr/>
          <p:nvPr/>
        </p:nvSpPr>
        <p:spPr>
          <a:xfrm>
            <a:off x="6263640" y="2377440"/>
            <a:ext cx="1152732" cy="457200"/>
          </a:xfrm>
          <a:prstGeom prst="roundRect">
            <a:avLst>
              <a:gd name="adj" fmla="val 20000"/>
            </a:avLst>
          </a:prstGeom>
          <a:solidFill>
            <a:schemeClr val="accent2"/>
          </a:solidFill>
          <a:ln w="12700">
            <a:solidFill>
              <a:schemeClr val="accent2"/>
            </a:solidFill>
          </a:ln>
        </p:spPr>
        <p:txBody>
          <a:bodyPr wrap="square" lIns="76200" tIns="76200" rIns="76200" bIns="762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dev/</a:t>
            </a:r>
            <a:endParaRPr lang="en-US" sz="1200" dirty="0"/>
          </a:p>
        </p:txBody>
      </p:sp>
      <p:sp>
        <p:nvSpPr>
          <p:cNvPr id="13" name="Text 11"/>
          <p:cNvSpPr/>
          <p:nvPr/>
        </p:nvSpPr>
        <p:spPr>
          <a:xfrm>
            <a:off x="6263640" y="3017520"/>
            <a:ext cx="5379415" cy="457200"/>
          </a:xfrm>
          <a:prstGeom prst="roundRect">
            <a:avLst>
              <a:gd name="adj" fmla="val 20000"/>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trusted/</a:t>
            </a:r>
            <a:endParaRPr lang="en-US" sz="1200" dirty="0"/>
          </a:p>
        </p:txBody>
      </p:sp>
      <p:sp>
        <p:nvSpPr>
          <p:cNvPr id="14" name="arrow"/>
          <p:cNvSpPr/>
          <p:nvPr/>
        </p:nvSpPr>
        <p:spPr>
          <a:xfrm>
            <a:off x="6263640" y="3703320"/>
            <a:ext cx="5379415" cy="0"/>
          </a:xfrm>
          <a:prstGeom prst="line">
            <a:avLst/>
          </a:prstGeom>
          <a:noFill/>
          <a:ln w="12700">
            <a:solidFill>
              <a:schemeClr val="tx2"/>
            </a:solidFill>
            <a:prstDash val="solid"/>
            <a:tailEnd type="triangle"/>
          </a:ln>
        </p:spPr>
      </p:sp>
      <p:sp>
        <p:nvSpPr>
          <p:cNvPr id="15" name="Text 13"/>
          <p:cNvSpPr txBox="1"/>
          <p:nvPr/>
        </p:nvSpPr>
        <p:spPr>
          <a:xfrm>
            <a:off x="5897880" y="3794760"/>
            <a:ext cx="731520" cy="228600"/>
          </a:xfrm>
          <a:prstGeom prst="rect">
            <a:avLst/>
          </a:prstGeom>
          <a:noFill/>
          <a:ln/>
        </p:spPr>
        <p:txBody>
          <a:bodyPr wrap="square" lIns="0" tIns="0" rIns="0" bIns="0" rtlCol="0" anchor="t"/>
          <a:lstStyle/>
          <a:p>
            <a:pPr algn="ctr" indent="0" marL="0">
              <a:buNone/>
            </a:pPr>
            <a:r>
              <a:rPr lang="en-US" sz="1100" dirty="0">
                <a:solidFill>
                  <a:schemeClr val="tx2"/>
                </a:solidFill>
              </a:rPr>
              <a:t>Tag 0</a:t>
            </a:r>
            <a:endParaRPr lang="en-US" sz="1100" dirty="0"/>
          </a:p>
        </p:txBody>
      </p:sp>
      <p:sp>
        <p:nvSpPr>
          <p:cNvPr id="16" name="Text 14"/>
          <p:cNvSpPr txBox="1"/>
          <p:nvPr/>
        </p:nvSpPr>
        <p:spPr>
          <a:xfrm>
            <a:off x="7050612" y="3794760"/>
            <a:ext cx="731520" cy="228600"/>
          </a:xfrm>
          <a:prstGeom prst="rect">
            <a:avLst/>
          </a:prstGeom>
          <a:noFill/>
          <a:ln/>
        </p:spPr>
        <p:txBody>
          <a:bodyPr wrap="square" lIns="0" tIns="0" rIns="0" bIns="0" rtlCol="0" anchor="t"/>
          <a:lstStyle/>
          <a:p>
            <a:pPr algn="ctr" indent="0" marL="0">
              <a:buNone/>
            </a:pPr>
            <a:r>
              <a:rPr lang="en-US" sz="1100" dirty="0">
                <a:solidFill>
                  <a:schemeClr val="tx2"/>
                </a:solidFill>
              </a:rPr>
              <a:t>Tag 3</a:t>
            </a:r>
            <a:endParaRPr lang="en-US" sz="1100" dirty="0"/>
          </a:p>
        </p:txBody>
      </p:sp>
      <p:sp>
        <p:nvSpPr>
          <p:cNvPr id="17" name="Text 15"/>
          <p:cNvSpPr txBox="1"/>
          <p:nvPr/>
        </p:nvSpPr>
        <p:spPr>
          <a:xfrm>
            <a:off x="8587588" y="3794760"/>
            <a:ext cx="731520" cy="228600"/>
          </a:xfrm>
          <a:prstGeom prst="rect">
            <a:avLst/>
          </a:prstGeom>
          <a:noFill/>
          <a:ln/>
        </p:spPr>
        <p:txBody>
          <a:bodyPr wrap="square" lIns="0" tIns="0" rIns="0" bIns="0" rtlCol="0" anchor="t"/>
          <a:lstStyle/>
          <a:p>
            <a:pPr algn="ctr" indent="0" marL="0">
              <a:buNone/>
            </a:pPr>
            <a:r>
              <a:rPr lang="en-US" sz="1100" dirty="0">
                <a:solidFill>
                  <a:schemeClr val="tx2"/>
                </a:solidFill>
              </a:rPr>
              <a:t>Tag 7</a:t>
            </a:r>
            <a:endParaRPr lang="en-US" sz="1100" dirty="0"/>
          </a:p>
        </p:txBody>
      </p:sp>
      <p:sp>
        <p:nvSpPr>
          <p:cNvPr id="18" name="Text 16"/>
          <p:cNvSpPr txBox="1"/>
          <p:nvPr/>
        </p:nvSpPr>
        <p:spPr>
          <a:xfrm>
            <a:off x="11277295" y="3794760"/>
            <a:ext cx="731520" cy="228600"/>
          </a:xfrm>
          <a:prstGeom prst="rect">
            <a:avLst/>
          </a:prstGeom>
          <a:noFill/>
          <a:ln/>
        </p:spPr>
        <p:txBody>
          <a:bodyPr wrap="square" lIns="0" tIns="0" rIns="0" bIns="0" rtlCol="0" anchor="t"/>
          <a:lstStyle/>
          <a:p>
            <a:pPr algn="ctr" indent="0" marL="0">
              <a:buNone/>
            </a:pPr>
            <a:r>
              <a:rPr lang="en-US" sz="1100" dirty="0">
                <a:solidFill>
                  <a:schemeClr val="tx2"/>
                </a:solidFill>
              </a:rPr>
              <a:t>Tag 14</a:t>
            </a:r>
            <a:endParaRPr lang="en-US" sz="1100" dirty="0"/>
          </a:p>
        </p:txBody>
      </p:sp>
      <p:sp>
        <p:nvSpPr>
          <p:cNvPr id="19" name="Text 17"/>
          <p:cNvSpPr/>
          <p:nvPr/>
        </p:nvSpPr>
        <p:spPr>
          <a:xfrm>
            <a:off x="548640" y="4251960"/>
            <a:ext cx="3515258" cy="1463040"/>
          </a:xfrm>
          <a:prstGeom prst="roundRect">
            <a:avLst>
              <a:gd name="adj" fmla="val 5000"/>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0" name="icon-bg"/>
          <p:cNvSpPr/>
          <p:nvPr/>
        </p:nvSpPr>
        <p:spPr>
          <a:xfrm>
            <a:off x="749808" y="4434840"/>
            <a:ext cx="548640" cy="548640"/>
          </a:xfrm>
          <a:prstGeom prst="ellipse">
            <a:avLst/>
          </a:prstGeom>
          <a:solidFill>
            <a:schemeClr val="tx1"/>
          </a:solidFill>
          <a:ln w="12700">
            <a:solidFill>
              <a:schemeClr val="tx1"/>
            </a:solidFill>
            <a:prstDash val="solid"/>
          </a:ln>
        </p:spPr>
      </p:sp>
      <p:pic>
        <p:nvPicPr>
          <p:cNvPr id="21" name="icon-FaTrashAlt" descr="preencoded.png">    </p:cNvPr>
          <p:cNvPicPr>
            <a:picLocks noChangeAspect="1"/>
          </p:cNvPicPr>
          <p:nvPr/>
        </p:nvPicPr>
        <p:blipFill>
          <a:blip r:embed="rId1"/>
          <a:stretch>
            <a:fillRect/>
          </a:stretch>
        </p:blipFill>
        <p:spPr>
          <a:xfrm>
            <a:off x="881482" y="4566514"/>
            <a:ext cx="285293" cy="285293"/>
          </a:xfrm>
          <a:prstGeom prst="rect">
            <a:avLst/>
          </a:prstGeom>
        </p:spPr>
      </p:pic>
      <p:sp>
        <p:nvSpPr>
          <p:cNvPr id="22" name="Text 19"/>
          <p:cNvSpPr txBox="1"/>
          <p:nvPr/>
        </p:nvSpPr>
        <p:spPr>
          <a:xfrm>
            <a:off x="1463040" y="4434840"/>
            <a:ext cx="2417978" cy="1417320"/>
          </a:xfrm>
          <a:prstGeom prst="rect">
            <a:avLst/>
          </a:prstGeom>
          <a:noFill/>
          <a:ln/>
        </p:spPr>
        <p:txBody>
          <a:bodyPr wrap="square" lIns="0" tIns="0" rIns="0" bIns="0" rtlCol="0" anchor="t"/>
          <a:lstStyle/>
          <a:p>
            <a:pPr indent="0" marL="0">
              <a:buNone/>
            </a:pPr>
            <a:r>
              <a:rPr lang="en-US" sz="1400" b="1" dirty="0">
                <a:solidFill>
                  <a:schemeClr val="tx1"/>
                </a:solidFill>
              </a:rPr>
              <a:t>Server löscht nichts</a:t>
            </a:r>
            <a:endParaRPr lang="en-US" sz="1400" dirty="0"/>
          </a:p>
          <a:p>
            <a:pPr indent="0" marL="0">
              <a:buNone/>
            </a:pPr>
            <a:r>
              <a:rPr lang="en-US" sz="1300" dirty="0">
                <a:solidFill>
                  <a:schemeClr val="tx2"/>
                </a:solidFill>
              </a:rPr>
              <a:t>MinIO mc ilm, Azure Lifecycle Management, S3 Lifecycle Expiration</a:t>
            </a:r>
            <a:endParaRPr lang="en-US" sz="1400" dirty="0"/>
          </a:p>
        </p:txBody>
      </p:sp>
      <p:sp>
        <p:nvSpPr>
          <p:cNvPr id="23" name="Text 20"/>
          <p:cNvSpPr/>
          <p:nvPr/>
        </p:nvSpPr>
        <p:spPr>
          <a:xfrm>
            <a:off x="4338218" y="4251960"/>
            <a:ext cx="3515258" cy="1463040"/>
          </a:xfrm>
          <a:prstGeom prst="roundRect">
            <a:avLst>
              <a:gd name="adj" fmla="val 5000"/>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4" name="icon-bg"/>
          <p:cNvSpPr/>
          <p:nvPr/>
        </p:nvSpPr>
        <p:spPr>
          <a:xfrm>
            <a:off x="4539386" y="4434840"/>
            <a:ext cx="548640" cy="548640"/>
          </a:xfrm>
          <a:prstGeom prst="ellipse">
            <a:avLst/>
          </a:prstGeom>
          <a:solidFill>
            <a:schemeClr val="tx1"/>
          </a:solidFill>
          <a:ln w="12700">
            <a:solidFill>
              <a:schemeClr val="tx1"/>
            </a:solidFill>
            <a:prstDash val="solid"/>
          </a:ln>
        </p:spPr>
      </p:sp>
      <p:pic>
        <p:nvPicPr>
          <p:cNvPr id="25" name="icon-FaHistory" descr="preencoded.png">    </p:cNvPr>
          <p:cNvPicPr>
            <a:picLocks noChangeAspect="1"/>
          </p:cNvPicPr>
          <p:nvPr/>
        </p:nvPicPr>
        <p:blipFill>
          <a:blip r:embed="rId2"/>
          <a:stretch>
            <a:fillRect/>
          </a:stretch>
        </p:blipFill>
        <p:spPr>
          <a:xfrm>
            <a:off x="4671060" y="4566514"/>
            <a:ext cx="285293" cy="285293"/>
          </a:xfrm>
          <a:prstGeom prst="rect">
            <a:avLst/>
          </a:prstGeom>
        </p:spPr>
      </p:pic>
      <p:sp>
        <p:nvSpPr>
          <p:cNvPr id="26" name="Text 22"/>
          <p:cNvSpPr txBox="1"/>
          <p:nvPr/>
        </p:nvSpPr>
        <p:spPr>
          <a:xfrm>
            <a:off x="5252618" y="4434840"/>
            <a:ext cx="2417978" cy="1417320"/>
          </a:xfrm>
          <a:prstGeom prst="rect">
            <a:avLst/>
          </a:prstGeom>
          <a:noFill/>
          <a:ln/>
        </p:spPr>
        <p:txBody>
          <a:bodyPr wrap="square" lIns="0" tIns="0" rIns="0" bIns="0" rtlCol="0" anchor="t"/>
          <a:lstStyle/>
          <a:p>
            <a:pPr indent="0" marL="0">
              <a:buNone/>
            </a:pPr>
            <a:r>
              <a:rPr lang="en-US" sz="1400" b="1" dirty="0">
                <a:solidFill>
                  <a:schemeClr val="tx1"/>
                </a:solidFill>
              </a:rPr>
              <a:t>Treffer verlängern nichts</a:t>
            </a:r>
            <a:endParaRPr lang="en-US" sz="1400" dirty="0"/>
          </a:p>
          <a:p>
            <a:pPr indent="0" marL="0">
              <a:buNone/>
            </a:pPr>
            <a:r>
              <a:rPr lang="en-US" sz="1300" dirty="0">
                <a:solidFill>
                  <a:schemeClr val="tx2"/>
                </a:solidFill>
              </a:rPr>
              <a:t>abgelaufene Einträge werden einfach neu gebaut</a:t>
            </a:r>
            <a:endParaRPr lang="en-US" sz="1400" dirty="0"/>
          </a:p>
        </p:txBody>
      </p:sp>
      <p:sp>
        <p:nvSpPr>
          <p:cNvPr id="27" name="Text 23"/>
          <p:cNvSpPr/>
          <p:nvPr/>
        </p:nvSpPr>
        <p:spPr>
          <a:xfrm>
            <a:off x="8127797" y="4251960"/>
            <a:ext cx="3515258" cy="1463040"/>
          </a:xfrm>
          <a:prstGeom prst="roundRect">
            <a:avLst>
              <a:gd name="adj" fmla="val 5000"/>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8" name="icon-bg"/>
          <p:cNvSpPr/>
          <p:nvPr/>
        </p:nvSpPr>
        <p:spPr>
          <a:xfrm>
            <a:off x="8328965" y="4434840"/>
            <a:ext cx="548640" cy="548640"/>
          </a:xfrm>
          <a:prstGeom prst="ellipse">
            <a:avLst/>
          </a:prstGeom>
          <a:solidFill>
            <a:schemeClr val="tx1"/>
          </a:solidFill>
          <a:ln w="12700">
            <a:solidFill>
              <a:schemeClr val="tx1"/>
            </a:solidFill>
            <a:prstDash val="solid"/>
          </a:ln>
        </p:spPr>
      </p:sp>
      <p:pic>
        <p:nvPicPr>
          <p:cNvPr id="29" name="icon-FaBroom" descr="preencoded.png">    </p:cNvPr>
          <p:cNvPicPr>
            <a:picLocks noChangeAspect="1"/>
          </p:cNvPicPr>
          <p:nvPr/>
        </p:nvPicPr>
        <p:blipFill>
          <a:blip r:embed="rId3"/>
          <a:stretch>
            <a:fillRect/>
          </a:stretch>
        </p:blipFill>
        <p:spPr>
          <a:xfrm>
            <a:off x="8460638" y="4566514"/>
            <a:ext cx="285293" cy="285293"/>
          </a:xfrm>
          <a:prstGeom prst="rect">
            <a:avLst/>
          </a:prstGeom>
        </p:spPr>
      </p:pic>
      <p:sp>
        <p:nvSpPr>
          <p:cNvPr id="30" name="Text 25"/>
          <p:cNvSpPr txBox="1"/>
          <p:nvPr/>
        </p:nvSpPr>
        <p:spPr>
          <a:xfrm>
            <a:off x="9042197" y="4434840"/>
            <a:ext cx="2417978" cy="1417320"/>
          </a:xfrm>
          <a:prstGeom prst="rect">
            <a:avLst/>
          </a:prstGeom>
          <a:noFill/>
          <a:ln/>
        </p:spPr>
        <p:txBody>
          <a:bodyPr wrap="square" lIns="0" tIns="0" rIns="0" bIns="0" rtlCol="0" anchor="t"/>
          <a:lstStyle/>
          <a:p>
            <a:pPr indent="0" marL="0">
              <a:buNone/>
            </a:pPr>
            <a:r>
              <a:rPr lang="en-US" sz="1400" b="1" dirty="0">
                <a:solidFill>
                  <a:schemeClr val="tx1"/>
                </a:solidFill>
              </a:rPr>
              <a:t>Cache leeren</a:t>
            </a:r>
            <a:endParaRPr lang="en-US" sz="1400" dirty="0"/>
          </a:p>
          <a:p>
            <a:pPr indent="0" marL="0">
              <a:buNone/>
            </a:pPr>
            <a:r>
              <a:rPr lang="en-US" sz="1300" dirty="0">
                <a:solidFill>
                  <a:schemeClr val="tx2"/>
                </a:solidFill>
              </a:rPr>
              <a:t>Präfix trusted/ bzw. dev/ löschen, füllt sich neu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ANBINDEN</a:t>
            </a:r>
            <a:endParaRPr lang="en-US" sz="1100" dirty="0"/>
          </a:p>
        </p:txBody>
      </p:sp>
      <p:sp>
        <p:nvSpPr>
          <p:cNvPr id="3" name="Text 1"/>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3200" b="1" dirty="0">
                <a:solidFill>
                  <a:schemeClr val="tx1"/>
                </a:solidFill>
              </a:rPr>
              <a:t>Zwei Umgebungsvariablen, keine Änderung an nx.json</a:t>
            </a:r>
            <a:endParaRPr lang="en-US" sz="3200" dirty="0"/>
          </a:p>
        </p:txBody>
      </p:sp>
      <p:sp>
        <p:nvSpPr>
          <p:cNvPr id="4" name="Text 1"/>
          <p:cNvSpPr/>
          <p:nvPr>
            <p:ph idx="103" type="body" hasCustomPrompt="1"/>
          </p:nvPr>
        </p:nvSpPr>
        <p:spPr>
          <a:xfrm>
            <a:off x="548640" y="1280160"/>
            <a:ext cx="11094415" cy="365760"/>
          </a:xfrm>
          <a:prstGeom prst="rect">
            <a:avLst/>
          </a:prstGeom>
          <a:noFill/>
          <a:ln/>
        </p:spPr>
        <p:txBody>
          <a:bodyPr wrap="square" lIns="0" tIns="0" rIns="0" bIns="0" rtlCol="0" anchor="t"/>
          <a:lstStyle/>
          <a:p>
            <a:pPr indent="0" marL="0">
              <a:buNone/>
            </a:pPr>
            <a:r>
              <a:rPr lang="en-US" sz="1500" dirty="0">
                <a:solidFill>
                  <a:schemeClr val="tx2"/>
                </a:solidFill>
              </a:rPr>
              <a:t>Nx ≥ 22.7.7 bzw. ≥ 23.0.2 (Fix für Zip-Slip CVE-2026-71476), im Repo 23.1.0</a:t>
            </a:r>
            <a:endParaRPr lang="en-US" sz="1500" dirty="0"/>
          </a:p>
        </p:txBody>
      </p:sp>
      <p:sp>
        <p:nvSpPr>
          <p:cNvPr id="5" name="Text 3"/>
          <p:cNvSpPr/>
          <p:nvPr/>
        </p:nvSpPr>
        <p:spPr>
          <a:xfrm>
            <a:off x="548640" y="1874520"/>
            <a:ext cx="5120640" cy="2103120"/>
          </a:xfrm>
          <a:prstGeom prst="roundRect">
            <a:avLst>
              <a:gd name="adj" fmla="val 3478"/>
            </a:avLst>
          </a:prstGeom>
          <a:solidFill>
            <a:schemeClr val="tx1"/>
          </a:solidFill>
          <a:ln w="12700">
            <a:solidFill>
              <a:schemeClr val="tx1"/>
            </a:solidFill>
          </a:ln>
        </p:spPr>
        <p:txBody>
          <a:bodyPr wrap="square" lIns="76200" tIns="76200" rIns="76200" bIns="76200" rtlCol="0" anchor="ctr"/>
          <a:lstStyle/>
          <a:p>
            <a:pPr algn="ctr" indent="0" marL="0">
              <a:buNone/>
            </a:pPr>
            <a:endParaRPr lang="en-US" sz="1400" dirty="0"/>
          </a:p>
        </p:txBody>
      </p:sp>
      <p:sp>
        <p:nvSpPr>
          <p:cNvPr id="6" name="Text 4"/>
          <p:cNvSpPr txBox="1"/>
          <p:nvPr/>
        </p:nvSpPr>
        <p:spPr>
          <a:xfrm>
            <a:off x="822960" y="2057400"/>
            <a:ext cx="4572000" cy="274320"/>
          </a:xfrm>
          <a:prstGeom prst="rect">
            <a:avLst/>
          </a:prstGeom>
          <a:noFill/>
          <a:ln/>
        </p:spPr>
        <p:txBody>
          <a:bodyPr wrap="square" lIns="0" tIns="0" rIns="0" bIns="0" rtlCol="0" anchor="t"/>
          <a:lstStyle/>
          <a:p>
            <a:pPr indent="0" marL="0">
              <a:buNone/>
            </a:pPr>
            <a:r>
              <a:rPr lang="en-US" sz="1200" b="1" dirty="0">
                <a:solidFill>
                  <a:srgbClr val="8796A1"/>
                </a:solidFill>
                <a:latin typeface="Courier New" pitchFamily="34" charset="0"/>
                <a:ea typeface="Courier New" pitchFamily="34" charset="-122"/>
                <a:cs typeface="Courier New" pitchFamily="34" charset="-120"/>
              </a:rPr>
              <a:t>Entwickler · ~/.zshrc oder direnv</a:t>
            </a:r>
            <a:endParaRPr lang="en-US" sz="1200" dirty="0"/>
          </a:p>
        </p:txBody>
      </p:sp>
      <p:sp>
        <p:nvSpPr>
          <p:cNvPr id="7" name="Text 5"/>
          <p:cNvSpPr txBox="1"/>
          <p:nvPr/>
        </p:nvSpPr>
        <p:spPr>
          <a:xfrm>
            <a:off x="822960" y="2468880"/>
            <a:ext cx="4572000" cy="1325880"/>
          </a:xfrm>
          <a:prstGeom prst="rect">
            <a:avLst/>
          </a:prstGeom>
          <a:noFill/>
          <a:ln/>
        </p:spPr>
        <p:txBody>
          <a:bodyPr wrap="square" lIns="0" tIns="0" rIns="0" bIns="0" rtlCol="0" anchor="t"/>
          <a:lstStyle/>
          <a:p>
            <a:pPr indent="0" marL="0">
              <a:buNone/>
            </a:pPr>
            <a:r>
              <a:rPr lang="en-US" sz="1200" dirty="0">
                <a:solidFill>
                  <a:srgbClr val="7FD1C4"/>
                </a:solidFill>
                <a:latin typeface="Courier New" pitchFamily="34" charset="0"/>
                <a:ea typeface="Courier New" pitchFamily="34" charset="-122"/>
                <a:cs typeface="Courier New" pitchFamily="34" charset="-120"/>
              </a:rPr>
              <a:t>export NX_SELF_HOSTED_REMOTE_CACHE_SERVER=</a:t>
            </a:r>
            <a:endParaRPr lang="en-US" sz="1200" dirty="0"/>
          </a:p>
          <a:p>
            <a:pPr indent="0" marL="0">
              <a:buNone/>
            </a:pPr>
            <a:r>
              <a:rPr lang="en-US" sz="1200" dirty="0">
                <a:solidFill>
                  <a:srgbClr val="D5DDE2"/>
                </a:solidFill>
                <a:latin typeface="Courier New" pitchFamily="34" charset="0"/>
                <a:ea typeface="Courier New" pitchFamily="34" charset="-122"/>
                <a:cs typeface="Courier New" pitchFamily="34" charset="-120"/>
              </a:rPr>
              <a:t>  https://nx-cache.example.com</a:t>
            </a:r>
            <a:endParaRPr lang="en-US" sz="1200" dirty="0"/>
          </a:p>
          <a:p>
            <a:pPr indent="0" marL="0">
              <a:buNone/>
            </a:pPr>
            <a:r>
              <a:rPr lang="en-US" sz="1200" dirty="0">
                <a:solidFill>
                  <a:srgbClr val="7FD1C4"/>
                </a:solidFill>
                <a:latin typeface="Courier New" pitchFamily="34" charset="0"/>
                <a:ea typeface="Courier New" pitchFamily="34" charset="-122"/>
                <a:cs typeface="Courier New" pitchFamily="34" charset="-120"/>
              </a:rPr>
              <a:t>export NX_SELF_HOSTED_REMOTE_CACHE_ACCESS_TOKEN=</a:t>
            </a:r>
            <a:endParaRPr lang="en-US" sz="1200" dirty="0"/>
          </a:p>
          <a:p>
            <a:pPr indent="0" marL="0">
              <a:buNone/>
            </a:pPr>
            <a:r>
              <a:rPr lang="en-US" sz="1200" dirty="0">
                <a:solidFill>
                  <a:srgbClr val="D5DDE2"/>
                </a:solidFill>
                <a:latin typeface="Courier New" pitchFamily="34" charset="0"/>
                <a:ea typeface="Courier New" pitchFamily="34" charset="-122"/>
                <a:cs typeface="Courier New" pitchFamily="34" charset="-120"/>
              </a:rPr>
              <a:t>  &lt;persönlicher dev-token&gt;</a:t>
            </a:r>
            <a:endParaRPr lang="en-US" sz="1200" dirty="0"/>
          </a:p>
        </p:txBody>
      </p:sp>
      <p:sp>
        <p:nvSpPr>
          <p:cNvPr id="8" name="Text 6"/>
          <p:cNvSpPr/>
          <p:nvPr/>
        </p:nvSpPr>
        <p:spPr>
          <a:xfrm>
            <a:off x="5943600" y="1874520"/>
            <a:ext cx="5699455" cy="2103120"/>
          </a:xfrm>
          <a:prstGeom prst="roundRect">
            <a:avLst>
              <a:gd name="adj" fmla="val 3478"/>
            </a:avLst>
          </a:prstGeom>
          <a:solidFill>
            <a:schemeClr val="tx1"/>
          </a:solidFill>
          <a:ln w="12700">
            <a:solidFill>
              <a:schemeClr val="tx1"/>
            </a:solidFill>
          </a:ln>
        </p:spPr>
        <p:txBody>
          <a:bodyPr wrap="square" lIns="76200" tIns="76200" rIns="76200" bIns="76200" rtlCol="0" anchor="ctr"/>
          <a:lstStyle/>
          <a:p>
            <a:pPr algn="ctr" indent="0" marL="0">
              <a:buNone/>
            </a:pPr>
            <a:endParaRPr lang="en-US" sz="1400" dirty="0"/>
          </a:p>
        </p:txBody>
      </p:sp>
      <p:sp>
        <p:nvSpPr>
          <p:cNvPr id="9" name="Text 7"/>
          <p:cNvSpPr txBox="1"/>
          <p:nvPr/>
        </p:nvSpPr>
        <p:spPr>
          <a:xfrm>
            <a:off x="6217920" y="2057400"/>
            <a:ext cx="5150815" cy="274320"/>
          </a:xfrm>
          <a:prstGeom prst="rect">
            <a:avLst/>
          </a:prstGeom>
          <a:noFill/>
          <a:ln/>
        </p:spPr>
        <p:txBody>
          <a:bodyPr wrap="square" lIns="0" tIns="0" rIns="0" bIns="0" rtlCol="0" anchor="t"/>
          <a:lstStyle/>
          <a:p>
            <a:pPr indent="0" marL="0">
              <a:buNone/>
            </a:pPr>
            <a:r>
              <a:rPr lang="en-US" sz="1200" b="1" dirty="0">
                <a:solidFill>
                  <a:srgbClr val="8796A1"/>
                </a:solidFill>
                <a:latin typeface="Courier New" pitchFamily="34" charset="0"/>
                <a:ea typeface="Courier New" pitchFamily="34" charset="-122"/>
                <a:cs typeface="Courier New" pitchFamily="34" charset="-120"/>
              </a:rPr>
              <a:t>CI · GitHub Actions</a:t>
            </a:r>
            <a:endParaRPr lang="en-US" sz="1200" dirty="0"/>
          </a:p>
        </p:txBody>
      </p:sp>
      <p:sp>
        <p:nvSpPr>
          <p:cNvPr id="10" name="Text 8"/>
          <p:cNvSpPr txBox="1"/>
          <p:nvPr/>
        </p:nvSpPr>
        <p:spPr>
          <a:xfrm>
            <a:off x="6217920" y="2468880"/>
            <a:ext cx="5150815" cy="1325880"/>
          </a:xfrm>
          <a:prstGeom prst="rect">
            <a:avLst/>
          </a:prstGeom>
          <a:noFill/>
          <a:ln/>
        </p:spPr>
        <p:txBody>
          <a:bodyPr wrap="square" lIns="0" tIns="0" rIns="0" bIns="0" rtlCol="0" anchor="t"/>
          <a:lstStyle/>
          <a:p>
            <a:pPr indent="0" marL="0">
              <a:buNone/>
            </a:pPr>
            <a:r>
              <a:rPr lang="en-US" sz="1200" dirty="0">
                <a:solidFill>
                  <a:srgbClr val="7FD1C4"/>
                </a:solidFill>
                <a:latin typeface="Courier New" pitchFamily="34" charset="0"/>
                <a:ea typeface="Courier New" pitchFamily="34" charset="-122"/>
                <a:cs typeface="Courier New" pitchFamily="34" charset="-120"/>
              </a:rPr>
              <a:t>NX_SELF_HOSTED_REMOTE_CACHE_ACCESS_TOKEN:</a:t>
            </a:r>
            <a:endParaRPr lang="en-US" sz="1200" dirty="0"/>
          </a:p>
          <a:p>
            <a:pPr indent="0" marL="0">
              <a:buNone/>
            </a:pPr>
            <a:r>
              <a:rPr lang="en-US" sz="1200" dirty="0">
                <a:solidFill>
                  <a:srgbClr val="D5DDE2"/>
                </a:solidFill>
                <a:latin typeface="Courier New" pitchFamily="34" charset="0"/>
                <a:ea typeface="Courier New" pitchFamily="34" charset="-122"/>
                <a:cs typeface="Courier New" pitchFamily="34" charset="-120"/>
              </a:rPr>
              <a:t>  ${{ github.ref == 'refs/heads/main'</a:t>
            </a:r>
            <a:endParaRPr lang="en-US" sz="1200" dirty="0"/>
          </a:p>
          <a:p>
            <a:pPr indent="0" marL="0">
              <a:buNone/>
            </a:pPr>
            <a:r>
              <a:rPr lang="en-US" sz="1200" dirty="0">
                <a:solidFill>
                  <a:srgbClr val="D5DDE2"/>
                </a:solidFill>
                <a:latin typeface="Courier New" pitchFamily="34" charset="0"/>
                <a:ea typeface="Courier New" pitchFamily="34" charset="-122"/>
                <a:cs typeface="Courier New" pitchFamily="34" charset="-120"/>
              </a:rPr>
              <a:t>     &amp;&amp; secrets.NX_CACHE_CI_TOKEN</a:t>
            </a:r>
            <a:endParaRPr lang="en-US" sz="1200" dirty="0"/>
          </a:p>
          <a:p>
            <a:pPr indent="0" marL="0">
              <a:buNone/>
            </a:pPr>
            <a:r>
              <a:rPr lang="en-US" sz="1200" dirty="0">
                <a:solidFill>
                  <a:srgbClr val="D5DDE2"/>
                </a:solidFill>
                <a:latin typeface="Courier New" pitchFamily="34" charset="0"/>
                <a:ea typeface="Courier New" pitchFamily="34" charset="-122"/>
                <a:cs typeface="Courier New" pitchFamily="34" charset="-120"/>
              </a:rPr>
              <a:t>     || secrets.NX_CACHE_RO_TOKEN }}</a:t>
            </a:r>
            <a:endParaRPr lang="en-US" sz="1200" dirty="0"/>
          </a:p>
        </p:txBody>
      </p:sp>
      <p:sp>
        <p:nvSpPr>
          <p:cNvPr id="11" name="Text 9"/>
          <p:cNvSpPr/>
          <p:nvPr/>
        </p:nvSpPr>
        <p:spPr>
          <a:xfrm>
            <a:off x="548640" y="4297680"/>
            <a:ext cx="3515258" cy="1371600"/>
          </a:xfrm>
          <a:prstGeom prst="roundRect">
            <a:avLst>
              <a:gd name="adj" fmla="val 533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2" name="icon-bg"/>
          <p:cNvSpPr/>
          <p:nvPr/>
        </p:nvSpPr>
        <p:spPr>
          <a:xfrm>
            <a:off x="749808" y="4480560"/>
            <a:ext cx="548640" cy="548640"/>
          </a:xfrm>
          <a:prstGeom prst="ellipse">
            <a:avLst/>
          </a:prstGeom>
          <a:solidFill>
            <a:schemeClr val="accent5"/>
          </a:solidFill>
          <a:ln w="12700">
            <a:solidFill>
              <a:schemeClr val="accent5"/>
            </a:solidFill>
            <a:prstDash val="solid"/>
          </a:ln>
        </p:spPr>
      </p:sp>
      <p:pic>
        <p:nvPicPr>
          <p:cNvPr id="13" name="icon-FaKey" descr="preencoded.png">    </p:cNvPr>
          <p:cNvPicPr>
            <a:picLocks noChangeAspect="1"/>
          </p:cNvPicPr>
          <p:nvPr/>
        </p:nvPicPr>
        <p:blipFill>
          <a:blip r:embed="rId1"/>
          <a:stretch>
            <a:fillRect/>
          </a:stretch>
        </p:blipFill>
        <p:spPr>
          <a:xfrm>
            <a:off x="881482" y="4612234"/>
            <a:ext cx="285293" cy="285293"/>
          </a:xfrm>
          <a:prstGeom prst="rect">
            <a:avLst/>
          </a:prstGeom>
        </p:spPr>
      </p:pic>
      <p:sp>
        <p:nvSpPr>
          <p:cNvPr id="14" name="Text 11"/>
          <p:cNvSpPr txBox="1"/>
          <p:nvPr/>
        </p:nvSpPr>
        <p:spPr>
          <a:xfrm>
            <a:off x="1463040" y="4480560"/>
            <a:ext cx="2417978" cy="1371600"/>
          </a:xfrm>
          <a:prstGeom prst="rect">
            <a:avLst/>
          </a:prstGeom>
          <a:noFill/>
          <a:ln/>
        </p:spPr>
        <p:txBody>
          <a:bodyPr wrap="square" lIns="0" tIns="0" rIns="0" bIns="0" rtlCol="0" anchor="t"/>
          <a:lstStyle/>
          <a:p>
            <a:pPr indent="0" marL="0">
              <a:buNone/>
            </a:pPr>
            <a:r>
              <a:rPr lang="en-US" sz="1400" b="1" dirty="0">
                <a:solidFill>
                  <a:schemeClr val="tx1"/>
                </a:solidFill>
              </a:rPr>
              <a:t>Token pro Person</a:t>
            </a:r>
            <a:endParaRPr lang="en-US" sz="1400" dirty="0"/>
          </a:p>
          <a:p>
            <a:pPr indent="0" marL="0">
              <a:buNone/>
            </a:pPr>
            <a:r>
              <a:rPr lang="en-US" sz="1300" dirty="0">
                <a:solidFill>
                  <a:schemeClr val="tx2"/>
                </a:solidFill>
              </a:rPr>
              <a:t>einzeln widerrufbar, nie im Repo; openssl rand -base64 32</a:t>
            </a:r>
            <a:endParaRPr lang="en-US" sz="1400" dirty="0"/>
          </a:p>
        </p:txBody>
      </p:sp>
      <p:sp>
        <p:nvSpPr>
          <p:cNvPr id="15" name="Text 12"/>
          <p:cNvSpPr/>
          <p:nvPr/>
        </p:nvSpPr>
        <p:spPr>
          <a:xfrm>
            <a:off x="4338218" y="4297680"/>
            <a:ext cx="3515258" cy="1371600"/>
          </a:xfrm>
          <a:prstGeom prst="roundRect">
            <a:avLst>
              <a:gd name="adj" fmla="val 533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16" name="icon-bg"/>
          <p:cNvSpPr/>
          <p:nvPr/>
        </p:nvSpPr>
        <p:spPr>
          <a:xfrm>
            <a:off x="4539386" y="4480560"/>
            <a:ext cx="548640" cy="548640"/>
          </a:xfrm>
          <a:prstGeom prst="ellipse">
            <a:avLst/>
          </a:prstGeom>
          <a:solidFill>
            <a:schemeClr val="accent5"/>
          </a:solidFill>
          <a:ln w="12700">
            <a:solidFill>
              <a:schemeClr val="accent5"/>
            </a:solidFill>
            <a:prstDash val="solid"/>
          </a:ln>
        </p:spPr>
      </p:sp>
      <p:pic>
        <p:nvPicPr>
          <p:cNvPr id="17" name="icon-FaCodeBranch" descr="preencoded.png">    </p:cNvPr>
          <p:cNvPicPr>
            <a:picLocks noChangeAspect="1"/>
          </p:cNvPicPr>
          <p:nvPr/>
        </p:nvPicPr>
        <p:blipFill>
          <a:blip r:embed="rId2"/>
          <a:stretch>
            <a:fillRect/>
          </a:stretch>
        </p:blipFill>
        <p:spPr>
          <a:xfrm>
            <a:off x="4671060" y="4612234"/>
            <a:ext cx="285293" cy="285293"/>
          </a:xfrm>
          <a:prstGeom prst="rect">
            <a:avLst/>
          </a:prstGeom>
        </p:spPr>
      </p:pic>
      <p:sp>
        <p:nvSpPr>
          <p:cNvPr id="18" name="Text 14"/>
          <p:cNvSpPr txBox="1"/>
          <p:nvPr/>
        </p:nvSpPr>
        <p:spPr>
          <a:xfrm>
            <a:off x="5252618" y="4480560"/>
            <a:ext cx="2417978" cy="1371600"/>
          </a:xfrm>
          <a:prstGeom prst="rect">
            <a:avLst/>
          </a:prstGeom>
          <a:noFill/>
          <a:ln/>
        </p:spPr>
        <p:txBody>
          <a:bodyPr wrap="square" lIns="0" tIns="0" rIns="0" bIns="0" rtlCol="0" anchor="t"/>
          <a:lstStyle/>
          <a:p>
            <a:pPr indent="0" marL="0">
              <a:buNone/>
            </a:pPr>
            <a:r>
              <a:rPr lang="en-US" sz="1400" b="1" dirty="0">
                <a:solidFill>
                  <a:schemeClr val="tx1"/>
                </a:solidFill>
              </a:rPr>
              <a:t>CI-Token nur auf main</a:t>
            </a:r>
            <a:endParaRPr lang="en-US" sz="1400" dirty="0"/>
          </a:p>
          <a:p>
            <a:pPr indent="0" marL="0">
              <a:buNone/>
            </a:pPr>
            <a:r>
              <a:rPr lang="en-US" sz="1300" dirty="0">
                <a:solidFill>
                  <a:schemeClr val="tx2"/>
                </a:solidFill>
              </a:rPr>
              <a:t>PRs und Forks bekommen den Read-only-Token</a:t>
            </a:r>
            <a:endParaRPr lang="en-US" sz="1400" dirty="0"/>
          </a:p>
        </p:txBody>
      </p:sp>
      <p:sp>
        <p:nvSpPr>
          <p:cNvPr id="19" name="Text 15"/>
          <p:cNvSpPr/>
          <p:nvPr/>
        </p:nvSpPr>
        <p:spPr>
          <a:xfrm>
            <a:off x="8127797" y="4297680"/>
            <a:ext cx="3515258" cy="1371600"/>
          </a:xfrm>
          <a:prstGeom prst="roundRect">
            <a:avLst>
              <a:gd name="adj" fmla="val 5333"/>
            </a:avLst>
          </a:prstGeom>
          <a:solidFill>
            <a:schemeClr val="bg2"/>
          </a:solidFill>
          <a:ln w="12700">
            <a:solidFill>
              <a:schemeClr val="bg2"/>
            </a:solidFill>
          </a:ln>
        </p:spPr>
        <p:txBody>
          <a:bodyPr wrap="square" lIns="76200" tIns="76200" rIns="76200" bIns="76200" rtlCol="0" anchor="ctr"/>
          <a:lstStyle/>
          <a:p>
            <a:pPr algn="ctr" indent="0" marL="0">
              <a:buNone/>
            </a:pPr>
            <a:endParaRPr lang="en-US" sz="1400" dirty="0"/>
          </a:p>
        </p:txBody>
      </p:sp>
      <p:sp>
        <p:nvSpPr>
          <p:cNvPr id="20" name="icon-bg"/>
          <p:cNvSpPr/>
          <p:nvPr/>
        </p:nvSpPr>
        <p:spPr>
          <a:xfrm>
            <a:off x="8328965" y="4480560"/>
            <a:ext cx="548640" cy="548640"/>
          </a:xfrm>
          <a:prstGeom prst="ellipse">
            <a:avLst/>
          </a:prstGeom>
          <a:solidFill>
            <a:schemeClr val="accent5"/>
          </a:solidFill>
          <a:ln w="12700">
            <a:solidFill>
              <a:schemeClr val="accent5"/>
            </a:solidFill>
            <a:prstDash val="solid"/>
          </a:ln>
        </p:spPr>
      </p:sp>
      <p:pic>
        <p:nvPicPr>
          <p:cNvPr id="21" name="icon-FaCheckCircle" descr="preencoded.png">    </p:cNvPr>
          <p:cNvPicPr>
            <a:picLocks noChangeAspect="1"/>
          </p:cNvPicPr>
          <p:nvPr/>
        </p:nvPicPr>
        <p:blipFill>
          <a:blip r:embed="rId3"/>
          <a:stretch>
            <a:fillRect/>
          </a:stretch>
        </p:blipFill>
        <p:spPr>
          <a:xfrm>
            <a:off x="8460638" y="4612234"/>
            <a:ext cx="285293" cy="285293"/>
          </a:xfrm>
          <a:prstGeom prst="rect">
            <a:avLst/>
          </a:prstGeom>
        </p:spPr>
      </p:pic>
      <p:sp>
        <p:nvSpPr>
          <p:cNvPr id="22" name="Text 17"/>
          <p:cNvSpPr txBox="1"/>
          <p:nvPr/>
        </p:nvSpPr>
        <p:spPr>
          <a:xfrm>
            <a:off x="9042197" y="4480560"/>
            <a:ext cx="2417978" cy="1371600"/>
          </a:xfrm>
          <a:prstGeom prst="rect">
            <a:avLst/>
          </a:prstGeom>
          <a:noFill/>
          <a:ln/>
        </p:spPr>
        <p:txBody>
          <a:bodyPr wrap="square" lIns="0" tIns="0" rIns="0" bIns="0" rtlCol="0" anchor="t"/>
          <a:lstStyle/>
          <a:p>
            <a:pPr indent="0" marL="0">
              <a:buNone/>
            </a:pPr>
            <a:r>
              <a:rPr lang="en-US" sz="1400" b="1" dirty="0">
                <a:solidFill>
                  <a:schemeClr val="tx1"/>
                </a:solidFill>
              </a:rPr>
              <a:t>Prüfen</a:t>
            </a:r>
            <a:endParaRPr lang="en-US" sz="1400" dirty="0"/>
          </a:p>
          <a:p>
            <a:pPr indent="0" marL="0">
              <a:buNone/>
            </a:pPr>
            <a:r>
              <a:rPr lang="en-US" sz="1300" dirty="0">
                <a:solidFill>
                  <a:schemeClr val="tx2"/>
                </a:solidFill>
              </a:rPr>
              <a:t>nx reset &amp;&amp; nx run app:build zeigt [remote cache]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365760"/>
          </a:xfrm>
          <a:prstGeom prst="rect">
            <a:avLst/>
          </a:prstGeom>
          <a:noFill/>
          <a:ln/>
        </p:spPr>
        <p:txBody>
          <a:bodyPr wrap="square" lIns="0" tIns="0" rIns="0" bIns="0" rtlCol="0"/>
          <a:lstStyle/>
          <a:p>
            <a:pPr indent="0" marL="0">
              <a:buNone/>
            </a:pPr>
            <a:r>
              <a:rPr lang="en-US" sz="1200" spc="200" kern="0" dirty="0">
                <a:solidFill>
                  <a:srgbClr val="7FD1C4"/>
                </a:solidFill>
                <a:latin typeface="Courier New" pitchFamily="34" charset="0"/>
                <a:ea typeface="Courier New" pitchFamily="34" charset="-122"/>
                <a:cs typeface="Courier New" pitchFamily="34" charset="-120"/>
              </a:rPr>
              <a:t>FAZIT</a:t>
            </a:r>
            <a:endParaRPr lang="en-US" sz="1200" dirty="0"/>
          </a:p>
        </p:txBody>
      </p:sp>
      <p:sp>
        <p:nvSpPr>
          <p:cNvPr id="3" name="Text 0"/>
          <p:cNvSpPr/>
          <p:nvPr>
            <p:ph idx="101" type="title" hasCustomPrompt="1"/>
          </p:nvPr>
        </p:nvSpPr>
        <p:spPr>
          <a:xfrm>
            <a:off x="548640" y="27889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Schnell teilen, ohne Vertrauen zu verschenken</a:t>
            </a:r>
            <a:endParaRPr lang="en-US" sz="4000" dirty="0"/>
          </a:p>
        </p:txBody>
      </p:sp>
      <p:sp>
        <p:nvSpPr>
          <p:cNvPr id="4" name="Text 2"/>
          <p:cNvSpPr/>
          <p:nvPr/>
        </p:nvSpPr>
        <p:spPr>
          <a:xfrm>
            <a:off x="548640" y="4069080"/>
            <a:ext cx="3515258" cy="1371600"/>
          </a:xfrm>
          <a:prstGeom prst="roundRect">
            <a:avLst>
              <a:gd name="adj" fmla="val 5333"/>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5" name="icon-bg"/>
          <p:cNvSpPr/>
          <p:nvPr/>
        </p:nvSpPr>
        <p:spPr>
          <a:xfrm>
            <a:off x="777240" y="4251960"/>
            <a:ext cx="566928" cy="566928"/>
          </a:xfrm>
          <a:prstGeom prst="ellipse">
            <a:avLst/>
          </a:prstGeom>
          <a:solidFill>
            <a:schemeClr val="accent1"/>
          </a:solidFill>
          <a:ln w="12700">
            <a:solidFill>
              <a:schemeClr val="accent1"/>
            </a:solidFill>
            <a:prstDash val="solid"/>
          </a:ln>
        </p:spPr>
      </p:sp>
      <p:pic>
        <p:nvPicPr>
          <p:cNvPr id="6" name="icon-FaHashtag" descr="preencoded.png">    </p:cNvPr>
          <p:cNvPicPr>
            <a:picLocks noChangeAspect="1"/>
          </p:cNvPicPr>
          <p:nvPr/>
        </p:nvPicPr>
        <p:blipFill>
          <a:blip r:embed="rId1"/>
          <a:stretch>
            <a:fillRect/>
          </a:stretch>
        </p:blipFill>
        <p:spPr>
          <a:xfrm>
            <a:off x="913303" y="4388023"/>
            <a:ext cx="294803" cy="294803"/>
          </a:xfrm>
          <a:prstGeom prst="rect">
            <a:avLst/>
          </a:prstGeom>
        </p:spPr>
      </p:pic>
      <p:sp>
        <p:nvSpPr>
          <p:cNvPr id="7" name="Text 4"/>
          <p:cNvSpPr txBox="1"/>
          <p:nvPr/>
        </p:nvSpPr>
        <p:spPr>
          <a:xfrm>
            <a:off x="1508760" y="4251960"/>
            <a:ext cx="2372258" cy="1463040"/>
          </a:xfrm>
          <a:prstGeom prst="rect">
            <a:avLst/>
          </a:prstGeom>
          <a:noFill/>
          <a:ln/>
        </p:spPr>
        <p:txBody>
          <a:bodyPr wrap="square" lIns="0" tIns="0" rIns="0" bIns="0" rtlCol="0" anchor="t"/>
          <a:lstStyle/>
          <a:p>
            <a:pPr indent="0" marL="0">
              <a:buNone/>
            </a:pPr>
            <a:r>
              <a:rPr lang="en-US" sz="1600" b="1" dirty="0">
                <a:solidFill>
                  <a:schemeClr val="bg1"/>
                </a:solidFill>
              </a:rPr>
              <a:t>Hash = Identität</a:t>
            </a:r>
            <a:endParaRPr lang="en-US" sz="1400" dirty="0"/>
          </a:p>
          <a:p>
            <a:pPr indent="0" marL="0">
              <a:buNone/>
            </a:pPr>
            <a:r>
              <a:rPr lang="en-US" sz="1300" dirty="0">
                <a:solidFill>
                  <a:srgbClr val="C9D3DA"/>
                </a:solidFill>
              </a:rPr>
              <a:t>Gleiche Inputs liefern denselben Eintrag, lokal wie remote.</a:t>
            </a:r>
            <a:endParaRPr lang="en-US" sz="1400" dirty="0"/>
          </a:p>
        </p:txBody>
      </p:sp>
      <p:sp>
        <p:nvSpPr>
          <p:cNvPr id="8" name="Text 5"/>
          <p:cNvSpPr/>
          <p:nvPr/>
        </p:nvSpPr>
        <p:spPr>
          <a:xfrm>
            <a:off x="4338218" y="4069080"/>
            <a:ext cx="3515258" cy="1371600"/>
          </a:xfrm>
          <a:prstGeom prst="roundRect">
            <a:avLst>
              <a:gd name="adj" fmla="val 5333"/>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9" name="icon-bg"/>
          <p:cNvSpPr/>
          <p:nvPr/>
        </p:nvSpPr>
        <p:spPr>
          <a:xfrm>
            <a:off x="4566818" y="4251960"/>
            <a:ext cx="566928" cy="566928"/>
          </a:xfrm>
          <a:prstGeom prst="ellipse">
            <a:avLst/>
          </a:prstGeom>
          <a:solidFill>
            <a:schemeClr val="accent1"/>
          </a:solidFill>
          <a:ln w="12700">
            <a:solidFill>
              <a:schemeClr val="accent1"/>
            </a:solidFill>
            <a:prstDash val="solid"/>
          </a:ln>
        </p:spPr>
      </p:sp>
      <p:pic>
        <p:nvPicPr>
          <p:cNvPr id="10" name="icon-FaCloud" descr="preencoded.png">    </p:cNvPr>
          <p:cNvPicPr>
            <a:picLocks noChangeAspect="1"/>
          </p:cNvPicPr>
          <p:nvPr/>
        </p:nvPicPr>
        <p:blipFill>
          <a:blip r:embed="rId2"/>
          <a:stretch>
            <a:fillRect/>
          </a:stretch>
        </p:blipFill>
        <p:spPr>
          <a:xfrm>
            <a:off x="4702881" y="4388023"/>
            <a:ext cx="294803" cy="294803"/>
          </a:xfrm>
          <a:prstGeom prst="rect">
            <a:avLst/>
          </a:prstGeom>
        </p:spPr>
      </p:pic>
      <p:sp>
        <p:nvSpPr>
          <p:cNvPr id="11" name="Text 7"/>
          <p:cNvSpPr txBox="1"/>
          <p:nvPr/>
        </p:nvSpPr>
        <p:spPr>
          <a:xfrm>
            <a:off x="5298338" y="4251960"/>
            <a:ext cx="2372258" cy="1463040"/>
          </a:xfrm>
          <a:prstGeom prst="rect">
            <a:avLst/>
          </a:prstGeom>
          <a:noFill/>
          <a:ln/>
        </p:spPr>
        <p:txBody>
          <a:bodyPr wrap="square" lIns="0" tIns="0" rIns="0" bIns="0" rtlCol="0" anchor="t"/>
          <a:lstStyle/>
          <a:p>
            <a:pPr indent="0" marL="0">
              <a:buNone/>
            </a:pPr>
            <a:r>
              <a:rPr lang="en-US" sz="1600" b="1" dirty="0">
                <a:solidFill>
                  <a:schemeClr val="bg1"/>
                </a:solidFill>
              </a:rPr>
              <a:t>Remote = einmal bauen</a:t>
            </a:r>
            <a:endParaRPr lang="en-US" sz="1400" dirty="0"/>
          </a:p>
          <a:p>
            <a:pPr indent="0" marL="0">
              <a:buNone/>
            </a:pPr>
            <a:r>
              <a:rPr lang="en-US" sz="1300" dirty="0">
                <a:solidFill>
                  <a:srgbClr val="C9D3DA"/>
                </a:solidFill>
              </a:rPr>
              <a:t>CI und Kollegen laden statt zu rechnen.</a:t>
            </a:r>
            <a:endParaRPr lang="en-US" sz="1400" dirty="0"/>
          </a:p>
        </p:txBody>
      </p:sp>
      <p:sp>
        <p:nvSpPr>
          <p:cNvPr id="12" name="Text 8"/>
          <p:cNvSpPr/>
          <p:nvPr/>
        </p:nvSpPr>
        <p:spPr>
          <a:xfrm>
            <a:off x="8127797" y="4069080"/>
            <a:ext cx="3515258" cy="1371600"/>
          </a:xfrm>
          <a:prstGeom prst="roundRect">
            <a:avLst>
              <a:gd name="adj" fmla="val 5333"/>
            </a:avLst>
          </a:prstGeom>
          <a:solidFill>
            <a:srgbClr val="24313C"/>
          </a:solidFill>
          <a:ln w="12700">
            <a:solidFill>
              <a:srgbClr val="35444F"/>
            </a:solidFill>
          </a:ln>
        </p:spPr>
        <p:txBody>
          <a:bodyPr wrap="square" lIns="76200" tIns="76200" rIns="76200" bIns="76200" rtlCol="0" anchor="ctr"/>
          <a:lstStyle/>
          <a:p>
            <a:pPr algn="ctr" indent="0" marL="0">
              <a:buNone/>
            </a:pPr>
            <a:endParaRPr lang="en-US" sz="1400" dirty="0"/>
          </a:p>
        </p:txBody>
      </p:sp>
      <p:sp>
        <p:nvSpPr>
          <p:cNvPr id="13" name="icon-bg"/>
          <p:cNvSpPr/>
          <p:nvPr/>
        </p:nvSpPr>
        <p:spPr>
          <a:xfrm>
            <a:off x="8356397" y="4251960"/>
            <a:ext cx="566928" cy="566928"/>
          </a:xfrm>
          <a:prstGeom prst="ellipse">
            <a:avLst/>
          </a:prstGeom>
          <a:solidFill>
            <a:schemeClr val="accent1"/>
          </a:solidFill>
          <a:ln w="12700">
            <a:solidFill>
              <a:schemeClr val="accent1"/>
            </a:solidFill>
            <a:prstDash val="solid"/>
          </a:ln>
        </p:spPr>
      </p:sp>
      <p:pic>
        <p:nvPicPr>
          <p:cNvPr id="14" name="icon-FaShieldAlt" descr="preencoded.png">    </p:cNvPr>
          <p:cNvPicPr>
            <a:picLocks noChangeAspect="1"/>
          </p:cNvPicPr>
          <p:nvPr/>
        </p:nvPicPr>
        <p:blipFill>
          <a:blip r:embed="rId3"/>
          <a:stretch>
            <a:fillRect/>
          </a:stretch>
        </p:blipFill>
        <p:spPr>
          <a:xfrm>
            <a:off x="8492460" y="4388023"/>
            <a:ext cx="294803" cy="294803"/>
          </a:xfrm>
          <a:prstGeom prst="rect">
            <a:avLst/>
          </a:prstGeom>
        </p:spPr>
      </p:pic>
      <p:sp>
        <p:nvSpPr>
          <p:cNvPr id="15" name="Text 10"/>
          <p:cNvSpPr txBox="1"/>
          <p:nvPr/>
        </p:nvSpPr>
        <p:spPr>
          <a:xfrm>
            <a:off x="9087917" y="4251960"/>
            <a:ext cx="2372258" cy="1463040"/>
          </a:xfrm>
          <a:prstGeom prst="rect">
            <a:avLst/>
          </a:prstGeom>
          <a:noFill/>
          <a:ln/>
        </p:spPr>
        <p:txBody>
          <a:bodyPr wrap="square" lIns="0" tIns="0" rIns="0" bIns="0" rtlCol="0" anchor="t"/>
          <a:lstStyle/>
          <a:p>
            <a:pPr indent="0" marL="0">
              <a:buNone/>
            </a:pPr>
            <a:r>
              <a:rPr lang="en-US" sz="1600" b="1" dirty="0">
                <a:solidFill>
                  <a:schemeClr val="bg1"/>
                </a:solidFill>
              </a:rPr>
              <a:t>Eigener Server = sicher</a:t>
            </a:r>
            <a:endParaRPr lang="en-US" sz="1400" dirty="0"/>
          </a:p>
          <a:p>
            <a:pPr indent="0" marL="0">
              <a:buNone/>
            </a:pPr>
            <a:r>
              <a:rPr lang="en-US" sz="1300" dirty="0">
                <a:solidFill>
                  <a:srgbClr val="C9D3DA"/>
                </a:solidFill>
              </a:rPr>
              <a:t>Rollen, getrennte Namespaces und write-once gegen CREEP.</a:t>
            </a:r>
            <a:endParaRPr lang="en-US" sz="1400" dirty="0"/>
          </a:p>
        </p:txBody>
      </p:sp>
      <p:sp>
        <p:nvSpPr>
          <p:cNvPr id="17" name="Text 0"/>
          <p:cNvSpPr/>
          <p:nvPr>
            <p:ph idx="102" type="body" hasCustomPrompt="1"/>
          </p:nvPr>
        </p:nvSpPr>
        <p:spPr>
          <a:xfrm>
            <a:off x="548640" y="3794760"/>
            <a:ext cx="8229600" cy="82296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6A1"/>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Nx Remote Cache">
  <a:themeElements>
    <a:clrScheme name="Nx Remote Cache">
      <a:dk1>
        <a:srgbClr val="18222B"/>
      </a:dk1>
      <a:lt1>
        <a:srgbClr val="FFFFFF"/>
      </a:lt1>
      <a:dk2>
        <a:srgbClr val="5B6873"/>
      </a:dk2>
      <a:lt2>
        <a:srgbClr val="EEF1F3"/>
      </a:lt2>
      <a:accent1>
        <a:srgbClr val="0B7D70"/>
      </a:accent1>
      <a:accent2>
        <a:srgbClr val="B4610E"/>
      </a:accent2>
      <a:accent3>
        <a:srgbClr val="1F7A46"/>
      </a:accent3>
      <a:accent4>
        <a:srgbClr val="B42318"/>
      </a:accent4>
      <a:accent5>
        <a:srgbClr val="DFF1EC"/>
      </a:accent5>
      <a:accent6>
        <a:srgbClr val="FBEEDD"/>
      </a:accent6>
      <a:hlink>
        <a:srgbClr val="0B7D70"/>
      </a:hlink>
      <a:folHlink>
        <a:srgbClr val="5B6873"/>
      </a:folHlink>
    </a:clrScheme>
    <a:fontScheme name="Nx Remote Cach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 Cache &amp; eigener Remote Cache</dc:title>
  <dc:subject>PptxGenJS Presentation</dc:subject>
  <dc:creator>Michael Berger</dc:creator>
  <cp:lastModifiedBy>Michael Berger</cp:lastModifiedBy>
  <cp:revision>1</cp:revision>
  <dcterms:created xsi:type="dcterms:W3CDTF">2026-10-29T08:33:13Z</dcterms:created>
  <dcterms:modified xsi:type="dcterms:W3CDTF">2026-10-29T08:33:13Z</dcterms:modified>
</cp:coreProperties>
</file>